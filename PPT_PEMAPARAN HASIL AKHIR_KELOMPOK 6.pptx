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Lst>
  <p:sldSz cx="18288000" cy="10287000"/>
  <p:notesSz cx="6858000" cy="9144000"/>
  <p:embeddedFontLst>
    <p:embeddedFont>
      <p:font typeface="Open Sans Bold" charset="1" panose="00000000000000000000"/>
      <p:regular r:id="rId35"/>
    </p:embeddedFont>
    <p:embeddedFont>
      <p:font typeface="Open Sans Hebrew" charset="1" panose="00000500000000000000"/>
      <p:regular r:id="rId36"/>
    </p:embeddedFont>
    <p:embeddedFont>
      <p:font typeface="Open Sans" charset="1" panose="00000000000000000000"/>
      <p:regular r:id="rId3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fonts/font35.fntdata" Type="http://schemas.openxmlformats.org/officeDocument/2006/relationships/font"/><Relationship Id="rId36" Target="fonts/font36.fntdata" Type="http://schemas.openxmlformats.org/officeDocument/2006/relationships/font"/><Relationship Id="rId37" Target="fonts/font37.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http://s.si" TargetMode="External" Type="http://schemas.openxmlformats.org/officeDocument/2006/relationships/hyperlink"/></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6.png" Type="http://schemas.openxmlformats.org/officeDocument/2006/relationships/image"/><Relationship Id="rId11" Target="../media/image17.png" Type="http://schemas.openxmlformats.org/officeDocument/2006/relationships/image"/><Relationship Id="rId12" Target="../media/image18.png" Type="http://schemas.openxmlformats.org/officeDocument/2006/relationships/image"/><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14.png" Type="http://schemas.openxmlformats.org/officeDocument/2006/relationships/image"/><Relationship Id="rId9" Target="../media/image15.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21.png" Type="http://schemas.openxmlformats.org/officeDocument/2006/relationships/image"/><Relationship Id="rId7" Target="../media/image22.svg" Type="http://schemas.openxmlformats.org/officeDocument/2006/relationships/image"/><Relationship Id="rId8" Target="../media/image23.png" Type="http://schemas.openxmlformats.org/officeDocument/2006/relationships/image"/><Relationship Id="rId9" Target="../media/image2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png" Type="http://schemas.openxmlformats.org/officeDocument/2006/relationships/image"/><Relationship Id="rId11" Target="../media/image13.svg" Type="http://schemas.openxmlformats.org/officeDocument/2006/relationships/image"/><Relationship Id="rId12" Target="../media/image14.png" Type="http://schemas.openxmlformats.org/officeDocument/2006/relationships/image"/><Relationship Id="rId13" Target="../media/image15.svg" Type="http://schemas.openxmlformats.org/officeDocument/2006/relationships/image"/><Relationship Id="rId2" Target="../media/image25.png" Type="http://schemas.openxmlformats.org/officeDocument/2006/relationships/image"/><Relationship Id="rId3" Target="../media/image26.svg" Type="http://schemas.openxmlformats.org/officeDocument/2006/relationships/image"/><Relationship Id="rId4" Target="../media/image27.png" Type="http://schemas.openxmlformats.org/officeDocument/2006/relationships/image"/><Relationship Id="rId5" Target="../media/image28.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10.png" Type="http://schemas.openxmlformats.org/officeDocument/2006/relationships/image"/><Relationship Id="rId9" Target="../media/image11.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5.png" Type="http://schemas.openxmlformats.org/officeDocument/2006/relationships/image"/><Relationship Id="rId2" Target="../media/image29.png" Type="http://schemas.openxmlformats.org/officeDocument/2006/relationships/image"/><Relationship Id="rId3" Target="../media/image30.svg" Type="http://schemas.openxmlformats.org/officeDocument/2006/relationships/image"/><Relationship Id="rId4" Target="../media/image31.png" Type="http://schemas.openxmlformats.org/officeDocument/2006/relationships/image"/><Relationship Id="rId5" Target="../media/image32.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33.png" Type="http://schemas.openxmlformats.org/officeDocument/2006/relationships/image"/><Relationship Id="rId9" Target="../media/image34.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0.svg" Type="http://schemas.openxmlformats.org/officeDocument/2006/relationships/image"/><Relationship Id="rId2" Target="../media/image36.png" Type="http://schemas.openxmlformats.org/officeDocument/2006/relationships/image"/><Relationship Id="rId3" Target="../media/image31.png" Type="http://schemas.openxmlformats.org/officeDocument/2006/relationships/image"/><Relationship Id="rId4" Target="../media/image32.svg" Type="http://schemas.openxmlformats.org/officeDocument/2006/relationships/image"/><Relationship Id="rId5" Target="../media/image37.png" Type="http://schemas.openxmlformats.org/officeDocument/2006/relationships/image"/><Relationship Id="rId6" Target="../media/image38.sv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 Id="rId9" Target="../media/image39.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1.png" Type="http://schemas.openxmlformats.org/officeDocument/2006/relationships/image"/><Relationship Id="rId2" Target="../media/image29.png" Type="http://schemas.openxmlformats.org/officeDocument/2006/relationships/image"/><Relationship Id="rId3" Target="../media/image30.svg" Type="http://schemas.openxmlformats.org/officeDocument/2006/relationships/image"/><Relationship Id="rId4" Target="../media/image31.png" Type="http://schemas.openxmlformats.org/officeDocument/2006/relationships/image"/><Relationship Id="rId5" Target="../media/image32.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33.png" Type="http://schemas.openxmlformats.org/officeDocument/2006/relationships/image"/><Relationship Id="rId9" Target="../media/image34.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4.svg" Type="http://schemas.openxmlformats.org/officeDocument/2006/relationships/image"/><Relationship Id="rId2" Target="../media/image42.png" Type="http://schemas.openxmlformats.org/officeDocument/2006/relationships/image"/><Relationship Id="rId3" Target="../media/image29.png" Type="http://schemas.openxmlformats.org/officeDocument/2006/relationships/image"/><Relationship Id="rId4" Target="../media/image30.svg" Type="http://schemas.openxmlformats.org/officeDocument/2006/relationships/image"/><Relationship Id="rId5" Target="../media/image31.png" Type="http://schemas.openxmlformats.org/officeDocument/2006/relationships/image"/><Relationship Id="rId6" Target="../media/image32.svg" Type="http://schemas.openxmlformats.org/officeDocument/2006/relationships/image"/><Relationship Id="rId7" Target="../media/image12.png" Type="http://schemas.openxmlformats.org/officeDocument/2006/relationships/image"/><Relationship Id="rId8" Target="../media/image13.svg" Type="http://schemas.openxmlformats.org/officeDocument/2006/relationships/image"/><Relationship Id="rId9" Target="../media/image3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4.svg" Type="http://schemas.openxmlformats.org/officeDocument/2006/relationships/image"/><Relationship Id="rId11" Target="../media/image44.png" Type="http://schemas.openxmlformats.org/officeDocument/2006/relationships/image"/><Relationship Id="rId2" Target="../media/image43.png" Type="http://schemas.openxmlformats.org/officeDocument/2006/relationships/image"/><Relationship Id="rId3" Target="../media/image29.png" Type="http://schemas.openxmlformats.org/officeDocument/2006/relationships/image"/><Relationship Id="rId4" Target="../media/image30.svg" Type="http://schemas.openxmlformats.org/officeDocument/2006/relationships/image"/><Relationship Id="rId5" Target="../media/image31.png" Type="http://schemas.openxmlformats.org/officeDocument/2006/relationships/image"/><Relationship Id="rId6" Target="../media/image32.svg" Type="http://schemas.openxmlformats.org/officeDocument/2006/relationships/image"/><Relationship Id="rId7" Target="../media/image12.png" Type="http://schemas.openxmlformats.org/officeDocument/2006/relationships/image"/><Relationship Id="rId8" Target="../media/image13.svg" Type="http://schemas.openxmlformats.org/officeDocument/2006/relationships/image"/><Relationship Id="rId9" Target="../media/image33.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4.svg" Type="http://schemas.openxmlformats.org/officeDocument/2006/relationships/image"/><Relationship Id="rId11" Target="../media/image46.png" Type="http://schemas.openxmlformats.org/officeDocument/2006/relationships/image"/><Relationship Id="rId2" Target="../media/image45.png" Type="http://schemas.openxmlformats.org/officeDocument/2006/relationships/image"/><Relationship Id="rId3" Target="../media/image29.png" Type="http://schemas.openxmlformats.org/officeDocument/2006/relationships/image"/><Relationship Id="rId4" Target="../media/image30.svg" Type="http://schemas.openxmlformats.org/officeDocument/2006/relationships/image"/><Relationship Id="rId5" Target="../media/image31.png" Type="http://schemas.openxmlformats.org/officeDocument/2006/relationships/image"/><Relationship Id="rId6" Target="../media/image32.svg" Type="http://schemas.openxmlformats.org/officeDocument/2006/relationships/image"/><Relationship Id="rId7" Target="../media/image12.png" Type="http://schemas.openxmlformats.org/officeDocument/2006/relationships/image"/><Relationship Id="rId8" Target="../media/image13.svg" Type="http://schemas.openxmlformats.org/officeDocument/2006/relationships/image"/><Relationship Id="rId9" Target="../media/image33.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png" Type="http://schemas.openxmlformats.org/officeDocument/2006/relationships/image"/><Relationship Id="rId11" Target="../media/image15.svg" Type="http://schemas.openxmlformats.org/officeDocument/2006/relationships/image"/><Relationship Id="rId2" Target="../media/image27.png" Type="http://schemas.openxmlformats.org/officeDocument/2006/relationships/image"/><Relationship Id="rId3" Target="../media/image28.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 Id="rId8" Target="../media/image12.png" Type="http://schemas.openxmlformats.org/officeDocument/2006/relationships/image"/><Relationship Id="rId9" Target="../media/image13.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1.png" Type="http://schemas.openxmlformats.org/officeDocument/2006/relationships/image"/><Relationship Id="rId2" Target="../media/image47.png" Type="http://schemas.openxmlformats.org/officeDocument/2006/relationships/image"/><Relationship Id="rId3" Target="../media/image48.svg" Type="http://schemas.openxmlformats.org/officeDocument/2006/relationships/image"/><Relationship Id="rId4" Target="../media/image39.png" Type="http://schemas.openxmlformats.org/officeDocument/2006/relationships/image"/><Relationship Id="rId5" Target="../media/image40.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49.png" Type="http://schemas.openxmlformats.org/officeDocument/2006/relationships/image"/><Relationship Id="rId9" Target="../media/image50.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2.png" Type="http://schemas.openxmlformats.org/officeDocument/2006/relationships/image"/><Relationship Id="rId3" Target="../media/image53.svg" Type="http://schemas.openxmlformats.org/officeDocument/2006/relationships/image"/><Relationship Id="rId4" Target="../media/image54.png" Type="http://schemas.openxmlformats.org/officeDocument/2006/relationships/image"/><Relationship Id="rId5" Target="../media/image55.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56.png" Type="http://schemas.openxmlformats.org/officeDocument/2006/relationships/image"/><Relationship Id="rId9" Target="../media/image57.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4.svg" Type="http://schemas.openxmlformats.org/officeDocument/2006/relationships/image"/><Relationship Id="rId11" Target="../media/image65.png" Type="http://schemas.openxmlformats.org/officeDocument/2006/relationships/image"/><Relationship Id="rId12" Target="../media/image66.svg" Type="http://schemas.openxmlformats.org/officeDocument/2006/relationships/image"/><Relationship Id="rId13" Target="../media/image67.png" Type="http://schemas.openxmlformats.org/officeDocument/2006/relationships/image"/><Relationship Id="rId14" Target="../media/image68.svg" Type="http://schemas.openxmlformats.org/officeDocument/2006/relationships/image"/><Relationship Id="rId15" Target="../media/image25.png" Type="http://schemas.openxmlformats.org/officeDocument/2006/relationships/image"/><Relationship Id="rId16" Target="../media/image26.svg" Type="http://schemas.openxmlformats.org/officeDocument/2006/relationships/image"/><Relationship Id="rId2" Target="../media/image58.png" Type="http://schemas.openxmlformats.org/officeDocument/2006/relationships/image"/><Relationship Id="rId3" Target="../media/image19.png" Type="http://schemas.openxmlformats.org/officeDocument/2006/relationships/image"/><Relationship Id="rId4" Target="../media/image20.svg" Type="http://schemas.openxmlformats.org/officeDocument/2006/relationships/image"/><Relationship Id="rId5" Target="../media/image59.png" Type="http://schemas.openxmlformats.org/officeDocument/2006/relationships/image"/><Relationship Id="rId6" Target="../media/image60.svg" Type="http://schemas.openxmlformats.org/officeDocument/2006/relationships/image"/><Relationship Id="rId7" Target="../media/image61.png" Type="http://schemas.openxmlformats.org/officeDocument/2006/relationships/image"/><Relationship Id="rId8" Target="../media/image62.svg" Type="http://schemas.openxmlformats.org/officeDocument/2006/relationships/image"/><Relationship Id="rId9" Target="../media/image63.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5.png" Type="http://schemas.openxmlformats.org/officeDocument/2006/relationships/image"/><Relationship Id="rId11" Target="../media/image76.png" Type="http://schemas.openxmlformats.org/officeDocument/2006/relationships/image"/><Relationship Id="rId12" Target="../media/image77.png" Type="http://schemas.openxmlformats.org/officeDocument/2006/relationships/image"/><Relationship Id="rId2" Target="../media/image69.png" Type="http://schemas.openxmlformats.org/officeDocument/2006/relationships/image"/><Relationship Id="rId3" Target="../media/image70.svg" Type="http://schemas.openxmlformats.org/officeDocument/2006/relationships/image"/><Relationship Id="rId4" Target="../media/image71.png" Type="http://schemas.openxmlformats.org/officeDocument/2006/relationships/image"/><Relationship Id="rId5" Target="../media/image72.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73.png" Type="http://schemas.openxmlformats.org/officeDocument/2006/relationships/image"/><Relationship Id="rId9" Target="../media/image74.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0.png" Type="http://schemas.openxmlformats.org/officeDocument/2006/relationships/image"/><Relationship Id="rId11" Target="../media/image81.png" Type="http://schemas.openxmlformats.org/officeDocument/2006/relationships/image"/><Relationship Id="rId12" Target="../media/image82.png" Type="http://schemas.openxmlformats.org/officeDocument/2006/relationships/image"/><Relationship Id="rId2" Target="../media/image69.png" Type="http://schemas.openxmlformats.org/officeDocument/2006/relationships/image"/><Relationship Id="rId3" Target="../media/image70.svg" Type="http://schemas.openxmlformats.org/officeDocument/2006/relationships/image"/><Relationship Id="rId4" Target="../media/image71.png" Type="http://schemas.openxmlformats.org/officeDocument/2006/relationships/image"/><Relationship Id="rId5" Target="../media/image72.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78.png" Type="http://schemas.openxmlformats.org/officeDocument/2006/relationships/image"/><Relationship Id="rId9" Target="../media/image79.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5.png" Type="http://schemas.openxmlformats.org/officeDocument/2006/relationships/image"/><Relationship Id="rId11" Target="../media/image86.png" Type="http://schemas.openxmlformats.org/officeDocument/2006/relationships/image"/><Relationship Id="rId12" Target="../media/image87.png" Type="http://schemas.openxmlformats.org/officeDocument/2006/relationships/image"/><Relationship Id="rId2" Target="../media/image69.png" Type="http://schemas.openxmlformats.org/officeDocument/2006/relationships/image"/><Relationship Id="rId3" Target="../media/image70.svg" Type="http://schemas.openxmlformats.org/officeDocument/2006/relationships/image"/><Relationship Id="rId4" Target="../media/image71.png" Type="http://schemas.openxmlformats.org/officeDocument/2006/relationships/image"/><Relationship Id="rId5" Target="../media/image72.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83.png" Type="http://schemas.openxmlformats.org/officeDocument/2006/relationships/image"/><Relationship Id="rId9" Target="../media/image84.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svg" Type="http://schemas.openxmlformats.org/officeDocument/2006/relationships/image"/><Relationship Id="rId11" Target="../media/image91.png" Type="http://schemas.openxmlformats.org/officeDocument/2006/relationships/image"/><Relationship Id="rId12" Target="../media/image92.png" Type="http://schemas.openxmlformats.org/officeDocument/2006/relationships/image"/><Relationship Id="rId2" Target="../media/image88.png" Type="http://schemas.openxmlformats.org/officeDocument/2006/relationships/image"/><Relationship Id="rId3" Target="../media/image89.svg" Type="http://schemas.openxmlformats.org/officeDocument/2006/relationships/image"/><Relationship Id="rId4" Target="../media/image90.png" Type="http://schemas.openxmlformats.org/officeDocument/2006/relationships/image"/><Relationship Id="rId5" Target="../media/image52.png" Type="http://schemas.openxmlformats.org/officeDocument/2006/relationships/image"/><Relationship Id="rId6" Target="../media/image53.svg" Type="http://schemas.openxmlformats.org/officeDocument/2006/relationships/image"/><Relationship Id="rId7" Target="../media/image54.png" Type="http://schemas.openxmlformats.org/officeDocument/2006/relationships/image"/><Relationship Id="rId8" Target="../media/image55.svg" Type="http://schemas.openxmlformats.org/officeDocument/2006/relationships/image"/><Relationship Id="rId9" Target="../media/image5.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0.svg" Type="http://schemas.openxmlformats.org/officeDocument/2006/relationships/image"/><Relationship Id="rId11" Target="../media/image94.png" Type="http://schemas.openxmlformats.org/officeDocument/2006/relationships/image"/><Relationship Id="rId12" Target="../media/image95.png" Type="http://schemas.openxmlformats.org/officeDocument/2006/relationships/image"/><Relationship Id="rId2" Target="../media/image93.png" Type="http://schemas.openxmlformats.org/officeDocument/2006/relationships/image"/><Relationship Id="rId3" Target="../media/image31.png" Type="http://schemas.openxmlformats.org/officeDocument/2006/relationships/image"/><Relationship Id="rId4" Target="../media/image32.svg" Type="http://schemas.openxmlformats.org/officeDocument/2006/relationships/image"/><Relationship Id="rId5" Target="../media/image37.png" Type="http://schemas.openxmlformats.org/officeDocument/2006/relationships/image"/><Relationship Id="rId6" Target="../media/image38.sv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 Id="rId9" Target="../media/image39.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8.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2" Target="../media/image96.png" Type="http://schemas.openxmlformats.org/officeDocument/2006/relationships/image"/><Relationship Id="rId3" Target="../media/image19.png" Type="http://schemas.openxmlformats.org/officeDocument/2006/relationships/image"/><Relationship Id="rId4" Target="../media/image20.svg" Type="http://schemas.openxmlformats.org/officeDocument/2006/relationships/image"/><Relationship Id="rId5" Target="../media/image63.png" Type="http://schemas.openxmlformats.org/officeDocument/2006/relationships/image"/><Relationship Id="rId6" Target="../media/image64.svg" Type="http://schemas.openxmlformats.org/officeDocument/2006/relationships/image"/><Relationship Id="rId7" Target="../media/image65.png" Type="http://schemas.openxmlformats.org/officeDocument/2006/relationships/image"/><Relationship Id="rId8" Target="../media/image66.svg" Type="http://schemas.openxmlformats.org/officeDocument/2006/relationships/image"/><Relationship Id="rId9" Target="../media/image67.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8.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2" Target="../media/image97.png" Type="http://schemas.openxmlformats.org/officeDocument/2006/relationships/image"/><Relationship Id="rId3" Target="../media/image19.png" Type="http://schemas.openxmlformats.org/officeDocument/2006/relationships/image"/><Relationship Id="rId4" Target="../media/image20.svg" Type="http://schemas.openxmlformats.org/officeDocument/2006/relationships/image"/><Relationship Id="rId5" Target="../media/image63.png" Type="http://schemas.openxmlformats.org/officeDocument/2006/relationships/image"/><Relationship Id="rId6" Target="../media/image64.svg" Type="http://schemas.openxmlformats.org/officeDocument/2006/relationships/image"/><Relationship Id="rId7" Target="../media/image65.png" Type="http://schemas.openxmlformats.org/officeDocument/2006/relationships/image"/><Relationship Id="rId8" Target="../media/image66.svg" Type="http://schemas.openxmlformats.org/officeDocument/2006/relationships/image"/><Relationship Id="rId9" Target="../media/image67.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8.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2" Target="../media/image98.png" Type="http://schemas.openxmlformats.org/officeDocument/2006/relationships/image"/><Relationship Id="rId3" Target="../media/image19.png" Type="http://schemas.openxmlformats.org/officeDocument/2006/relationships/image"/><Relationship Id="rId4" Target="../media/image20.svg" Type="http://schemas.openxmlformats.org/officeDocument/2006/relationships/image"/><Relationship Id="rId5" Target="../media/image63.png" Type="http://schemas.openxmlformats.org/officeDocument/2006/relationships/image"/><Relationship Id="rId6" Target="../media/image64.svg" Type="http://schemas.openxmlformats.org/officeDocument/2006/relationships/image"/><Relationship Id="rId7" Target="../media/image65.png" Type="http://schemas.openxmlformats.org/officeDocument/2006/relationships/image"/><Relationship Id="rId8" Target="../media/image66.svg" Type="http://schemas.openxmlformats.org/officeDocument/2006/relationships/image"/><Relationship Id="rId9" Target="../media/image67.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9.png" Type="http://schemas.openxmlformats.org/officeDocument/2006/relationships/image"/><Relationship Id="rId3" Target="../media/image47.png" Type="http://schemas.openxmlformats.org/officeDocument/2006/relationships/image"/><Relationship Id="rId4" Target="../media/image48.svg" Type="http://schemas.openxmlformats.org/officeDocument/2006/relationships/image"/><Relationship Id="rId5" Target="../media/image39.png" Type="http://schemas.openxmlformats.org/officeDocument/2006/relationships/image"/><Relationship Id="rId6" Target="../media/image40.sv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0.png" Type="http://schemas.openxmlformats.org/officeDocument/2006/relationships/image"/><Relationship Id="rId3" Target="../media/image47.png" Type="http://schemas.openxmlformats.org/officeDocument/2006/relationships/image"/><Relationship Id="rId4" Target="../media/image48.svg" Type="http://schemas.openxmlformats.org/officeDocument/2006/relationships/image"/><Relationship Id="rId5" Target="../media/image39.png" Type="http://schemas.openxmlformats.org/officeDocument/2006/relationships/image"/><Relationship Id="rId6" Target="../media/image40.sv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1.png" Type="http://schemas.openxmlformats.org/officeDocument/2006/relationships/image"/><Relationship Id="rId3" Target="../media/image47.png" Type="http://schemas.openxmlformats.org/officeDocument/2006/relationships/image"/><Relationship Id="rId4" Target="../media/image48.svg" Type="http://schemas.openxmlformats.org/officeDocument/2006/relationships/image"/><Relationship Id="rId5" Target="../media/image39.png" Type="http://schemas.openxmlformats.org/officeDocument/2006/relationships/image"/><Relationship Id="rId6" Target="../media/image40.sv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6.svg" Type="http://schemas.openxmlformats.org/officeDocument/2006/relationships/image"/><Relationship Id="rId11" Target="../media/image67.png" Type="http://schemas.openxmlformats.org/officeDocument/2006/relationships/image"/><Relationship Id="rId12" Target="../media/image68.svg" Type="http://schemas.openxmlformats.org/officeDocument/2006/relationships/image"/><Relationship Id="rId2" Target="../media/image102.jpeg" Type="http://schemas.openxmlformats.org/officeDocument/2006/relationships/image"/><Relationship Id="rId3" Target="../media/image19.png" Type="http://schemas.openxmlformats.org/officeDocument/2006/relationships/image"/><Relationship Id="rId4" Target="../media/image20.svg" Type="http://schemas.openxmlformats.org/officeDocument/2006/relationships/image"/><Relationship Id="rId5" Target="../media/image59.png" Type="http://schemas.openxmlformats.org/officeDocument/2006/relationships/image"/><Relationship Id="rId6" Target="../media/image60.svg" Type="http://schemas.openxmlformats.org/officeDocument/2006/relationships/image"/><Relationship Id="rId7" Target="../media/image63.png" Type="http://schemas.openxmlformats.org/officeDocument/2006/relationships/image"/><Relationship Id="rId8" Target="../media/image64.svg" Type="http://schemas.openxmlformats.org/officeDocument/2006/relationships/image"/><Relationship Id="rId9" Target="../media/image65.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0.svg" Type="http://schemas.openxmlformats.org/officeDocument/2006/relationships/image"/><Relationship Id="rId2" Target="../media/image103.jpeg" Type="http://schemas.openxmlformats.org/officeDocument/2006/relationships/image"/><Relationship Id="rId3" Target="../media/image104.png" Type="http://schemas.openxmlformats.org/officeDocument/2006/relationships/image"/><Relationship Id="rId4" Target="../media/image105.svg" Type="http://schemas.openxmlformats.org/officeDocument/2006/relationships/image"/><Relationship Id="rId5" Target="../media/image106.png" Type="http://schemas.openxmlformats.org/officeDocument/2006/relationships/image"/><Relationship Id="rId6" Target="../media/image107.svg" Type="http://schemas.openxmlformats.org/officeDocument/2006/relationships/image"/><Relationship Id="rId7" Target="../media/image37.png" Type="http://schemas.openxmlformats.org/officeDocument/2006/relationships/image"/><Relationship Id="rId8" Target="../media/image38.svg" Type="http://schemas.openxmlformats.org/officeDocument/2006/relationships/image"/><Relationship Id="rId9" Target="../media/image69.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21.png" Type="http://schemas.openxmlformats.org/officeDocument/2006/relationships/image"/><Relationship Id="rId7" Target="../media/image22.svg" Type="http://schemas.openxmlformats.org/officeDocument/2006/relationships/image"/><Relationship Id="rId8" Target="../media/image23.png" Type="http://schemas.openxmlformats.org/officeDocument/2006/relationships/image"/><Relationship Id="rId9" Target="../media/image24.sv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54.png" Type="http://schemas.openxmlformats.org/officeDocument/2006/relationships/image"/><Relationship Id="rId5" Target="../media/image55.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15471011" y="7325645"/>
            <a:ext cx="2816989" cy="2961355"/>
          </a:xfrm>
          <a:custGeom>
            <a:avLst/>
            <a:gdLst/>
            <a:ahLst/>
            <a:cxnLst/>
            <a:rect r="r" b="b" t="t" l="l"/>
            <a:pathLst>
              <a:path h="2961355" w="2816989">
                <a:moveTo>
                  <a:pt x="0" y="2961355"/>
                </a:moveTo>
                <a:lnTo>
                  <a:pt x="2816989" y="2961355"/>
                </a:lnTo>
                <a:lnTo>
                  <a:pt x="2816989" y="0"/>
                </a:lnTo>
                <a:lnTo>
                  <a:pt x="0" y="0"/>
                </a:lnTo>
                <a:lnTo>
                  <a:pt x="0" y="2961355"/>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14202040" y="0"/>
            <a:ext cx="4085960" cy="3973596"/>
          </a:xfrm>
          <a:custGeom>
            <a:avLst/>
            <a:gdLst/>
            <a:ahLst/>
            <a:cxnLst/>
            <a:rect r="r" b="b" t="t" l="l"/>
            <a:pathLst>
              <a:path h="3973596" w="4085960">
                <a:moveTo>
                  <a:pt x="0" y="3973596"/>
                </a:moveTo>
                <a:lnTo>
                  <a:pt x="4085960" y="3973596"/>
                </a:lnTo>
                <a:lnTo>
                  <a:pt x="4085960" y="0"/>
                </a:lnTo>
                <a:lnTo>
                  <a:pt x="0" y="0"/>
                </a:lnTo>
                <a:lnTo>
                  <a:pt x="0" y="3973596"/>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503058" y="-187587"/>
            <a:ext cx="7315200" cy="658368"/>
          </a:xfrm>
          <a:custGeom>
            <a:avLst/>
            <a:gdLst/>
            <a:ahLst/>
            <a:cxnLst/>
            <a:rect r="r" b="b" t="t" l="l"/>
            <a:pathLst>
              <a:path h="658368" w="7315200">
                <a:moveTo>
                  <a:pt x="0" y="0"/>
                </a:moveTo>
                <a:lnTo>
                  <a:pt x="7315200" y="0"/>
                </a:lnTo>
                <a:lnTo>
                  <a:pt x="7315200" y="658368"/>
                </a:lnTo>
                <a:lnTo>
                  <a:pt x="0" y="65836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0">
            <a:off x="1028700" y="2869569"/>
            <a:ext cx="12437295" cy="4474148"/>
            <a:chOff x="0" y="0"/>
            <a:chExt cx="3469522" cy="1248113"/>
          </a:xfrm>
        </p:grpSpPr>
        <p:sp>
          <p:nvSpPr>
            <p:cNvPr name="Freeform 6" id="6"/>
            <p:cNvSpPr/>
            <p:nvPr/>
          </p:nvSpPr>
          <p:spPr>
            <a:xfrm flipH="false" flipV="false" rot="0">
              <a:off x="0" y="0"/>
              <a:ext cx="3469522" cy="1248113"/>
            </a:xfrm>
            <a:custGeom>
              <a:avLst/>
              <a:gdLst/>
              <a:ahLst/>
              <a:cxnLst/>
              <a:rect r="r" b="b" t="t" l="l"/>
              <a:pathLst>
                <a:path h="1248113" w="3469522">
                  <a:moveTo>
                    <a:pt x="22409" y="0"/>
                  </a:moveTo>
                  <a:lnTo>
                    <a:pt x="3447113" y="0"/>
                  </a:lnTo>
                  <a:cubicBezTo>
                    <a:pt x="3453056" y="0"/>
                    <a:pt x="3458756" y="2361"/>
                    <a:pt x="3462958" y="6563"/>
                  </a:cubicBezTo>
                  <a:cubicBezTo>
                    <a:pt x="3467161" y="10766"/>
                    <a:pt x="3469522" y="16466"/>
                    <a:pt x="3469522" y="22409"/>
                  </a:cubicBezTo>
                  <a:lnTo>
                    <a:pt x="3469522" y="1225704"/>
                  </a:lnTo>
                  <a:cubicBezTo>
                    <a:pt x="3469522" y="1231648"/>
                    <a:pt x="3467161" y="1237347"/>
                    <a:pt x="3462958" y="1241550"/>
                  </a:cubicBezTo>
                  <a:cubicBezTo>
                    <a:pt x="3458756" y="1245752"/>
                    <a:pt x="3453056" y="1248113"/>
                    <a:pt x="3447113" y="1248113"/>
                  </a:cubicBezTo>
                  <a:lnTo>
                    <a:pt x="22409" y="1248113"/>
                  </a:lnTo>
                  <a:cubicBezTo>
                    <a:pt x="16466" y="1248113"/>
                    <a:pt x="10766" y="1245752"/>
                    <a:pt x="6563" y="1241550"/>
                  </a:cubicBezTo>
                  <a:cubicBezTo>
                    <a:pt x="2361" y="1237347"/>
                    <a:pt x="0" y="1231648"/>
                    <a:pt x="0" y="1225704"/>
                  </a:cubicBezTo>
                  <a:lnTo>
                    <a:pt x="0" y="22409"/>
                  </a:lnTo>
                  <a:cubicBezTo>
                    <a:pt x="0" y="16466"/>
                    <a:pt x="2361" y="10766"/>
                    <a:pt x="6563" y="6563"/>
                  </a:cubicBezTo>
                  <a:cubicBezTo>
                    <a:pt x="10766" y="2361"/>
                    <a:pt x="16466" y="0"/>
                    <a:pt x="22409" y="0"/>
                  </a:cubicBezTo>
                  <a:close/>
                </a:path>
              </a:pathLst>
            </a:custGeom>
            <a:solidFill>
              <a:srgbClr val="E2E4EA"/>
            </a:solidFill>
          </p:spPr>
        </p:sp>
        <p:sp>
          <p:nvSpPr>
            <p:cNvPr name="TextBox 7" id="7"/>
            <p:cNvSpPr txBox="true"/>
            <p:nvPr/>
          </p:nvSpPr>
          <p:spPr>
            <a:xfrm>
              <a:off x="0" y="-57150"/>
              <a:ext cx="3469522" cy="1305263"/>
            </a:xfrm>
            <a:prstGeom prst="rect">
              <a:avLst/>
            </a:prstGeom>
          </p:spPr>
          <p:txBody>
            <a:bodyPr anchor="ctr" rtlCol="false" tIns="50800" lIns="50800" bIns="50800" rIns="50800"/>
            <a:lstStyle/>
            <a:p>
              <a:pPr algn="ctr">
                <a:lnSpc>
                  <a:spcPts val="3643"/>
                </a:lnSpc>
              </a:pPr>
            </a:p>
          </p:txBody>
        </p:sp>
      </p:grpSp>
      <p:sp>
        <p:nvSpPr>
          <p:cNvPr name="Freeform 8" id="8"/>
          <p:cNvSpPr/>
          <p:nvPr/>
        </p:nvSpPr>
        <p:spPr>
          <a:xfrm flipH="true" flipV="false" rot="0">
            <a:off x="8155811" y="9900666"/>
            <a:ext cx="7315200" cy="658368"/>
          </a:xfrm>
          <a:custGeom>
            <a:avLst/>
            <a:gdLst/>
            <a:ahLst/>
            <a:cxnLst/>
            <a:rect r="r" b="b" t="t" l="l"/>
            <a:pathLst>
              <a:path h="658368" w="7315200">
                <a:moveTo>
                  <a:pt x="7315200" y="0"/>
                </a:moveTo>
                <a:lnTo>
                  <a:pt x="0" y="0"/>
                </a:lnTo>
                <a:lnTo>
                  <a:pt x="0" y="658368"/>
                </a:lnTo>
                <a:lnTo>
                  <a:pt x="7315200" y="658368"/>
                </a:lnTo>
                <a:lnTo>
                  <a:pt x="7315200" y="0"/>
                </a:lnTo>
                <a:close/>
              </a:path>
            </a:pathLst>
          </a:custGeom>
          <a:blipFill>
            <a:blip r:embed="rId6">
              <a:extLst>
                <a:ext uri="{96DAC541-7B7A-43D3-8B79-37D633B846F1}">
                  <asvg:svgBlip xmlns:asvg="http://schemas.microsoft.com/office/drawing/2016/SVG/main" r:embed="rId7"/>
                </a:ext>
              </a:extLst>
            </a:blip>
            <a:stretch>
              <a:fillRect l="-19574" t="-19574" r="0" b="0"/>
            </a:stretch>
          </a:blipFill>
        </p:spPr>
      </p:sp>
      <p:grpSp>
        <p:nvGrpSpPr>
          <p:cNvPr name="Group 9" id="9"/>
          <p:cNvGrpSpPr/>
          <p:nvPr/>
        </p:nvGrpSpPr>
        <p:grpSpPr>
          <a:xfrm rot="0">
            <a:off x="6812142" y="7171309"/>
            <a:ext cx="8115300" cy="1846585"/>
            <a:chOff x="0" y="0"/>
            <a:chExt cx="2137363" cy="486343"/>
          </a:xfrm>
        </p:grpSpPr>
        <p:sp>
          <p:nvSpPr>
            <p:cNvPr name="Freeform 10" id="10"/>
            <p:cNvSpPr/>
            <p:nvPr/>
          </p:nvSpPr>
          <p:spPr>
            <a:xfrm flipH="false" flipV="false" rot="0">
              <a:off x="0" y="0"/>
              <a:ext cx="2137363" cy="486343"/>
            </a:xfrm>
            <a:custGeom>
              <a:avLst/>
              <a:gdLst/>
              <a:ahLst/>
              <a:cxnLst/>
              <a:rect r="r" b="b" t="t" l="l"/>
              <a:pathLst>
                <a:path h="486343" w="2137363">
                  <a:moveTo>
                    <a:pt x="29574" y="0"/>
                  </a:moveTo>
                  <a:lnTo>
                    <a:pt x="2107789" y="0"/>
                  </a:lnTo>
                  <a:cubicBezTo>
                    <a:pt x="2115633" y="0"/>
                    <a:pt x="2123155" y="3116"/>
                    <a:pt x="2128701" y="8662"/>
                  </a:cubicBezTo>
                  <a:cubicBezTo>
                    <a:pt x="2134247" y="14208"/>
                    <a:pt x="2137363" y="21730"/>
                    <a:pt x="2137363" y="29574"/>
                  </a:cubicBezTo>
                  <a:lnTo>
                    <a:pt x="2137363" y="456770"/>
                  </a:lnTo>
                  <a:cubicBezTo>
                    <a:pt x="2137363" y="473103"/>
                    <a:pt x="2124122" y="486343"/>
                    <a:pt x="2107789" y="486343"/>
                  </a:cubicBezTo>
                  <a:lnTo>
                    <a:pt x="29574" y="486343"/>
                  </a:lnTo>
                  <a:cubicBezTo>
                    <a:pt x="13241" y="486343"/>
                    <a:pt x="0" y="473103"/>
                    <a:pt x="0" y="456770"/>
                  </a:cubicBezTo>
                  <a:lnTo>
                    <a:pt x="0" y="29574"/>
                  </a:lnTo>
                  <a:cubicBezTo>
                    <a:pt x="0" y="13241"/>
                    <a:pt x="13241" y="0"/>
                    <a:pt x="29574" y="0"/>
                  </a:cubicBezTo>
                  <a:close/>
                </a:path>
              </a:pathLst>
            </a:custGeom>
            <a:solidFill>
              <a:srgbClr val="245095"/>
            </a:solidFill>
          </p:spPr>
        </p:sp>
        <p:sp>
          <p:nvSpPr>
            <p:cNvPr name="TextBox 11" id="11"/>
            <p:cNvSpPr txBox="true"/>
            <p:nvPr/>
          </p:nvSpPr>
          <p:spPr>
            <a:xfrm>
              <a:off x="0" y="-57150"/>
              <a:ext cx="2137363" cy="543493"/>
            </a:xfrm>
            <a:prstGeom prst="rect">
              <a:avLst/>
            </a:prstGeom>
          </p:spPr>
          <p:txBody>
            <a:bodyPr anchor="ctr" rtlCol="false" tIns="50800" lIns="50800" bIns="50800" rIns="50800"/>
            <a:lstStyle/>
            <a:p>
              <a:pPr algn="ctr">
                <a:lnSpc>
                  <a:spcPts val="3643"/>
                </a:lnSpc>
              </a:pPr>
            </a:p>
          </p:txBody>
        </p:sp>
      </p:grpSp>
      <p:sp>
        <p:nvSpPr>
          <p:cNvPr name="Freeform 12" id="12"/>
          <p:cNvSpPr/>
          <p:nvPr/>
        </p:nvSpPr>
        <p:spPr>
          <a:xfrm flipH="false" flipV="false" rot="0">
            <a:off x="874294" y="952504"/>
            <a:ext cx="942879" cy="1034294"/>
          </a:xfrm>
          <a:custGeom>
            <a:avLst/>
            <a:gdLst/>
            <a:ahLst/>
            <a:cxnLst/>
            <a:rect r="r" b="b" t="t" l="l"/>
            <a:pathLst>
              <a:path h="1034294" w="942879">
                <a:moveTo>
                  <a:pt x="0" y="0"/>
                </a:moveTo>
                <a:lnTo>
                  <a:pt x="942879" y="0"/>
                </a:lnTo>
                <a:lnTo>
                  <a:pt x="942879" y="1034294"/>
                </a:lnTo>
                <a:lnTo>
                  <a:pt x="0" y="1034294"/>
                </a:lnTo>
                <a:lnTo>
                  <a:pt x="0" y="0"/>
                </a:lnTo>
                <a:close/>
              </a:path>
            </a:pathLst>
          </a:custGeom>
          <a:blipFill>
            <a:blip r:embed="rId8"/>
            <a:stretch>
              <a:fillRect l="0" t="0" r="0" b="0"/>
            </a:stretch>
          </a:blipFill>
        </p:spPr>
      </p:sp>
      <p:sp>
        <p:nvSpPr>
          <p:cNvPr name="TextBox 13" id="13"/>
          <p:cNvSpPr txBox="true"/>
          <p:nvPr/>
        </p:nvSpPr>
        <p:spPr>
          <a:xfrm rot="0">
            <a:off x="1345733" y="3370311"/>
            <a:ext cx="11803228" cy="3392034"/>
          </a:xfrm>
          <a:prstGeom prst="rect">
            <a:avLst/>
          </a:prstGeom>
        </p:spPr>
        <p:txBody>
          <a:bodyPr anchor="t" rtlCol="false" tIns="0" lIns="0" bIns="0" rIns="0">
            <a:spAutoFit/>
          </a:bodyPr>
          <a:lstStyle/>
          <a:p>
            <a:pPr algn="l">
              <a:lnSpc>
                <a:spcPts val="6762"/>
              </a:lnSpc>
            </a:pPr>
            <a:r>
              <a:rPr lang="en-US" b="true" sz="4830">
                <a:solidFill>
                  <a:srgbClr val="1F4B91"/>
                </a:solidFill>
                <a:latin typeface="Open Sans Bold"/>
                <a:ea typeface="Open Sans Bold"/>
                <a:cs typeface="Open Sans Bold"/>
                <a:sym typeface="Open Sans Bold"/>
              </a:rPr>
              <a:t>ANALISIS ASPEK DAN SENTIMEN REVIEW PENGGUNA APLIKASI SHOPEE DI PLAY STORE MENGGUNAKAN TOPIC MODELING LDA DAN NAIVE BAYES</a:t>
            </a:r>
          </a:p>
        </p:txBody>
      </p:sp>
      <p:sp>
        <p:nvSpPr>
          <p:cNvPr name="TextBox 14" id="14"/>
          <p:cNvSpPr txBox="true"/>
          <p:nvPr/>
        </p:nvSpPr>
        <p:spPr>
          <a:xfrm rot="0">
            <a:off x="7129175" y="7286568"/>
            <a:ext cx="7560336" cy="1393694"/>
          </a:xfrm>
          <a:prstGeom prst="rect">
            <a:avLst/>
          </a:prstGeom>
        </p:spPr>
        <p:txBody>
          <a:bodyPr anchor="t" rtlCol="false" tIns="0" lIns="0" bIns="0" rIns="0">
            <a:spAutoFit/>
          </a:bodyPr>
          <a:lstStyle/>
          <a:p>
            <a:pPr algn="l">
              <a:lnSpc>
                <a:spcPts val="3712"/>
              </a:lnSpc>
            </a:pPr>
            <a:r>
              <a:rPr lang="en-US" sz="2651" b="true">
                <a:solidFill>
                  <a:srgbClr val="FFFFFF"/>
                </a:solidFill>
                <a:latin typeface="Open Sans Bold"/>
                <a:ea typeface="Open Sans Bold"/>
                <a:cs typeface="Open Sans Bold"/>
                <a:sym typeface="Open Sans Bold"/>
              </a:rPr>
              <a:t>Dosen Pengampu:</a:t>
            </a:r>
          </a:p>
          <a:p>
            <a:pPr algn="l" marL="572451" indent="-286225" lvl="1">
              <a:lnSpc>
                <a:spcPts val="3712"/>
              </a:lnSpc>
              <a:buFont typeface="Arial"/>
              <a:buChar char="•"/>
            </a:pPr>
            <a:r>
              <a:rPr lang="en-US" b="true" sz="2651">
                <a:solidFill>
                  <a:srgbClr val="FFFFFF"/>
                </a:solidFill>
                <a:latin typeface="Open Sans Bold"/>
                <a:ea typeface="Open Sans Bold"/>
                <a:cs typeface="Open Sans Bold"/>
                <a:sym typeface="Open Sans Bold"/>
              </a:rPr>
              <a:t>Riskyana Dewi Intan Puspitasari, M.Kom.</a:t>
            </a:r>
          </a:p>
          <a:p>
            <a:pPr algn="l" marL="572451" indent="-286225" lvl="1">
              <a:lnSpc>
                <a:spcPts val="3712"/>
              </a:lnSpc>
              <a:buFont typeface="Arial"/>
              <a:buChar char="•"/>
            </a:pPr>
            <a:r>
              <a:rPr lang="en-US" b="true" sz="2651">
                <a:solidFill>
                  <a:srgbClr val="FFFFFF"/>
                </a:solidFill>
                <a:latin typeface="Open Sans Bold"/>
                <a:ea typeface="Open Sans Bold"/>
                <a:cs typeface="Open Sans Bold"/>
                <a:sym typeface="Open Sans Bold"/>
              </a:rPr>
              <a:t>Ike Fitriyaningsih, </a:t>
            </a:r>
            <a:r>
              <a:rPr lang="en-US" b="true" sz="2651" u="sng">
                <a:solidFill>
                  <a:srgbClr val="FFFFFF"/>
                </a:solidFill>
                <a:latin typeface="Open Sans Bold"/>
                <a:ea typeface="Open Sans Bold"/>
                <a:cs typeface="Open Sans Bold"/>
                <a:sym typeface="Open Sans Bold"/>
                <a:hlinkClick r:id="rId9" tooltip="http://s.si"/>
              </a:rPr>
              <a:t>S.Si</a:t>
            </a:r>
            <a:r>
              <a:rPr lang="en-US" b="true" sz="2651">
                <a:solidFill>
                  <a:srgbClr val="FFFFFF"/>
                </a:solidFill>
                <a:latin typeface="Open Sans Bold"/>
                <a:ea typeface="Open Sans Bold"/>
                <a:cs typeface="Open Sans Bold"/>
                <a:sym typeface="Open Sans Bold"/>
              </a:rPr>
              <a:t>., M.Si.</a:t>
            </a:r>
          </a:p>
        </p:txBody>
      </p:sp>
      <p:sp>
        <p:nvSpPr>
          <p:cNvPr name="TextBox 15" id="15"/>
          <p:cNvSpPr txBox="true"/>
          <p:nvPr/>
        </p:nvSpPr>
        <p:spPr>
          <a:xfrm rot="0">
            <a:off x="2163280" y="1189933"/>
            <a:ext cx="5992531" cy="511810"/>
          </a:xfrm>
          <a:prstGeom prst="rect">
            <a:avLst/>
          </a:prstGeom>
        </p:spPr>
        <p:txBody>
          <a:bodyPr anchor="t" rtlCol="false" tIns="0" lIns="0" bIns="0" rIns="0">
            <a:spAutoFit/>
          </a:bodyPr>
          <a:lstStyle/>
          <a:p>
            <a:pPr algn="l">
              <a:lnSpc>
                <a:spcPts val="4339"/>
              </a:lnSpc>
            </a:pPr>
            <a:r>
              <a:rPr lang="en-US" sz="3099" b="true">
                <a:solidFill>
                  <a:srgbClr val="000000"/>
                </a:solidFill>
                <a:latin typeface="Open Sans Bold"/>
                <a:ea typeface="Open Sans Bold"/>
                <a:cs typeface="Open Sans Bold"/>
                <a:sym typeface="Open Sans Bold"/>
              </a:rPr>
              <a:t>Universitas Negeri Surabaya</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0" y="8160499"/>
            <a:ext cx="1988278" cy="2126501"/>
          </a:xfrm>
          <a:custGeom>
            <a:avLst/>
            <a:gdLst/>
            <a:ahLst/>
            <a:cxnLst/>
            <a:rect r="r" b="b" t="t" l="l"/>
            <a:pathLst>
              <a:path h="2126501" w="1988278">
                <a:moveTo>
                  <a:pt x="0" y="2126501"/>
                </a:moveTo>
                <a:lnTo>
                  <a:pt x="1988278" y="2126501"/>
                </a:lnTo>
                <a:lnTo>
                  <a:pt x="1988278" y="0"/>
                </a:lnTo>
                <a:lnTo>
                  <a:pt x="0" y="0"/>
                </a:lnTo>
                <a:lnTo>
                  <a:pt x="0" y="21265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310134" y="39010"/>
            <a:ext cx="1974988" cy="2126501"/>
          </a:xfrm>
          <a:custGeom>
            <a:avLst/>
            <a:gdLst/>
            <a:ahLst/>
            <a:cxnLst/>
            <a:rect r="r" b="b" t="t" l="l"/>
            <a:pathLst>
              <a:path h="2126501" w="1974988">
                <a:moveTo>
                  <a:pt x="0" y="0"/>
                </a:moveTo>
                <a:lnTo>
                  <a:pt x="1974988" y="0"/>
                </a:lnTo>
                <a:lnTo>
                  <a:pt x="1974988" y="2126501"/>
                </a:lnTo>
                <a:lnTo>
                  <a:pt x="0" y="21265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067791">
            <a:off x="-503391" y="-429831"/>
            <a:ext cx="1464840" cy="1464840"/>
          </a:xfrm>
          <a:custGeom>
            <a:avLst/>
            <a:gdLst/>
            <a:ahLst/>
            <a:cxnLst/>
            <a:rect r="r" b="b" t="t" l="l"/>
            <a:pathLst>
              <a:path h="1464840" w="1464840">
                <a:moveTo>
                  <a:pt x="0" y="0"/>
                </a:moveTo>
                <a:lnTo>
                  <a:pt x="1464841" y="0"/>
                </a:lnTo>
                <a:lnTo>
                  <a:pt x="1464841" y="1464841"/>
                </a:lnTo>
                <a:lnTo>
                  <a:pt x="0" y="1464841"/>
                </a:lnTo>
                <a:lnTo>
                  <a:pt x="0" y="0"/>
                </a:lnTo>
                <a:close/>
              </a:path>
            </a:pathLst>
          </a:custGeom>
          <a:blipFill>
            <a:blip r:embed="rId6">
              <a:alphaModFix amt="19999"/>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6456322" y="9223750"/>
            <a:ext cx="3657600" cy="1911096"/>
          </a:xfrm>
          <a:custGeom>
            <a:avLst/>
            <a:gdLst/>
            <a:ahLst/>
            <a:cxnLst/>
            <a:rect r="r" b="b" t="t" l="l"/>
            <a:pathLst>
              <a:path h="1911096" w="3657600">
                <a:moveTo>
                  <a:pt x="0" y="0"/>
                </a:moveTo>
                <a:lnTo>
                  <a:pt x="3657600" y="0"/>
                </a:lnTo>
                <a:lnTo>
                  <a:pt x="3657600" y="1911096"/>
                </a:lnTo>
                <a:lnTo>
                  <a:pt x="0" y="191109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6" id="6"/>
          <p:cNvGrpSpPr>
            <a:grpSpLocks noChangeAspect="true"/>
          </p:cNvGrpSpPr>
          <p:nvPr/>
        </p:nvGrpSpPr>
        <p:grpSpPr>
          <a:xfrm rot="0">
            <a:off x="8082590" y="3526562"/>
            <a:ext cx="2122820" cy="2122820"/>
            <a:chOff x="0" y="0"/>
            <a:chExt cx="14840029" cy="14840029"/>
          </a:xfrm>
        </p:grpSpPr>
        <p:sp>
          <p:nvSpPr>
            <p:cNvPr name="Freeform 7" id="7"/>
            <p:cNvSpPr/>
            <p:nvPr/>
          </p:nvSpPr>
          <p:spPr>
            <a:xfrm flipH="false" flipV="false" rot="0">
              <a:off x="-33258" y="-75"/>
              <a:ext cx="14906544" cy="14840178"/>
            </a:xfrm>
            <a:custGeom>
              <a:avLst/>
              <a:gdLst/>
              <a:ahLst/>
              <a:cxnLst/>
              <a:rect r="r" b="b" t="t" l="l"/>
              <a:pathLst>
                <a:path h="14840178" w="14906544">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solidFill>
              <a:srgbClr val="94B143"/>
            </a:solidFill>
          </p:spPr>
        </p:sp>
        <p:sp>
          <p:nvSpPr>
            <p:cNvPr name="Freeform 8" id="8"/>
            <p:cNvSpPr/>
            <p:nvPr/>
          </p:nvSpPr>
          <p:spPr>
            <a:xfrm flipH="false" flipV="false" rot="0">
              <a:off x="168022" y="200309"/>
              <a:ext cx="14503985" cy="14439411"/>
            </a:xfrm>
            <a:custGeom>
              <a:avLst/>
              <a:gdLst/>
              <a:ahLst/>
              <a:cxnLst/>
              <a:rect r="r" b="b" t="t" l="l"/>
              <a:pathLst>
                <a:path h="14439411" w="14503985">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FFFFFF"/>
            </a:solidFill>
          </p:spPr>
        </p:sp>
        <p:sp>
          <p:nvSpPr>
            <p:cNvPr name="Freeform 9" id="9"/>
            <p:cNvSpPr/>
            <p:nvPr/>
          </p:nvSpPr>
          <p:spPr>
            <a:xfrm flipH="false" flipV="false" rot="0">
              <a:off x="531276" y="561946"/>
              <a:ext cx="13777477" cy="13716137"/>
            </a:xfrm>
            <a:custGeom>
              <a:avLst/>
              <a:gdLst/>
              <a:ahLst/>
              <a:cxnLst/>
              <a:rect r="r" b="b" t="t" l="l"/>
              <a:pathLst>
                <a:path h="13716137" w="1377747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a:blip r:embed="rId10"/>
              <a:stretch>
                <a:fillRect l="-1143" t="0" r="-1143" b="-54648"/>
              </a:stretch>
            </a:blipFill>
          </p:spPr>
        </p:sp>
      </p:grpSp>
      <p:grpSp>
        <p:nvGrpSpPr>
          <p:cNvPr name="Group 10" id="10"/>
          <p:cNvGrpSpPr>
            <a:grpSpLocks noChangeAspect="true"/>
          </p:cNvGrpSpPr>
          <p:nvPr/>
        </p:nvGrpSpPr>
        <p:grpSpPr>
          <a:xfrm rot="0">
            <a:off x="12971789" y="3526562"/>
            <a:ext cx="2122820" cy="2122820"/>
            <a:chOff x="0" y="0"/>
            <a:chExt cx="14840029" cy="14840029"/>
          </a:xfrm>
        </p:grpSpPr>
        <p:sp>
          <p:nvSpPr>
            <p:cNvPr name="Freeform 11" id="11"/>
            <p:cNvSpPr/>
            <p:nvPr/>
          </p:nvSpPr>
          <p:spPr>
            <a:xfrm flipH="false" flipV="false" rot="0">
              <a:off x="-33258" y="-75"/>
              <a:ext cx="14906544" cy="14840178"/>
            </a:xfrm>
            <a:custGeom>
              <a:avLst/>
              <a:gdLst/>
              <a:ahLst/>
              <a:cxnLst/>
              <a:rect r="r" b="b" t="t" l="l"/>
              <a:pathLst>
                <a:path h="14840178" w="14906544">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solidFill>
              <a:srgbClr val="94B143"/>
            </a:solidFill>
          </p:spPr>
        </p:sp>
        <p:sp>
          <p:nvSpPr>
            <p:cNvPr name="Freeform 12" id="12"/>
            <p:cNvSpPr/>
            <p:nvPr/>
          </p:nvSpPr>
          <p:spPr>
            <a:xfrm flipH="false" flipV="false" rot="0">
              <a:off x="168022" y="200309"/>
              <a:ext cx="14503985" cy="14439411"/>
            </a:xfrm>
            <a:custGeom>
              <a:avLst/>
              <a:gdLst/>
              <a:ahLst/>
              <a:cxnLst/>
              <a:rect r="r" b="b" t="t" l="l"/>
              <a:pathLst>
                <a:path h="14439411" w="14503985">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FFFFFF"/>
            </a:solidFill>
          </p:spPr>
        </p:sp>
        <p:sp>
          <p:nvSpPr>
            <p:cNvPr name="Freeform 13" id="13"/>
            <p:cNvSpPr/>
            <p:nvPr/>
          </p:nvSpPr>
          <p:spPr>
            <a:xfrm flipH="false" flipV="false" rot="0">
              <a:off x="531276" y="561946"/>
              <a:ext cx="13777477" cy="13716137"/>
            </a:xfrm>
            <a:custGeom>
              <a:avLst/>
              <a:gdLst/>
              <a:ahLst/>
              <a:cxnLst/>
              <a:rect r="r" b="b" t="t" l="l"/>
              <a:pathLst>
                <a:path h="13716137" w="1377747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a:blip r:embed="rId11"/>
              <a:stretch>
                <a:fillRect l="223" t="-13561" r="-68965" b="-13561"/>
              </a:stretch>
            </a:blipFill>
          </p:spPr>
        </p:sp>
      </p:grpSp>
      <p:grpSp>
        <p:nvGrpSpPr>
          <p:cNvPr name="Group 14" id="14"/>
          <p:cNvGrpSpPr>
            <a:grpSpLocks noChangeAspect="true"/>
          </p:cNvGrpSpPr>
          <p:nvPr/>
        </p:nvGrpSpPr>
        <p:grpSpPr>
          <a:xfrm rot="0">
            <a:off x="3193392" y="3526562"/>
            <a:ext cx="2122820" cy="2122820"/>
            <a:chOff x="0" y="0"/>
            <a:chExt cx="14840029" cy="14840029"/>
          </a:xfrm>
        </p:grpSpPr>
        <p:sp>
          <p:nvSpPr>
            <p:cNvPr name="Freeform 15" id="15"/>
            <p:cNvSpPr/>
            <p:nvPr/>
          </p:nvSpPr>
          <p:spPr>
            <a:xfrm flipH="false" flipV="false" rot="0">
              <a:off x="-33258" y="-75"/>
              <a:ext cx="14906544" cy="14840178"/>
            </a:xfrm>
            <a:custGeom>
              <a:avLst/>
              <a:gdLst/>
              <a:ahLst/>
              <a:cxnLst/>
              <a:rect r="r" b="b" t="t" l="l"/>
              <a:pathLst>
                <a:path h="14840178" w="14906544">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solidFill>
              <a:srgbClr val="94B143"/>
            </a:solidFill>
          </p:spPr>
        </p:sp>
        <p:sp>
          <p:nvSpPr>
            <p:cNvPr name="Freeform 16" id="16"/>
            <p:cNvSpPr/>
            <p:nvPr/>
          </p:nvSpPr>
          <p:spPr>
            <a:xfrm flipH="false" flipV="false" rot="0">
              <a:off x="168022" y="200309"/>
              <a:ext cx="14503985" cy="14439411"/>
            </a:xfrm>
            <a:custGeom>
              <a:avLst/>
              <a:gdLst/>
              <a:ahLst/>
              <a:cxnLst/>
              <a:rect r="r" b="b" t="t" l="l"/>
              <a:pathLst>
                <a:path h="14439411" w="14503985">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FFFFFF"/>
            </a:solidFill>
          </p:spPr>
        </p:sp>
        <p:sp>
          <p:nvSpPr>
            <p:cNvPr name="Freeform 17" id="17"/>
            <p:cNvSpPr/>
            <p:nvPr/>
          </p:nvSpPr>
          <p:spPr>
            <a:xfrm flipH="false" flipV="false" rot="0">
              <a:off x="531276" y="561946"/>
              <a:ext cx="13777477" cy="13716137"/>
            </a:xfrm>
            <a:custGeom>
              <a:avLst/>
              <a:gdLst/>
              <a:ahLst/>
              <a:cxnLst/>
              <a:rect r="r" b="b" t="t" l="l"/>
              <a:pathLst>
                <a:path h="13716137" w="1377747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a:blip r:embed="rId12"/>
              <a:stretch>
                <a:fillRect l="-4732" t="0" r="-2008" b="-61054"/>
              </a:stretch>
            </a:blipFill>
          </p:spPr>
        </p:sp>
      </p:grpSp>
      <p:sp>
        <p:nvSpPr>
          <p:cNvPr name="TextBox 18" id="18"/>
          <p:cNvSpPr txBox="true"/>
          <p:nvPr/>
        </p:nvSpPr>
        <p:spPr>
          <a:xfrm rot="0">
            <a:off x="4014235" y="1501935"/>
            <a:ext cx="10259531" cy="1193800"/>
          </a:xfrm>
          <a:prstGeom prst="rect">
            <a:avLst/>
          </a:prstGeom>
        </p:spPr>
        <p:txBody>
          <a:bodyPr anchor="t" rtlCol="false" tIns="0" lIns="0" bIns="0" rIns="0">
            <a:spAutoFit/>
          </a:bodyPr>
          <a:lstStyle/>
          <a:p>
            <a:pPr algn="ctr">
              <a:lnSpc>
                <a:spcPts val="9799"/>
              </a:lnSpc>
            </a:pPr>
            <a:r>
              <a:rPr lang="en-US" sz="6999" b="true">
                <a:solidFill>
                  <a:srgbClr val="245095"/>
                </a:solidFill>
                <a:latin typeface="Open Sans Bold"/>
                <a:ea typeface="Open Sans Bold"/>
                <a:cs typeface="Open Sans Bold"/>
                <a:sym typeface="Open Sans Bold"/>
              </a:rPr>
              <a:t>Anggota Kelompok 6</a:t>
            </a:r>
          </a:p>
        </p:txBody>
      </p:sp>
      <p:sp>
        <p:nvSpPr>
          <p:cNvPr name="TextBox 19" id="19"/>
          <p:cNvSpPr txBox="true"/>
          <p:nvPr/>
        </p:nvSpPr>
        <p:spPr>
          <a:xfrm rot="0">
            <a:off x="7261376" y="6132765"/>
            <a:ext cx="3765248" cy="976630"/>
          </a:xfrm>
          <a:prstGeom prst="rect">
            <a:avLst/>
          </a:prstGeom>
        </p:spPr>
        <p:txBody>
          <a:bodyPr anchor="t" rtlCol="false" tIns="0" lIns="0" bIns="0" rIns="0">
            <a:spAutoFit/>
          </a:bodyPr>
          <a:lstStyle/>
          <a:p>
            <a:pPr algn="ctr">
              <a:lnSpc>
                <a:spcPts val="3920"/>
              </a:lnSpc>
            </a:pPr>
            <a:r>
              <a:rPr lang="en-US" sz="2800" b="true">
                <a:solidFill>
                  <a:srgbClr val="245095"/>
                </a:solidFill>
                <a:latin typeface="Open Sans Bold"/>
                <a:ea typeface="Open Sans Bold"/>
                <a:cs typeface="Open Sans Bold"/>
                <a:sym typeface="Open Sans Bold"/>
              </a:rPr>
              <a:t>Putri Sofiyatus Salwa</a:t>
            </a:r>
          </a:p>
          <a:p>
            <a:pPr algn="ctr">
              <a:lnSpc>
                <a:spcPts val="3920"/>
              </a:lnSpc>
            </a:pPr>
            <a:r>
              <a:rPr lang="en-US" sz="2800" b="true">
                <a:solidFill>
                  <a:srgbClr val="245095"/>
                </a:solidFill>
                <a:latin typeface="Open Sans Bold"/>
                <a:ea typeface="Open Sans Bold"/>
                <a:cs typeface="Open Sans Bold"/>
                <a:sym typeface="Open Sans Bold"/>
              </a:rPr>
              <a:t>24031554112</a:t>
            </a:r>
          </a:p>
        </p:txBody>
      </p:sp>
      <p:sp>
        <p:nvSpPr>
          <p:cNvPr name="TextBox 20" id="20"/>
          <p:cNvSpPr txBox="true"/>
          <p:nvPr/>
        </p:nvSpPr>
        <p:spPr>
          <a:xfrm rot="0">
            <a:off x="2372177" y="6132765"/>
            <a:ext cx="3765248" cy="976630"/>
          </a:xfrm>
          <a:prstGeom prst="rect">
            <a:avLst/>
          </a:prstGeom>
        </p:spPr>
        <p:txBody>
          <a:bodyPr anchor="t" rtlCol="false" tIns="0" lIns="0" bIns="0" rIns="0">
            <a:spAutoFit/>
          </a:bodyPr>
          <a:lstStyle/>
          <a:p>
            <a:pPr algn="ctr">
              <a:lnSpc>
                <a:spcPts val="3920"/>
              </a:lnSpc>
            </a:pPr>
            <a:r>
              <a:rPr lang="en-US" sz="2800" b="true">
                <a:solidFill>
                  <a:srgbClr val="245095"/>
                </a:solidFill>
                <a:latin typeface="Open Sans Bold"/>
                <a:ea typeface="Open Sans Bold"/>
                <a:cs typeface="Open Sans Bold"/>
                <a:sym typeface="Open Sans Bold"/>
              </a:rPr>
              <a:t>Nadine Putri Aulia</a:t>
            </a:r>
          </a:p>
          <a:p>
            <a:pPr algn="ctr">
              <a:lnSpc>
                <a:spcPts val="3920"/>
              </a:lnSpc>
            </a:pPr>
            <a:r>
              <a:rPr lang="en-US" sz="2800" b="true">
                <a:solidFill>
                  <a:srgbClr val="245095"/>
                </a:solidFill>
                <a:latin typeface="Open Sans Bold"/>
                <a:ea typeface="Open Sans Bold"/>
                <a:cs typeface="Open Sans Bold"/>
                <a:sym typeface="Open Sans Bold"/>
              </a:rPr>
              <a:t>24031554094</a:t>
            </a:r>
          </a:p>
        </p:txBody>
      </p:sp>
      <p:sp>
        <p:nvSpPr>
          <p:cNvPr name="TextBox 21" id="21"/>
          <p:cNvSpPr txBox="true"/>
          <p:nvPr/>
        </p:nvSpPr>
        <p:spPr>
          <a:xfrm rot="0">
            <a:off x="12150574" y="6132765"/>
            <a:ext cx="3765248" cy="976630"/>
          </a:xfrm>
          <a:prstGeom prst="rect">
            <a:avLst/>
          </a:prstGeom>
        </p:spPr>
        <p:txBody>
          <a:bodyPr anchor="t" rtlCol="false" tIns="0" lIns="0" bIns="0" rIns="0">
            <a:spAutoFit/>
          </a:bodyPr>
          <a:lstStyle/>
          <a:p>
            <a:pPr algn="ctr">
              <a:lnSpc>
                <a:spcPts val="3920"/>
              </a:lnSpc>
            </a:pPr>
            <a:r>
              <a:rPr lang="en-US" sz="2800" b="true">
                <a:solidFill>
                  <a:srgbClr val="245095"/>
                </a:solidFill>
                <a:latin typeface="Open Sans Bold"/>
                <a:ea typeface="Open Sans Bold"/>
                <a:cs typeface="Open Sans Bold"/>
                <a:sym typeface="Open Sans Bold"/>
              </a:rPr>
              <a:t>Arya Abdi Wicaksana</a:t>
            </a:r>
          </a:p>
          <a:p>
            <a:pPr algn="ctr">
              <a:lnSpc>
                <a:spcPts val="3920"/>
              </a:lnSpc>
            </a:pPr>
            <a:r>
              <a:rPr lang="en-US" sz="2800" b="true">
                <a:solidFill>
                  <a:srgbClr val="245095"/>
                </a:solidFill>
                <a:latin typeface="Open Sans Bold"/>
                <a:ea typeface="Open Sans Bold"/>
                <a:cs typeface="Open Sans Bold"/>
                <a:sym typeface="Open Sans Bold"/>
              </a:rPr>
              <a:t>24031554224</a:t>
            </a:r>
          </a:p>
        </p:txBody>
      </p:sp>
      <p:grpSp>
        <p:nvGrpSpPr>
          <p:cNvPr name="Group 22" id="22"/>
          <p:cNvGrpSpPr/>
          <p:nvPr/>
        </p:nvGrpSpPr>
        <p:grpSpPr>
          <a:xfrm rot="0">
            <a:off x="14181596" y="8160499"/>
            <a:ext cx="2655989" cy="738886"/>
            <a:chOff x="0" y="0"/>
            <a:chExt cx="699520" cy="194604"/>
          </a:xfrm>
        </p:grpSpPr>
        <p:sp>
          <p:nvSpPr>
            <p:cNvPr name="Freeform 23" id="23"/>
            <p:cNvSpPr/>
            <p:nvPr/>
          </p:nvSpPr>
          <p:spPr>
            <a:xfrm flipH="false" flipV="false" rot="0">
              <a:off x="0" y="0"/>
              <a:ext cx="699520" cy="194604"/>
            </a:xfrm>
            <a:custGeom>
              <a:avLst/>
              <a:gdLst/>
              <a:ahLst/>
              <a:cxnLst/>
              <a:rect r="r" b="b" t="t" l="l"/>
              <a:pathLst>
                <a:path h="194604" w="699520">
                  <a:moveTo>
                    <a:pt x="97302" y="0"/>
                  </a:moveTo>
                  <a:lnTo>
                    <a:pt x="602218" y="0"/>
                  </a:lnTo>
                  <a:cubicBezTo>
                    <a:pt x="655956" y="0"/>
                    <a:pt x="699520" y="43564"/>
                    <a:pt x="699520" y="97302"/>
                  </a:cubicBezTo>
                  <a:lnTo>
                    <a:pt x="699520" y="97302"/>
                  </a:lnTo>
                  <a:cubicBezTo>
                    <a:pt x="699520" y="123108"/>
                    <a:pt x="689268" y="147857"/>
                    <a:pt x="671021" y="166105"/>
                  </a:cubicBezTo>
                  <a:cubicBezTo>
                    <a:pt x="652773" y="184352"/>
                    <a:pt x="628024" y="194604"/>
                    <a:pt x="602218" y="194604"/>
                  </a:cubicBezTo>
                  <a:lnTo>
                    <a:pt x="97302" y="194604"/>
                  </a:lnTo>
                  <a:cubicBezTo>
                    <a:pt x="71496" y="194604"/>
                    <a:pt x="46747" y="184352"/>
                    <a:pt x="28499" y="166105"/>
                  </a:cubicBezTo>
                  <a:cubicBezTo>
                    <a:pt x="10251" y="147857"/>
                    <a:pt x="0" y="123108"/>
                    <a:pt x="0" y="97302"/>
                  </a:cubicBezTo>
                  <a:lnTo>
                    <a:pt x="0" y="97302"/>
                  </a:lnTo>
                  <a:cubicBezTo>
                    <a:pt x="0" y="71496"/>
                    <a:pt x="10251" y="46747"/>
                    <a:pt x="28499" y="28499"/>
                  </a:cubicBezTo>
                  <a:cubicBezTo>
                    <a:pt x="46747" y="10251"/>
                    <a:pt x="71496" y="0"/>
                    <a:pt x="97302" y="0"/>
                  </a:cubicBezTo>
                  <a:close/>
                </a:path>
              </a:pathLst>
            </a:custGeom>
            <a:solidFill>
              <a:srgbClr val="245095"/>
            </a:solidFill>
          </p:spPr>
        </p:sp>
        <p:sp>
          <p:nvSpPr>
            <p:cNvPr name="TextBox 24" id="24"/>
            <p:cNvSpPr txBox="true"/>
            <p:nvPr/>
          </p:nvSpPr>
          <p:spPr>
            <a:xfrm>
              <a:off x="0" y="-57150"/>
              <a:ext cx="699520" cy="251754"/>
            </a:xfrm>
            <a:prstGeom prst="rect">
              <a:avLst/>
            </a:prstGeom>
          </p:spPr>
          <p:txBody>
            <a:bodyPr anchor="ctr" rtlCol="false" tIns="50800" lIns="50800" bIns="50800" rIns="50800"/>
            <a:lstStyle/>
            <a:p>
              <a:pPr algn="ctr">
                <a:lnSpc>
                  <a:spcPts val="3643"/>
                </a:lnSpc>
              </a:pPr>
            </a:p>
          </p:txBody>
        </p:sp>
      </p:grpSp>
      <p:sp>
        <p:nvSpPr>
          <p:cNvPr name="TextBox 25" id="25"/>
          <p:cNvSpPr txBox="true"/>
          <p:nvPr/>
        </p:nvSpPr>
        <p:spPr>
          <a:xfrm rot="0">
            <a:off x="14630169" y="8260702"/>
            <a:ext cx="1746641" cy="481330"/>
          </a:xfrm>
          <a:prstGeom prst="rect">
            <a:avLst/>
          </a:prstGeom>
        </p:spPr>
        <p:txBody>
          <a:bodyPr anchor="t" rtlCol="false" tIns="0" lIns="0" bIns="0" rIns="0">
            <a:spAutoFit/>
          </a:bodyPr>
          <a:lstStyle/>
          <a:p>
            <a:pPr algn="ctr">
              <a:lnSpc>
                <a:spcPts val="3920"/>
              </a:lnSpc>
            </a:pPr>
            <a:r>
              <a:rPr lang="en-US" sz="2800" b="true">
                <a:solidFill>
                  <a:srgbClr val="FFFFFF"/>
                </a:solidFill>
                <a:latin typeface="Open Sans Bold"/>
                <a:ea typeface="Open Sans Bold"/>
                <a:cs typeface="Open Sans Bold"/>
                <a:sym typeface="Open Sans Bold"/>
              </a:rPr>
              <a:t>2024 C</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450619" y="0"/>
            <a:ext cx="23189238" cy="3036365"/>
          </a:xfrm>
          <a:custGeom>
            <a:avLst/>
            <a:gdLst/>
            <a:ahLst/>
            <a:cxnLst/>
            <a:rect r="r" b="b" t="t" l="l"/>
            <a:pathLst>
              <a:path h="3036365" w="23189238">
                <a:moveTo>
                  <a:pt x="0" y="0"/>
                </a:moveTo>
                <a:lnTo>
                  <a:pt x="23189238" y="0"/>
                </a:lnTo>
                <a:lnTo>
                  <a:pt x="23189238" y="3036365"/>
                </a:lnTo>
                <a:lnTo>
                  <a:pt x="0" y="3036365"/>
                </a:lnTo>
                <a:lnTo>
                  <a:pt x="0" y="0"/>
                </a:lnTo>
                <a:close/>
              </a:path>
            </a:pathLst>
          </a:custGeom>
          <a:blipFill>
            <a:blip r:embed="rId2">
              <a:extLst>
                <a:ext uri="{96DAC541-7B7A-43D3-8B79-37D633B846F1}">
                  <asvg:svgBlip xmlns:asvg="http://schemas.microsoft.com/office/drawing/2016/SVG/main" r:embed="rId3"/>
                </a:ext>
              </a:extLst>
            </a:blip>
            <a:stretch>
              <a:fillRect l="-13953" t="0" r="-31533" b="0"/>
            </a:stretch>
          </a:blipFill>
        </p:spPr>
      </p:sp>
      <p:sp>
        <p:nvSpPr>
          <p:cNvPr name="Freeform 3" id="3"/>
          <p:cNvSpPr/>
          <p:nvPr/>
        </p:nvSpPr>
        <p:spPr>
          <a:xfrm flipH="false" flipV="false" rot="-10800000">
            <a:off x="15253722" y="7494628"/>
            <a:ext cx="3527345" cy="3527345"/>
          </a:xfrm>
          <a:custGeom>
            <a:avLst/>
            <a:gdLst/>
            <a:ahLst/>
            <a:cxnLst/>
            <a:rect r="r" b="b" t="t" l="l"/>
            <a:pathLst>
              <a:path h="3527345" w="3527345">
                <a:moveTo>
                  <a:pt x="0" y="0"/>
                </a:moveTo>
                <a:lnTo>
                  <a:pt x="3527345" y="0"/>
                </a:lnTo>
                <a:lnTo>
                  <a:pt x="3527345" y="3527344"/>
                </a:lnTo>
                <a:lnTo>
                  <a:pt x="0" y="3527344"/>
                </a:lnTo>
                <a:lnTo>
                  <a:pt x="0" y="0"/>
                </a:lnTo>
                <a:close/>
              </a:path>
            </a:pathLst>
          </a:custGeom>
          <a:blipFill>
            <a:blip r:embed="rId4">
              <a:extLst>
                <a:ext uri="{96DAC541-7B7A-43D3-8B79-37D633B846F1}">
                  <asvg:svgBlip xmlns:asvg="http://schemas.microsoft.com/office/drawing/2016/SVG/main" r:embed="rId5"/>
                </a:ext>
              </a:extLst>
            </a:blip>
            <a:stretch>
              <a:fillRect l="-94817" t="-111018" r="-12744" b="-43268"/>
            </a:stretch>
          </a:blipFill>
        </p:spPr>
      </p:sp>
      <p:sp>
        <p:nvSpPr>
          <p:cNvPr name="Freeform 4" id="4"/>
          <p:cNvSpPr/>
          <p:nvPr/>
        </p:nvSpPr>
        <p:spPr>
          <a:xfrm flipH="false" flipV="false" rot="0">
            <a:off x="0" y="7612438"/>
            <a:ext cx="2183111" cy="2674562"/>
          </a:xfrm>
          <a:custGeom>
            <a:avLst/>
            <a:gdLst/>
            <a:ahLst/>
            <a:cxnLst/>
            <a:rect r="r" b="b" t="t" l="l"/>
            <a:pathLst>
              <a:path h="2674562" w="2183111">
                <a:moveTo>
                  <a:pt x="0" y="0"/>
                </a:moveTo>
                <a:lnTo>
                  <a:pt x="2183111" y="0"/>
                </a:lnTo>
                <a:lnTo>
                  <a:pt x="2183111" y="2674562"/>
                </a:lnTo>
                <a:lnTo>
                  <a:pt x="0" y="267456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10800000">
            <a:off x="16230600" y="82296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6">
              <a:alphaModFix amt="44999"/>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5613438" y="0"/>
            <a:ext cx="2674562" cy="2674562"/>
          </a:xfrm>
          <a:custGeom>
            <a:avLst/>
            <a:gdLst/>
            <a:ahLst/>
            <a:cxnLst/>
            <a:rect r="r" b="b" t="t" l="l"/>
            <a:pathLst>
              <a:path h="2674562" w="2674562">
                <a:moveTo>
                  <a:pt x="0" y="0"/>
                </a:moveTo>
                <a:lnTo>
                  <a:pt x="2674562" y="0"/>
                </a:lnTo>
                <a:lnTo>
                  <a:pt x="2674562" y="2674562"/>
                </a:lnTo>
                <a:lnTo>
                  <a:pt x="0" y="267456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7" id="7"/>
          <p:cNvSpPr txBox="true"/>
          <p:nvPr/>
        </p:nvSpPr>
        <p:spPr>
          <a:xfrm rot="0">
            <a:off x="2162994" y="3686783"/>
            <a:ext cx="13962011" cy="3807844"/>
          </a:xfrm>
          <a:prstGeom prst="rect">
            <a:avLst/>
          </a:prstGeom>
        </p:spPr>
        <p:txBody>
          <a:bodyPr anchor="t" rtlCol="false" tIns="0" lIns="0" bIns="0" rIns="0">
            <a:spAutoFit/>
          </a:bodyPr>
          <a:lstStyle/>
          <a:p>
            <a:pPr algn="l">
              <a:lnSpc>
                <a:spcPts val="3038"/>
              </a:lnSpc>
            </a:pPr>
            <a:r>
              <a:rPr lang="en-US" sz="2170">
                <a:solidFill>
                  <a:srgbClr val="000000"/>
                </a:solidFill>
                <a:latin typeface="Open Sans Hebrew"/>
                <a:ea typeface="Open Sans Hebrew"/>
                <a:cs typeface="Open Sans Hebrew"/>
                <a:sym typeface="Open Sans Hebrew"/>
              </a:rPr>
              <a:t>Perkembangan pesat aplikasi e-commerce menyebabkan meningkatnya jumlah ulasan pengguna di Google Play Store, termasuk pada aplikasi Shopee. Ulasan tersebut berisi opini, pengalaman, serta keluhan pengguna yang bersifat tidak terstruktur sehingga sulit dianalisis secara manual. Oleh karena itu, diperlukan analisis sentimen untuk mengelompokkan ulasan ke dalam sentimen positif, netral, dan negatif guna mengetahui persepsi pengguna secara lebih sistematis. Algoritma Naive Bayes digunakan karena efektif dalam klasifikasi teks, namun permasalahan ketidakseimbangan data sering muncul karena sentimen positif cenderung mendominasi. Untuk mengatasi hal tersebut, diterapkan metode SMOTE. Selain itu, untuk mengetahui aspek atau topik utama yang dibahas pengguna, digunakan metode topic modeling dengan Latent Dirichlet Allocation (LDA). Kombinasi metode tersebut diharapkan mampu memberikan gambaran yang komprehensif mengenai persepsi pengguna terhadap aplikasi Shopee.</a:t>
            </a:r>
          </a:p>
        </p:txBody>
      </p:sp>
      <p:sp>
        <p:nvSpPr>
          <p:cNvPr name="TextBox 8" id="8"/>
          <p:cNvSpPr txBox="true"/>
          <p:nvPr/>
        </p:nvSpPr>
        <p:spPr>
          <a:xfrm rot="0">
            <a:off x="1091555" y="242511"/>
            <a:ext cx="5223154" cy="2432050"/>
          </a:xfrm>
          <a:prstGeom prst="rect">
            <a:avLst/>
          </a:prstGeom>
        </p:spPr>
        <p:txBody>
          <a:bodyPr anchor="t" rtlCol="false" tIns="0" lIns="0" bIns="0" rIns="0">
            <a:spAutoFit/>
          </a:bodyPr>
          <a:lstStyle/>
          <a:p>
            <a:pPr algn="l">
              <a:lnSpc>
                <a:spcPts val="9799"/>
              </a:lnSpc>
            </a:pPr>
            <a:r>
              <a:rPr lang="en-US" sz="6999" b="true">
                <a:solidFill>
                  <a:srgbClr val="FFFFFF"/>
                </a:solidFill>
                <a:latin typeface="Open Sans Bold"/>
                <a:ea typeface="Open Sans Bold"/>
                <a:cs typeface="Open Sans Bold"/>
                <a:sym typeface="Open Sans Bold"/>
              </a:rPr>
              <a:t>Latar Belakang</a:t>
            </a:r>
          </a:p>
        </p:txBody>
      </p:sp>
      <p:sp>
        <p:nvSpPr>
          <p:cNvPr name="AutoShape 9" id="9"/>
          <p:cNvSpPr/>
          <p:nvPr/>
        </p:nvSpPr>
        <p:spPr>
          <a:xfrm>
            <a:off x="4764804" y="9526716"/>
            <a:ext cx="2705661" cy="0"/>
          </a:xfrm>
          <a:prstGeom prst="line">
            <a:avLst/>
          </a:prstGeom>
          <a:ln cap="flat" w="38100">
            <a:solidFill>
              <a:srgbClr val="000000"/>
            </a:solidFill>
            <a:prstDash val="solid"/>
            <a:headEnd type="none" len="sm" w="sm"/>
            <a:tailEnd type="none" len="sm" w="sm"/>
          </a:ln>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901280" y="1999748"/>
            <a:ext cx="5189680" cy="1286199"/>
            <a:chOff x="0" y="0"/>
            <a:chExt cx="1366829" cy="338752"/>
          </a:xfrm>
        </p:grpSpPr>
        <p:sp>
          <p:nvSpPr>
            <p:cNvPr name="Freeform 3" id="3"/>
            <p:cNvSpPr/>
            <p:nvPr/>
          </p:nvSpPr>
          <p:spPr>
            <a:xfrm flipH="false" flipV="false" rot="0">
              <a:off x="0" y="0"/>
              <a:ext cx="1366829" cy="338752"/>
            </a:xfrm>
            <a:custGeom>
              <a:avLst/>
              <a:gdLst/>
              <a:ahLst/>
              <a:cxnLst/>
              <a:rect r="r" b="b" t="t" l="l"/>
              <a:pathLst>
                <a:path h="338752" w="1366829">
                  <a:moveTo>
                    <a:pt x="76081" y="0"/>
                  </a:moveTo>
                  <a:lnTo>
                    <a:pt x="1290748" y="0"/>
                  </a:lnTo>
                  <a:cubicBezTo>
                    <a:pt x="1310926" y="0"/>
                    <a:pt x="1330278" y="8016"/>
                    <a:pt x="1344546" y="22284"/>
                  </a:cubicBezTo>
                  <a:cubicBezTo>
                    <a:pt x="1358814" y="36552"/>
                    <a:pt x="1366829" y="55903"/>
                    <a:pt x="1366829" y="76081"/>
                  </a:cubicBezTo>
                  <a:lnTo>
                    <a:pt x="1366829" y="262671"/>
                  </a:lnTo>
                  <a:cubicBezTo>
                    <a:pt x="1366829" y="282849"/>
                    <a:pt x="1358814" y="302200"/>
                    <a:pt x="1344546" y="316468"/>
                  </a:cubicBezTo>
                  <a:cubicBezTo>
                    <a:pt x="1330278" y="330736"/>
                    <a:pt x="1310926" y="338752"/>
                    <a:pt x="1290748" y="338752"/>
                  </a:cubicBezTo>
                  <a:lnTo>
                    <a:pt x="76081" y="338752"/>
                  </a:lnTo>
                  <a:cubicBezTo>
                    <a:pt x="55903" y="338752"/>
                    <a:pt x="36552" y="330736"/>
                    <a:pt x="22284" y="316468"/>
                  </a:cubicBezTo>
                  <a:cubicBezTo>
                    <a:pt x="8016" y="302200"/>
                    <a:pt x="0" y="282849"/>
                    <a:pt x="0" y="262671"/>
                  </a:cubicBezTo>
                  <a:lnTo>
                    <a:pt x="0" y="76081"/>
                  </a:lnTo>
                  <a:cubicBezTo>
                    <a:pt x="0" y="55903"/>
                    <a:pt x="8016" y="36552"/>
                    <a:pt x="22284" y="22284"/>
                  </a:cubicBezTo>
                  <a:cubicBezTo>
                    <a:pt x="36552" y="8016"/>
                    <a:pt x="55903" y="0"/>
                    <a:pt x="76081" y="0"/>
                  </a:cubicBezTo>
                  <a:close/>
                </a:path>
              </a:pathLst>
            </a:custGeom>
            <a:solidFill>
              <a:srgbClr val="245095"/>
            </a:solidFill>
          </p:spPr>
        </p:sp>
        <p:sp>
          <p:nvSpPr>
            <p:cNvPr name="TextBox 4" id="4"/>
            <p:cNvSpPr txBox="true"/>
            <p:nvPr/>
          </p:nvSpPr>
          <p:spPr>
            <a:xfrm>
              <a:off x="0" y="-57150"/>
              <a:ext cx="1366829" cy="395902"/>
            </a:xfrm>
            <a:prstGeom prst="rect">
              <a:avLst/>
            </a:prstGeom>
          </p:spPr>
          <p:txBody>
            <a:bodyPr anchor="ctr" rtlCol="false" tIns="50800" lIns="50800" bIns="50800" rIns="50800"/>
            <a:lstStyle/>
            <a:p>
              <a:pPr algn="ctr">
                <a:lnSpc>
                  <a:spcPts val="3643"/>
                </a:lnSpc>
              </a:pPr>
            </a:p>
          </p:txBody>
        </p:sp>
      </p:grpSp>
      <p:sp>
        <p:nvSpPr>
          <p:cNvPr name="TextBox 5" id="5"/>
          <p:cNvSpPr txBox="true"/>
          <p:nvPr/>
        </p:nvSpPr>
        <p:spPr>
          <a:xfrm rot="0">
            <a:off x="1505964" y="2373608"/>
            <a:ext cx="5980311" cy="481330"/>
          </a:xfrm>
          <a:prstGeom prst="rect">
            <a:avLst/>
          </a:prstGeom>
        </p:spPr>
        <p:txBody>
          <a:bodyPr anchor="t" rtlCol="false" tIns="0" lIns="0" bIns="0" rIns="0">
            <a:spAutoFit/>
          </a:bodyPr>
          <a:lstStyle/>
          <a:p>
            <a:pPr algn="ctr">
              <a:lnSpc>
                <a:spcPts val="3920"/>
              </a:lnSpc>
            </a:pPr>
            <a:r>
              <a:rPr lang="en-US" sz="2800" b="true">
                <a:solidFill>
                  <a:srgbClr val="FFFFFF"/>
                </a:solidFill>
                <a:latin typeface="Open Sans Bold"/>
                <a:ea typeface="Open Sans Bold"/>
                <a:cs typeface="Open Sans Bold"/>
                <a:sym typeface="Open Sans Bold"/>
              </a:rPr>
              <a:t>Rumusan Masalah</a:t>
            </a:r>
          </a:p>
        </p:txBody>
      </p:sp>
      <p:grpSp>
        <p:nvGrpSpPr>
          <p:cNvPr name="Group 6" id="6"/>
          <p:cNvGrpSpPr/>
          <p:nvPr/>
        </p:nvGrpSpPr>
        <p:grpSpPr>
          <a:xfrm rot="0">
            <a:off x="10292912" y="2038856"/>
            <a:ext cx="5189680" cy="1286199"/>
            <a:chOff x="0" y="0"/>
            <a:chExt cx="1366829" cy="338752"/>
          </a:xfrm>
        </p:grpSpPr>
        <p:sp>
          <p:nvSpPr>
            <p:cNvPr name="Freeform 7" id="7"/>
            <p:cNvSpPr/>
            <p:nvPr/>
          </p:nvSpPr>
          <p:spPr>
            <a:xfrm flipH="false" flipV="false" rot="0">
              <a:off x="0" y="0"/>
              <a:ext cx="1366829" cy="338752"/>
            </a:xfrm>
            <a:custGeom>
              <a:avLst/>
              <a:gdLst/>
              <a:ahLst/>
              <a:cxnLst/>
              <a:rect r="r" b="b" t="t" l="l"/>
              <a:pathLst>
                <a:path h="338752" w="1366829">
                  <a:moveTo>
                    <a:pt x="76081" y="0"/>
                  </a:moveTo>
                  <a:lnTo>
                    <a:pt x="1290748" y="0"/>
                  </a:lnTo>
                  <a:cubicBezTo>
                    <a:pt x="1310926" y="0"/>
                    <a:pt x="1330278" y="8016"/>
                    <a:pt x="1344546" y="22284"/>
                  </a:cubicBezTo>
                  <a:cubicBezTo>
                    <a:pt x="1358814" y="36552"/>
                    <a:pt x="1366829" y="55903"/>
                    <a:pt x="1366829" y="76081"/>
                  </a:cubicBezTo>
                  <a:lnTo>
                    <a:pt x="1366829" y="262671"/>
                  </a:lnTo>
                  <a:cubicBezTo>
                    <a:pt x="1366829" y="282849"/>
                    <a:pt x="1358814" y="302200"/>
                    <a:pt x="1344546" y="316468"/>
                  </a:cubicBezTo>
                  <a:cubicBezTo>
                    <a:pt x="1330278" y="330736"/>
                    <a:pt x="1310926" y="338752"/>
                    <a:pt x="1290748" y="338752"/>
                  </a:cubicBezTo>
                  <a:lnTo>
                    <a:pt x="76081" y="338752"/>
                  </a:lnTo>
                  <a:cubicBezTo>
                    <a:pt x="55903" y="338752"/>
                    <a:pt x="36552" y="330736"/>
                    <a:pt x="22284" y="316468"/>
                  </a:cubicBezTo>
                  <a:cubicBezTo>
                    <a:pt x="8016" y="302200"/>
                    <a:pt x="0" y="282849"/>
                    <a:pt x="0" y="262671"/>
                  </a:cubicBezTo>
                  <a:lnTo>
                    <a:pt x="0" y="76081"/>
                  </a:lnTo>
                  <a:cubicBezTo>
                    <a:pt x="0" y="55903"/>
                    <a:pt x="8016" y="36552"/>
                    <a:pt x="22284" y="22284"/>
                  </a:cubicBezTo>
                  <a:cubicBezTo>
                    <a:pt x="36552" y="8016"/>
                    <a:pt x="55903" y="0"/>
                    <a:pt x="76081" y="0"/>
                  </a:cubicBezTo>
                  <a:close/>
                </a:path>
              </a:pathLst>
            </a:custGeom>
            <a:solidFill>
              <a:srgbClr val="245095"/>
            </a:solidFill>
          </p:spPr>
        </p:sp>
        <p:sp>
          <p:nvSpPr>
            <p:cNvPr name="TextBox 8" id="8"/>
            <p:cNvSpPr txBox="true"/>
            <p:nvPr/>
          </p:nvSpPr>
          <p:spPr>
            <a:xfrm>
              <a:off x="0" y="-57150"/>
              <a:ext cx="1366829" cy="395902"/>
            </a:xfrm>
            <a:prstGeom prst="rect">
              <a:avLst/>
            </a:prstGeom>
          </p:spPr>
          <p:txBody>
            <a:bodyPr anchor="ctr" rtlCol="false" tIns="50800" lIns="50800" bIns="50800" rIns="50800"/>
            <a:lstStyle/>
            <a:p>
              <a:pPr algn="ctr">
                <a:lnSpc>
                  <a:spcPts val="3643"/>
                </a:lnSpc>
              </a:pPr>
            </a:p>
          </p:txBody>
        </p:sp>
      </p:grpSp>
      <p:grpSp>
        <p:nvGrpSpPr>
          <p:cNvPr name="Group 9" id="9"/>
          <p:cNvGrpSpPr/>
          <p:nvPr/>
        </p:nvGrpSpPr>
        <p:grpSpPr>
          <a:xfrm rot="0">
            <a:off x="9897597" y="1557475"/>
            <a:ext cx="1124480" cy="1124480"/>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DC8"/>
            </a:solidFill>
          </p:spPr>
        </p:sp>
        <p:sp>
          <p:nvSpPr>
            <p:cNvPr name="TextBox 11" id="11"/>
            <p:cNvSpPr txBox="true"/>
            <p:nvPr/>
          </p:nvSpPr>
          <p:spPr>
            <a:xfrm>
              <a:off x="76200" y="19050"/>
              <a:ext cx="660400" cy="717550"/>
            </a:xfrm>
            <a:prstGeom prst="rect">
              <a:avLst/>
            </a:prstGeom>
          </p:spPr>
          <p:txBody>
            <a:bodyPr anchor="ctr" rtlCol="false" tIns="50800" lIns="50800" bIns="50800" rIns="50800"/>
            <a:lstStyle/>
            <a:p>
              <a:pPr algn="ctr">
                <a:lnSpc>
                  <a:spcPts val="3643"/>
                </a:lnSpc>
              </a:pPr>
            </a:p>
          </p:txBody>
        </p:sp>
      </p:grpSp>
      <p:grpSp>
        <p:nvGrpSpPr>
          <p:cNvPr name="Group 12" id="12"/>
          <p:cNvGrpSpPr/>
          <p:nvPr/>
        </p:nvGrpSpPr>
        <p:grpSpPr>
          <a:xfrm rot="0">
            <a:off x="1505964" y="1518368"/>
            <a:ext cx="1124480" cy="1124480"/>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DC8"/>
            </a:solidFill>
          </p:spPr>
        </p:sp>
        <p:sp>
          <p:nvSpPr>
            <p:cNvPr name="TextBox 14" id="14"/>
            <p:cNvSpPr txBox="true"/>
            <p:nvPr/>
          </p:nvSpPr>
          <p:spPr>
            <a:xfrm>
              <a:off x="76200" y="19050"/>
              <a:ext cx="660400" cy="717550"/>
            </a:xfrm>
            <a:prstGeom prst="rect">
              <a:avLst/>
            </a:prstGeom>
          </p:spPr>
          <p:txBody>
            <a:bodyPr anchor="ctr" rtlCol="false" tIns="50800" lIns="50800" bIns="50800" rIns="50800"/>
            <a:lstStyle/>
            <a:p>
              <a:pPr algn="ctr">
                <a:lnSpc>
                  <a:spcPts val="3643"/>
                </a:lnSpc>
              </a:pPr>
            </a:p>
          </p:txBody>
        </p:sp>
      </p:grpSp>
      <p:sp>
        <p:nvSpPr>
          <p:cNvPr name="Freeform 15" id="15"/>
          <p:cNvSpPr/>
          <p:nvPr/>
        </p:nvSpPr>
        <p:spPr>
          <a:xfrm flipH="false" flipV="false" rot="0">
            <a:off x="10177394" y="1837273"/>
            <a:ext cx="564885" cy="564885"/>
          </a:xfrm>
          <a:custGeom>
            <a:avLst/>
            <a:gdLst/>
            <a:ahLst/>
            <a:cxnLst/>
            <a:rect r="r" b="b" t="t" l="l"/>
            <a:pathLst>
              <a:path h="564885" w="564885">
                <a:moveTo>
                  <a:pt x="0" y="0"/>
                </a:moveTo>
                <a:lnTo>
                  <a:pt x="564885" y="0"/>
                </a:lnTo>
                <a:lnTo>
                  <a:pt x="564885" y="564884"/>
                </a:lnTo>
                <a:lnTo>
                  <a:pt x="0" y="5648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0">
            <a:off x="1785762" y="1798166"/>
            <a:ext cx="564885" cy="564885"/>
          </a:xfrm>
          <a:custGeom>
            <a:avLst/>
            <a:gdLst/>
            <a:ahLst/>
            <a:cxnLst/>
            <a:rect r="r" b="b" t="t" l="l"/>
            <a:pathLst>
              <a:path h="564885" w="564885">
                <a:moveTo>
                  <a:pt x="0" y="0"/>
                </a:moveTo>
                <a:lnTo>
                  <a:pt x="564885" y="0"/>
                </a:lnTo>
                <a:lnTo>
                  <a:pt x="564885" y="564884"/>
                </a:lnTo>
                <a:lnTo>
                  <a:pt x="0" y="56488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7" id="17"/>
          <p:cNvSpPr/>
          <p:nvPr/>
        </p:nvSpPr>
        <p:spPr>
          <a:xfrm flipH="false" flipV="true" rot="0">
            <a:off x="0" y="8160499"/>
            <a:ext cx="1988278" cy="2126501"/>
          </a:xfrm>
          <a:custGeom>
            <a:avLst/>
            <a:gdLst/>
            <a:ahLst/>
            <a:cxnLst/>
            <a:rect r="r" b="b" t="t" l="l"/>
            <a:pathLst>
              <a:path h="2126501" w="1988278">
                <a:moveTo>
                  <a:pt x="0" y="2126501"/>
                </a:moveTo>
                <a:lnTo>
                  <a:pt x="1988278" y="2126501"/>
                </a:lnTo>
                <a:lnTo>
                  <a:pt x="1988278" y="0"/>
                </a:lnTo>
                <a:lnTo>
                  <a:pt x="0" y="0"/>
                </a:lnTo>
                <a:lnTo>
                  <a:pt x="0" y="2126501"/>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8" id="18"/>
          <p:cNvSpPr/>
          <p:nvPr/>
        </p:nvSpPr>
        <p:spPr>
          <a:xfrm flipH="false" flipV="false" rot="0">
            <a:off x="16310134" y="39010"/>
            <a:ext cx="1974988" cy="2126501"/>
          </a:xfrm>
          <a:custGeom>
            <a:avLst/>
            <a:gdLst/>
            <a:ahLst/>
            <a:cxnLst/>
            <a:rect r="r" b="b" t="t" l="l"/>
            <a:pathLst>
              <a:path h="2126501" w="1974988">
                <a:moveTo>
                  <a:pt x="0" y="0"/>
                </a:moveTo>
                <a:lnTo>
                  <a:pt x="1974988" y="0"/>
                </a:lnTo>
                <a:lnTo>
                  <a:pt x="1974988" y="2126501"/>
                </a:lnTo>
                <a:lnTo>
                  <a:pt x="0" y="212650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9" id="19"/>
          <p:cNvSpPr/>
          <p:nvPr/>
        </p:nvSpPr>
        <p:spPr>
          <a:xfrm flipH="false" flipV="false" rot="5067791">
            <a:off x="-503391" y="-429831"/>
            <a:ext cx="1464840" cy="1464840"/>
          </a:xfrm>
          <a:custGeom>
            <a:avLst/>
            <a:gdLst/>
            <a:ahLst/>
            <a:cxnLst/>
            <a:rect r="r" b="b" t="t" l="l"/>
            <a:pathLst>
              <a:path h="1464840" w="1464840">
                <a:moveTo>
                  <a:pt x="0" y="0"/>
                </a:moveTo>
                <a:lnTo>
                  <a:pt x="1464841" y="0"/>
                </a:lnTo>
                <a:lnTo>
                  <a:pt x="1464841" y="1464841"/>
                </a:lnTo>
                <a:lnTo>
                  <a:pt x="0" y="1464841"/>
                </a:lnTo>
                <a:lnTo>
                  <a:pt x="0" y="0"/>
                </a:lnTo>
                <a:close/>
              </a:path>
            </a:pathLst>
          </a:custGeom>
          <a:blipFill>
            <a:blip r:embed="rId10">
              <a:alphaModFix amt="19999"/>
              <a:extLst>
                <a:ext uri="{96DAC541-7B7A-43D3-8B79-37D633B846F1}">
                  <asvg:svgBlip xmlns:asvg="http://schemas.microsoft.com/office/drawing/2016/SVG/main" r:embed="rId11"/>
                </a:ext>
              </a:extLst>
            </a:blip>
            <a:stretch>
              <a:fillRect l="0" t="0" r="0" b="0"/>
            </a:stretch>
          </a:blipFill>
        </p:spPr>
      </p:sp>
      <p:sp>
        <p:nvSpPr>
          <p:cNvPr name="Freeform 20" id="20"/>
          <p:cNvSpPr/>
          <p:nvPr/>
        </p:nvSpPr>
        <p:spPr>
          <a:xfrm flipH="false" flipV="false" rot="0">
            <a:off x="16456322" y="9223750"/>
            <a:ext cx="3657600" cy="1911096"/>
          </a:xfrm>
          <a:custGeom>
            <a:avLst/>
            <a:gdLst/>
            <a:ahLst/>
            <a:cxnLst/>
            <a:rect r="r" b="b" t="t" l="l"/>
            <a:pathLst>
              <a:path h="1911096" w="3657600">
                <a:moveTo>
                  <a:pt x="0" y="0"/>
                </a:moveTo>
                <a:lnTo>
                  <a:pt x="3657600" y="0"/>
                </a:lnTo>
                <a:lnTo>
                  <a:pt x="3657600" y="1911096"/>
                </a:lnTo>
                <a:lnTo>
                  <a:pt x="0" y="191109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21" id="21"/>
          <p:cNvSpPr txBox="true"/>
          <p:nvPr/>
        </p:nvSpPr>
        <p:spPr>
          <a:xfrm rot="0">
            <a:off x="9897597" y="2384115"/>
            <a:ext cx="5980311" cy="481330"/>
          </a:xfrm>
          <a:prstGeom prst="rect">
            <a:avLst/>
          </a:prstGeom>
        </p:spPr>
        <p:txBody>
          <a:bodyPr anchor="t" rtlCol="false" tIns="0" lIns="0" bIns="0" rIns="0">
            <a:spAutoFit/>
          </a:bodyPr>
          <a:lstStyle/>
          <a:p>
            <a:pPr algn="ctr">
              <a:lnSpc>
                <a:spcPts val="3920"/>
              </a:lnSpc>
            </a:pPr>
            <a:r>
              <a:rPr lang="en-US" sz="2800" b="true">
                <a:solidFill>
                  <a:srgbClr val="FFFFFF"/>
                </a:solidFill>
                <a:latin typeface="Open Sans Bold"/>
                <a:ea typeface="Open Sans Bold"/>
                <a:cs typeface="Open Sans Bold"/>
                <a:sym typeface="Open Sans Bold"/>
              </a:rPr>
              <a:t>Tujuan</a:t>
            </a:r>
          </a:p>
        </p:txBody>
      </p:sp>
      <p:sp>
        <p:nvSpPr>
          <p:cNvPr name="TextBox 22" id="22"/>
          <p:cNvSpPr txBox="true"/>
          <p:nvPr/>
        </p:nvSpPr>
        <p:spPr>
          <a:xfrm rot="0">
            <a:off x="1505964" y="3625556"/>
            <a:ext cx="5980311" cy="4225925"/>
          </a:xfrm>
          <a:prstGeom prst="rect">
            <a:avLst/>
          </a:prstGeom>
        </p:spPr>
        <p:txBody>
          <a:bodyPr anchor="t" rtlCol="false" tIns="0" lIns="0" bIns="0" rIns="0">
            <a:spAutoFit/>
          </a:bodyPr>
          <a:lstStyle/>
          <a:p>
            <a:pPr algn="just" marL="431802" indent="-215901" lvl="1">
              <a:lnSpc>
                <a:spcPts val="2800"/>
              </a:lnSpc>
              <a:buAutoNum type="arabicPeriod" startAt="1"/>
            </a:pPr>
            <a:r>
              <a:rPr lang="en-US" sz="2000">
                <a:solidFill>
                  <a:srgbClr val="000000"/>
                </a:solidFill>
                <a:latin typeface="Open Sans"/>
                <a:ea typeface="Open Sans"/>
                <a:cs typeface="Open Sans"/>
                <a:sym typeface="Open Sans"/>
              </a:rPr>
              <a:t>Bagaimana performa metode Naive Bayes dalam mengklasifikasikan sentimen (positif, netral, negatif) pada review pengguna Shopee?</a:t>
            </a:r>
          </a:p>
          <a:p>
            <a:pPr algn="just" marL="431802" indent="-215901" lvl="1">
              <a:lnSpc>
                <a:spcPts val="2800"/>
              </a:lnSpc>
              <a:buAutoNum type="arabicPeriod" startAt="1"/>
            </a:pPr>
            <a:r>
              <a:rPr lang="en-US" sz="2000">
                <a:solidFill>
                  <a:srgbClr val="000000"/>
                </a:solidFill>
                <a:latin typeface="Open Sans"/>
                <a:ea typeface="Open Sans"/>
                <a:cs typeface="Open Sans"/>
                <a:sym typeface="Open Sans"/>
              </a:rPr>
              <a:t>Apakah penerapan SMOTE dapat membantu menangani ketidakseimbangan kelas sehingga meningkatkan performa Naive Bayes?</a:t>
            </a:r>
          </a:p>
          <a:p>
            <a:pPr algn="just" marL="431802" indent="-215901" lvl="1">
              <a:lnSpc>
                <a:spcPts val="2800"/>
              </a:lnSpc>
              <a:buAutoNum type="arabicPeriod" startAt="1"/>
            </a:pPr>
            <a:r>
              <a:rPr lang="en-US" sz="2000">
                <a:solidFill>
                  <a:srgbClr val="000000"/>
                </a:solidFill>
                <a:latin typeface="Open Sans"/>
                <a:ea typeface="Open Sans"/>
                <a:cs typeface="Open Sans"/>
                <a:sym typeface="Open Sans"/>
              </a:rPr>
              <a:t>Apa hasil analisis topik menggunakan LDA pada masing-masing kategori sentimen?</a:t>
            </a:r>
          </a:p>
          <a:p>
            <a:pPr algn="just" marL="431802" indent="-215901" lvl="1">
              <a:lnSpc>
                <a:spcPts val="2800"/>
              </a:lnSpc>
              <a:buAutoNum type="arabicPeriod" startAt="1"/>
            </a:pPr>
            <a:r>
              <a:rPr lang="en-US" sz="2000">
                <a:solidFill>
                  <a:srgbClr val="000000"/>
                </a:solidFill>
                <a:latin typeface="Open Sans"/>
                <a:ea typeface="Open Sans"/>
                <a:cs typeface="Open Sans"/>
                <a:sym typeface="Open Sans"/>
              </a:rPr>
              <a:t>Bagaimana visualisasi aspek dan sentimen menggambarkan persepsi pengguna terhadap Shopee?</a:t>
            </a:r>
          </a:p>
          <a:p>
            <a:pPr algn="just">
              <a:lnSpc>
                <a:spcPts val="2800"/>
              </a:lnSpc>
            </a:pPr>
          </a:p>
        </p:txBody>
      </p:sp>
      <p:sp>
        <p:nvSpPr>
          <p:cNvPr name="TextBox 23" id="23"/>
          <p:cNvSpPr txBox="true"/>
          <p:nvPr/>
        </p:nvSpPr>
        <p:spPr>
          <a:xfrm rot="0">
            <a:off x="10177394" y="3625556"/>
            <a:ext cx="5980311" cy="3168650"/>
          </a:xfrm>
          <a:prstGeom prst="rect">
            <a:avLst/>
          </a:prstGeom>
        </p:spPr>
        <p:txBody>
          <a:bodyPr anchor="t" rtlCol="false" tIns="0" lIns="0" bIns="0" rIns="0">
            <a:spAutoFit/>
          </a:bodyPr>
          <a:lstStyle/>
          <a:p>
            <a:pPr algn="just" marL="431802" indent="-215901" lvl="1">
              <a:lnSpc>
                <a:spcPts val="2800"/>
              </a:lnSpc>
              <a:buAutoNum type="arabicPeriod" startAt="1"/>
            </a:pPr>
            <a:r>
              <a:rPr lang="en-US" sz="2000">
                <a:solidFill>
                  <a:srgbClr val="000000"/>
                </a:solidFill>
                <a:latin typeface="Open Sans"/>
                <a:ea typeface="Open Sans"/>
                <a:cs typeface="Open Sans"/>
                <a:sym typeface="Open Sans"/>
              </a:rPr>
              <a:t>Menganalisis performa Naive Bayes dalam klasifikasi sentimen review Shopee.</a:t>
            </a:r>
          </a:p>
          <a:p>
            <a:pPr algn="just" marL="431802" indent="-215901" lvl="1">
              <a:lnSpc>
                <a:spcPts val="2800"/>
              </a:lnSpc>
              <a:buAutoNum type="arabicPeriod" startAt="1"/>
            </a:pPr>
            <a:r>
              <a:rPr lang="en-US" sz="2000">
                <a:solidFill>
                  <a:srgbClr val="000000"/>
                </a:solidFill>
                <a:latin typeface="Open Sans"/>
                <a:ea typeface="Open Sans"/>
                <a:cs typeface="Open Sans"/>
                <a:sym typeface="Open Sans"/>
              </a:rPr>
              <a:t>Menguji pengaruh penggunaan SMOTE terhadap ketidakseimbangan kelas.</a:t>
            </a:r>
          </a:p>
          <a:p>
            <a:pPr algn="just" marL="431802" indent="-215901" lvl="1">
              <a:lnSpc>
                <a:spcPts val="2800"/>
              </a:lnSpc>
              <a:buAutoNum type="arabicPeriod" startAt="1"/>
            </a:pPr>
            <a:r>
              <a:rPr lang="en-US" sz="2000">
                <a:solidFill>
                  <a:srgbClr val="000000"/>
                </a:solidFill>
                <a:latin typeface="Open Sans"/>
                <a:ea typeface="Open Sans"/>
                <a:cs typeface="Open Sans"/>
                <a:sym typeface="Open Sans"/>
              </a:rPr>
              <a:t>Mengidentifikasi topik utama pada tiap sentimen menggunakan LDA.</a:t>
            </a:r>
          </a:p>
          <a:p>
            <a:pPr algn="just" marL="431802" indent="-215901" lvl="1">
              <a:lnSpc>
                <a:spcPts val="2800"/>
              </a:lnSpc>
              <a:buAutoNum type="arabicPeriod" startAt="1"/>
            </a:pPr>
            <a:r>
              <a:rPr lang="en-US" sz="2000">
                <a:solidFill>
                  <a:srgbClr val="000000"/>
                </a:solidFill>
                <a:latin typeface="Open Sans"/>
                <a:ea typeface="Open Sans"/>
                <a:cs typeface="Open Sans"/>
                <a:sym typeface="Open Sans"/>
              </a:rPr>
              <a:t>Menyajikan visualisasi aspek dan sentimen untuk memahami persepsi pengguna.</a:t>
            </a:r>
          </a:p>
          <a:p>
            <a:pPr algn="just">
              <a:lnSpc>
                <a:spcPts val="2800"/>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39010"/>
            <a:ext cx="1927028" cy="1963850"/>
          </a:xfrm>
          <a:custGeom>
            <a:avLst/>
            <a:gdLst/>
            <a:ahLst/>
            <a:cxnLst/>
            <a:rect r="r" b="b" t="t" l="l"/>
            <a:pathLst>
              <a:path h="1963850" w="1927028">
                <a:moveTo>
                  <a:pt x="0" y="0"/>
                </a:moveTo>
                <a:lnTo>
                  <a:pt x="1927028" y="0"/>
                </a:lnTo>
                <a:lnTo>
                  <a:pt x="1927028" y="1963849"/>
                </a:lnTo>
                <a:lnTo>
                  <a:pt x="0" y="19638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321562" y="8276375"/>
            <a:ext cx="1875477" cy="1963850"/>
          </a:xfrm>
          <a:custGeom>
            <a:avLst/>
            <a:gdLst/>
            <a:ahLst/>
            <a:cxnLst/>
            <a:rect r="r" b="b" t="t" l="l"/>
            <a:pathLst>
              <a:path h="1963850" w="1875477">
                <a:moveTo>
                  <a:pt x="0" y="0"/>
                </a:moveTo>
                <a:lnTo>
                  <a:pt x="1875476" y="0"/>
                </a:lnTo>
                <a:lnTo>
                  <a:pt x="1875476" y="1963850"/>
                </a:lnTo>
                <a:lnTo>
                  <a:pt x="0" y="19638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8376036">
            <a:off x="16836079" y="-608454"/>
            <a:ext cx="1464840" cy="1464840"/>
          </a:xfrm>
          <a:custGeom>
            <a:avLst/>
            <a:gdLst/>
            <a:ahLst/>
            <a:cxnLst/>
            <a:rect r="r" b="b" t="t" l="l"/>
            <a:pathLst>
              <a:path h="1464840" w="1464840">
                <a:moveTo>
                  <a:pt x="0" y="0"/>
                </a:moveTo>
                <a:lnTo>
                  <a:pt x="1464840" y="0"/>
                </a:lnTo>
                <a:lnTo>
                  <a:pt x="1464840" y="1464840"/>
                </a:lnTo>
                <a:lnTo>
                  <a:pt x="0" y="1464840"/>
                </a:lnTo>
                <a:lnTo>
                  <a:pt x="0" y="0"/>
                </a:lnTo>
                <a:close/>
              </a:path>
            </a:pathLst>
          </a:custGeom>
          <a:blipFill>
            <a:blip r:embed="rId6">
              <a:alphaModFix amt="19999"/>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true" flipV="true" rot="0">
            <a:off x="-283283" y="8456203"/>
            <a:ext cx="1784022" cy="1784022"/>
          </a:xfrm>
          <a:custGeom>
            <a:avLst/>
            <a:gdLst/>
            <a:ahLst/>
            <a:cxnLst/>
            <a:rect r="r" b="b" t="t" l="l"/>
            <a:pathLst>
              <a:path h="1784022" w="1784022">
                <a:moveTo>
                  <a:pt x="1784022" y="1784022"/>
                </a:moveTo>
                <a:lnTo>
                  <a:pt x="0" y="1784022"/>
                </a:lnTo>
                <a:lnTo>
                  <a:pt x="0" y="0"/>
                </a:lnTo>
                <a:lnTo>
                  <a:pt x="1784022" y="0"/>
                </a:lnTo>
                <a:lnTo>
                  <a:pt x="1784022" y="1784022"/>
                </a:lnTo>
                <a:close/>
              </a:path>
            </a:pathLst>
          </a:custGeom>
          <a:blipFill>
            <a:blip r:embed="rId8">
              <a:alphaModFix amt="19999"/>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3867250" y="3028459"/>
            <a:ext cx="10553501" cy="5247916"/>
          </a:xfrm>
          <a:custGeom>
            <a:avLst/>
            <a:gdLst/>
            <a:ahLst/>
            <a:cxnLst/>
            <a:rect r="r" b="b" t="t" l="l"/>
            <a:pathLst>
              <a:path h="5247916" w="10553501">
                <a:moveTo>
                  <a:pt x="0" y="0"/>
                </a:moveTo>
                <a:lnTo>
                  <a:pt x="10553500" y="0"/>
                </a:lnTo>
                <a:lnTo>
                  <a:pt x="10553500" y="5247916"/>
                </a:lnTo>
                <a:lnTo>
                  <a:pt x="0" y="5247916"/>
                </a:lnTo>
                <a:lnTo>
                  <a:pt x="0" y="0"/>
                </a:lnTo>
                <a:close/>
              </a:path>
            </a:pathLst>
          </a:custGeom>
          <a:blipFill>
            <a:blip r:embed="rId10"/>
            <a:stretch>
              <a:fillRect l="0" t="0" r="0" b="0"/>
            </a:stretch>
          </a:blipFill>
        </p:spPr>
      </p:sp>
      <p:sp>
        <p:nvSpPr>
          <p:cNvPr name="TextBox 7" id="7"/>
          <p:cNvSpPr txBox="true"/>
          <p:nvPr/>
        </p:nvSpPr>
        <p:spPr>
          <a:xfrm rot="0">
            <a:off x="2928016" y="895350"/>
            <a:ext cx="7541836" cy="1193800"/>
          </a:xfrm>
          <a:prstGeom prst="rect">
            <a:avLst/>
          </a:prstGeom>
        </p:spPr>
        <p:txBody>
          <a:bodyPr anchor="t" rtlCol="false" tIns="0" lIns="0" bIns="0" rIns="0">
            <a:spAutoFit/>
          </a:bodyPr>
          <a:lstStyle/>
          <a:p>
            <a:pPr algn="l">
              <a:lnSpc>
                <a:spcPts val="9799"/>
              </a:lnSpc>
            </a:pPr>
            <a:r>
              <a:rPr lang="en-US" sz="6999" b="true">
                <a:solidFill>
                  <a:srgbClr val="245095"/>
                </a:solidFill>
                <a:latin typeface="Open Sans Bold"/>
                <a:ea typeface="Open Sans Bold"/>
                <a:cs typeface="Open Sans Bold"/>
                <a:sym typeface="Open Sans Bold"/>
              </a:rPr>
              <a:t>Alur Penelitian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264490" y="3150029"/>
            <a:ext cx="9962699" cy="4902339"/>
            <a:chOff x="0" y="0"/>
            <a:chExt cx="1978198" cy="973411"/>
          </a:xfrm>
        </p:grpSpPr>
        <p:sp>
          <p:nvSpPr>
            <p:cNvPr name="Freeform 3" id="3"/>
            <p:cNvSpPr/>
            <p:nvPr/>
          </p:nvSpPr>
          <p:spPr>
            <a:xfrm flipH="false" flipV="false" rot="0">
              <a:off x="0" y="0"/>
              <a:ext cx="1978198" cy="973411"/>
            </a:xfrm>
            <a:custGeom>
              <a:avLst/>
              <a:gdLst/>
              <a:ahLst/>
              <a:cxnLst/>
              <a:rect r="r" b="b" t="t" l="l"/>
              <a:pathLst>
                <a:path h="973411" w="1978198">
                  <a:moveTo>
                    <a:pt x="11656" y="0"/>
                  </a:moveTo>
                  <a:lnTo>
                    <a:pt x="1966542" y="0"/>
                  </a:lnTo>
                  <a:cubicBezTo>
                    <a:pt x="1969633" y="0"/>
                    <a:pt x="1972598" y="1228"/>
                    <a:pt x="1974784" y="3414"/>
                  </a:cubicBezTo>
                  <a:cubicBezTo>
                    <a:pt x="1976970" y="5600"/>
                    <a:pt x="1978198" y="8565"/>
                    <a:pt x="1978198" y="11656"/>
                  </a:cubicBezTo>
                  <a:lnTo>
                    <a:pt x="1978198" y="961754"/>
                  </a:lnTo>
                  <a:cubicBezTo>
                    <a:pt x="1978198" y="968192"/>
                    <a:pt x="1972980" y="973411"/>
                    <a:pt x="1966542" y="973411"/>
                  </a:cubicBezTo>
                  <a:lnTo>
                    <a:pt x="11656" y="973411"/>
                  </a:lnTo>
                  <a:cubicBezTo>
                    <a:pt x="8565" y="973411"/>
                    <a:pt x="5600" y="972183"/>
                    <a:pt x="3414" y="969997"/>
                  </a:cubicBezTo>
                  <a:cubicBezTo>
                    <a:pt x="1228" y="967811"/>
                    <a:pt x="0" y="964846"/>
                    <a:pt x="0" y="961754"/>
                  </a:cubicBezTo>
                  <a:lnTo>
                    <a:pt x="0" y="11656"/>
                  </a:lnTo>
                  <a:cubicBezTo>
                    <a:pt x="0" y="8565"/>
                    <a:pt x="1228" y="5600"/>
                    <a:pt x="3414" y="3414"/>
                  </a:cubicBezTo>
                  <a:cubicBezTo>
                    <a:pt x="5600" y="1228"/>
                    <a:pt x="8565" y="0"/>
                    <a:pt x="11656" y="0"/>
                  </a:cubicBezTo>
                  <a:close/>
                </a:path>
              </a:pathLst>
            </a:custGeom>
            <a:blipFill>
              <a:blip r:embed="rId2"/>
              <a:stretch>
                <a:fillRect l="-142" t="0" r="-142" b="0"/>
              </a:stretch>
            </a:blipFill>
            <a:ln w="38100" cap="sq">
              <a:solidFill>
                <a:srgbClr val="000000"/>
              </a:solidFill>
              <a:prstDash val="solid"/>
              <a:miter/>
            </a:ln>
          </p:spPr>
        </p:sp>
      </p:grpSp>
      <p:sp>
        <p:nvSpPr>
          <p:cNvPr name="Freeform 4" id="4"/>
          <p:cNvSpPr/>
          <p:nvPr/>
        </p:nvSpPr>
        <p:spPr>
          <a:xfrm flipH="false" flipV="false" rot="0">
            <a:off x="0" y="8052368"/>
            <a:ext cx="2066799" cy="2164188"/>
          </a:xfrm>
          <a:custGeom>
            <a:avLst/>
            <a:gdLst/>
            <a:ahLst/>
            <a:cxnLst/>
            <a:rect r="r" b="b" t="t" l="l"/>
            <a:pathLst>
              <a:path h="2164188" w="2066799">
                <a:moveTo>
                  <a:pt x="0" y="0"/>
                </a:moveTo>
                <a:lnTo>
                  <a:pt x="2066799" y="0"/>
                </a:lnTo>
                <a:lnTo>
                  <a:pt x="2066799" y="2164188"/>
                </a:lnTo>
                <a:lnTo>
                  <a:pt x="0" y="216418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6067547" y="0"/>
            <a:ext cx="2220453" cy="2173269"/>
          </a:xfrm>
          <a:custGeom>
            <a:avLst/>
            <a:gdLst/>
            <a:ahLst/>
            <a:cxnLst/>
            <a:rect r="r" b="b" t="t" l="l"/>
            <a:pathLst>
              <a:path h="2173269" w="2220453">
                <a:moveTo>
                  <a:pt x="0" y="0"/>
                </a:moveTo>
                <a:lnTo>
                  <a:pt x="2220453" y="0"/>
                </a:lnTo>
                <a:lnTo>
                  <a:pt x="2220453" y="2173269"/>
                </a:lnTo>
                <a:lnTo>
                  <a:pt x="0" y="217326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false" rot="0">
            <a:off x="11750972" y="9915947"/>
            <a:ext cx="7315200" cy="658368"/>
          </a:xfrm>
          <a:custGeom>
            <a:avLst/>
            <a:gdLst/>
            <a:ahLst/>
            <a:cxnLst/>
            <a:rect r="r" b="b" t="t" l="l"/>
            <a:pathLst>
              <a:path h="658368" w="7315200">
                <a:moveTo>
                  <a:pt x="7315200" y="0"/>
                </a:moveTo>
                <a:lnTo>
                  <a:pt x="0" y="0"/>
                </a:lnTo>
                <a:lnTo>
                  <a:pt x="0" y="658368"/>
                </a:lnTo>
                <a:lnTo>
                  <a:pt x="7315200" y="658368"/>
                </a:lnTo>
                <a:lnTo>
                  <a:pt x="731520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7" id="7"/>
          <p:cNvGrpSpPr/>
          <p:nvPr/>
        </p:nvGrpSpPr>
        <p:grpSpPr>
          <a:xfrm rot="0">
            <a:off x="142875" y="-28575"/>
            <a:ext cx="1152688" cy="1510291"/>
            <a:chOff x="0" y="0"/>
            <a:chExt cx="1536917" cy="2013722"/>
          </a:xfrm>
        </p:grpSpPr>
        <p:sp>
          <p:nvSpPr>
            <p:cNvPr name="Freeform 8" id="8"/>
            <p:cNvSpPr/>
            <p:nvPr/>
          </p:nvSpPr>
          <p:spPr>
            <a:xfrm flipH="false" flipV="false" rot="0">
              <a:off x="0" y="907915"/>
              <a:ext cx="1536917" cy="1105807"/>
            </a:xfrm>
            <a:custGeom>
              <a:avLst/>
              <a:gdLst/>
              <a:ahLst/>
              <a:cxnLst/>
              <a:rect r="r" b="b" t="t" l="l"/>
              <a:pathLst>
                <a:path h="1105807" w="1536917">
                  <a:moveTo>
                    <a:pt x="0" y="0"/>
                  </a:moveTo>
                  <a:lnTo>
                    <a:pt x="1536917" y="0"/>
                  </a:lnTo>
                  <a:lnTo>
                    <a:pt x="1536917" y="1105807"/>
                  </a:lnTo>
                  <a:lnTo>
                    <a:pt x="0" y="1105807"/>
                  </a:lnTo>
                  <a:lnTo>
                    <a:pt x="0" y="0"/>
                  </a:lnTo>
                  <a:close/>
                </a:path>
              </a:pathLst>
            </a:custGeom>
            <a:blipFill>
              <a:blip r:embed="rId9">
                <a:extLst>
                  <a:ext uri="{96DAC541-7B7A-43D3-8B79-37D633B846F1}">
                    <asvg:svgBlip xmlns:asvg="http://schemas.microsoft.com/office/drawing/2016/SVG/main" r:embed="rId10"/>
                  </a:ext>
                </a:extLst>
              </a:blip>
              <a:stretch>
                <a:fillRect l="0" t="-62625" r="-57890" b="-56820"/>
              </a:stretch>
            </a:blipFill>
          </p:spPr>
        </p:sp>
        <p:sp>
          <p:nvSpPr>
            <p:cNvPr name="Freeform 9" id="9"/>
            <p:cNvSpPr/>
            <p:nvPr/>
          </p:nvSpPr>
          <p:spPr>
            <a:xfrm flipH="false" flipV="false" rot="0">
              <a:off x="0" y="0"/>
              <a:ext cx="1536917" cy="1105807"/>
            </a:xfrm>
            <a:custGeom>
              <a:avLst/>
              <a:gdLst/>
              <a:ahLst/>
              <a:cxnLst/>
              <a:rect r="r" b="b" t="t" l="l"/>
              <a:pathLst>
                <a:path h="1105807" w="1536917">
                  <a:moveTo>
                    <a:pt x="0" y="0"/>
                  </a:moveTo>
                  <a:lnTo>
                    <a:pt x="1536917" y="0"/>
                  </a:lnTo>
                  <a:lnTo>
                    <a:pt x="1536917" y="1105807"/>
                  </a:lnTo>
                  <a:lnTo>
                    <a:pt x="0" y="1105807"/>
                  </a:lnTo>
                  <a:lnTo>
                    <a:pt x="0" y="0"/>
                  </a:lnTo>
                  <a:close/>
                </a:path>
              </a:pathLst>
            </a:custGeom>
            <a:blipFill>
              <a:blip r:embed="rId9">
                <a:extLst>
                  <a:ext uri="{96DAC541-7B7A-43D3-8B79-37D633B846F1}">
                    <asvg:svgBlip xmlns:asvg="http://schemas.microsoft.com/office/drawing/2016/SVG/main" r:embed="rId10"/>
                  </a:ext>
                </a:extLst>
              </a:blip>
              <a:stretch>
                <a:fillRect l="0" t="-62625" r="-57890" b="-56820"/>
              </a:stretch>
            </a:blipFill>
          </p:spPr>
        </p:sp>
      </p:grpSp>
      <p:sp>
        <p:nvSpPr>
          <p:cNvPr name="TextBox 10" id="10"/>
          <p:cNvSpPr txBox="true"/>
          <p:nvPr/>
        </p:nvSpPr>
        <p:spPr>
          <a:xfrm rot="0">
            <a:off x="1695425" y="1252937"/>
            <a:ext cx="9351698" cy="1193800"/>
          </a:xfrm>
          <a:prstGeom prst="rect">
            <a:avLst/>
          </a:prstGeom>
        </p:spPr>
        <p:txBody>
          <a:bodyPr anchor="t" rtlCol="false" tIns="0" lIns="0" bIns="0" rIns="0">
            <a:spAutoFit/>
          </a:bodyPr>
          <a:lstStyle/>
          <a:p>
            <a:pPr algn="l">
              <a:lnSpc>
                <a:spcPts val="9799"/>
              </a:lnSpc>
            </a:pPr>
            <a:r>
              <a:rPr lang="en-US" sz="6999" b="true">
                <a:solidFill>
                  <a:srgbClr val="245095"/>
                </a:solidFill>
                <a:latin typeface="Open Sans Bold"/>
                <a:ea typeface="Open Sans Bold"/>
                <a:cs typeface="Open Sans Bold"/>
                <a:sym typeface="Open Sans Bold"/>
              </a:rPr>
              <a:t>Data Hasil Scraping</a:t>
            </a:r>
          </a:p>
        </p:txBody>
      </p:sp>
      <p:sp>
        <p:nvSpPr>
          <p:cNvPr name="TextBox 11" id="11"/>
          <p:cNvSpPr txBox="true"/>
          <p:nvPr/>
        </p:nvSpPr>
        <p:spPr>
          <a:xfrm rot="0">
            <a:off x="1033400" y="3195010"/>
            <a:ext cx="5628180" cy="4070985"/>
          </a:xfrm>
          <a:prstGeom prst="rect">
            <a:avLst/>
          </a:prstGeom>
        </p:spPr>
        <p:txBody>
          <a:bodyPr anchor="t" rtlCol="false" tIns="0" lIns="0" bIns="0" rIns="0">
            <a:spAutoFit/>
          </a:bodyPr>
          <a:lstStyle/>
          <a:p>
            <a:pPr algn="l">
              <a:lnSpc>
                <a:spcPts val="2940"/>
              </a:lnSpc>
            </a:pPr>
            <a:r>
              <a:rPr lang="en-US" sz="2100">
                <a:solidFill>
                  <a:srgbClr val="000000"/>
                </a:solidFill>
                <a:latin typeface="Open Sans"/>
                <a:ea typeface="Open Sans"/>
                <a:cs typeface="Open Sans"/>
                <a:sym typeface="Open Sans"/>
              </a:rPr>
              <a:t>Data yang digunakan berupa ulasan pengguna aplikasi shopee yang diambil dari google play store. Data ulasan yang dikumpulkan, yaitu:</a:t>
            </a:r>
          </a:p>
          <a:p>
            <a:pPr algn="l" marL="453392" indent="-226696" lvl="1">
              <a:lnSpc>
                <a:spcPts val="2940"/>
              </a:lnSpc>
              <a:buAutoNum type="arabicPeriod" startAt="1"/>
            </a:pPr>
            <a:r>
              <a:rPr lang="en-US" sz="2100">
                <a:solidFill>
                  <a:srgbClr val="000000"/>
                </a:solidFill>
                <a:latin typeface="Open Sans"/>
                <a:ea typeface="Open Sans"/>
                <a:cs typeface="Open Sans"/>
                <a:sym typeface="Open Sans"/>
              </a:rPr>
              <a:t>Username</a:t>
            </a:r>
          </a:p>
          <a:p>
            <a:pPr algn="l" marL="453392" indent="-226696" lvl="1">
              <a:lnSpc>
                <a:spcPts val="2940"/>
              </a:lnSpc>
              <a:buAutoNum type="arabicPeriod" startAt="1"/>
            </a:pPr>
            <a:r>
              <a:rPr lang="en-US" sz="2100">
                <a:solidFill>
                  <a:srgbClr val="000000"/>
                </a:solidFill>
                <a:latin typeface="Open Sans"/>
                <a:ea typeface="Open Sans"/>
                <a:cs typeface="Open Sans"/>
                <a:sym typeface="Open Sans"/>
              </a:rPr>
              <a:t>Review</a:t>
            </a:r>
          </a:p>
          <a:p>
            <a:pPr algn="l" marL="453392" indent="-226696" lvl="1">
              <a:lnSpc>
                <a:spcPts val="2940"/>
              </a:lnSpc>
              <a:buAutoNum type="arabicPeriod" startAt="1"/>
            </a:pPr>
            <a:r>
              <a:rPr lang="en-US" sz="2100">
                <a:solidFill>
                  <a:srgbClr val="000000"/>
                </a:solidFill>
                <a:latin typeface="Open Sans"/>
                <a:ea typeface="Open Sans"/>
                <a:cs typeface="Open Sans"/>
                <a:sym typeface="Open Sans"/>
              </a:rPr>
              <a:t>Score</a:t>
            </a:r>
          </a:p>
          <a:p>
            <a:pPr algn="l" marL="453392" indent="-226696" lvl="1">
              <a:lnSpc>
                <a:spcPts val="2940"/>
              </a:lnSpc>
              <a:buAutoNum type="arabicPeriod" startAt="1"/>
            </a:pPr>
            <a:r>
              <a:rPr lang="en-US" sz="2100">
                <a:solidFill>
                  <a:srgbClr val="000000"/>
                </a:solidFill>
                <a:latin typeface="Open Sans"/>
                <a:ea typeface="Open Sans"/>
                <a:cs typeface="Open Sans"/>
                <a:sym typeface="Open Sans"/>
              </a:rPr>
              <a:t>At</a:t>
            </a:r>
          </a:p>
          <a:p>
            <a:pPr algn="l">
              <a:lnSpc>
                <a:spcPts val="2940"/>
              </a:lnSpc>
            </a:pPr>
            <a:r>
              <a:rPr lang="en-US" sz="2100">
                <a:solidFill>
                  <a:srgbClr val="000000"/>
                </a:solidFill>
                <a:latin typeface="Open Sans"/>
                <a:ea typeface="Open Sans"/>
                <a:cs typeface="Open Sans"/>
                <a:sym typeface="Open Sans"/>
              </a:rPr>
              <a:t>Jumlah data yang diambil dari ulasan aplikasi Shopee di Google Play Store sebanyak 1000 data. </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39010"/>
            <a:ext cx="1927028" cy="1963850"/>
          </a:xfrm>
          <a:custGeom>
            <a:avLst/>
            <a:gdLst/>
            <a:ahLst/>
            <a:cxnLst/>
            <a:rect r="r" b="b" t="t" l="l"/>
            <a:pathLst>
              <a:path h="1963850" w="1927028">
                <a:moveTo>
                  <a:pt x="0" y="0"/>
                </a:moveTo>
                <a:lnTo>
                  <a:pt x="1927028" y="0"/>
                </a:lnTo>
                <a:lnTo>
                  <a:pt x="1927028" y="1963849"/>
                </a:lnTo>
                <a:lnTo>
                  <a:pt x="0" y="19638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321562" y="8276375"/>
            <a:ext cx="1875477" cy="1963850"/>
          </a:xfrm>
          <a:custGeom>
            <a:avLst/>
            <a:gdLst/>
            <a:ahLst/>
            <a:cxnLst/>
            <a:rect r="r" b="b" t="t" l="l"/>
            <a:pathLst>
              <a:path h="1963850" w="1875477">
                <a:moveTo>
                  <a:pt x="0" y="0"/>
                </a:moveTo>
                <a:lnTo>
                  <a:pt x="1875476" y="0"/>
                </a:lnTo>
                <a:lnTo>
                  <a:pt x="1875476" y="1963850"/>
                </a:lnTo>
                <a:lnTo>
                  <a:pt x="0" y="19638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8376036">
            <a:off x="16836079" y="-608454"/>
            <a:ext cx="1464840" cy="1464840"/>
          </a:xfrm>
          <a:custGeom>
            <a:avLst/>
            <a:gdLst/>
            <a:ahLst/>
            <a:cxnLst/>
            <a:rect r="r" b="b" t="t" l="l"/>
            <a:pathLst>
              <a:path h="1464840" w="1464840">
                <a:moveTo>
                  <a:pt x="0" y="0"/>
                </a:moveTo>
                <a:lnTo>
                  <a:pt x="1464840" y="0"/>
                </a:lnTo>
                <a:lnTo>
                  <a:pt x="1464840" y="1464840"/>
                </a:lnTo>
                <a:lnTo>
                  <a:pt x="0" y="1464840"/>
                </a:lnTo>
                <a:lnTo>
                  <a:pt x="0" y="0"/>
                </a:lnTo>
                <a:close/>
              </a:path>
            </a:pathLst>
          </a:custGeom>
          <a:blipFill>
            <a:blip r:embed="rId6">
              <a:alphaModFix amt="19999"/>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true" flipV="true" rot="0">
            <a:off x="-283283" y="8456203"/>
            <a:ext cx="1784022" cy="1784022"/>
          </a:xfrm>
          <a:custGeom>
            <a:avLst/>
            <a:gdLst/>
            <a:ahLst/>
            <a:cxnLst/>
            <a:rect r="r" b="b" t="t" l="l"/>
            <a:pathLst>
              <a:path h="1784022" w="1784022">
                <a:moveTo>
                  <a:pt x="1784022" y="1784022"/>
                </a:moveTo>
                <a:lnTo>
                  <a:pt x="0" y="1784022"/>
                </a:lnTo>
                <a:lnTo>
                  <a:pt x="0" y="0"/>
                </a:lnTo>
                <a:lnTo>
                  <a:pt x="1784022" y="0"/>
                </a:lnTo>
                <a:lnTo>
                  <a:pt x="1784022" y="1784022"/>
                </a:lnTo>
                <a:close/>
              </a:path>
            </a:pathLst>
          </a:custGeom>
          <a:blipFill>
            <a:blip r:embed="rId8">
              <a:alphaModFix amt="19999"/>
              <a:extLst>
                <a:ext uri="{96DAC541-7B7A-43D3-8B79-37D633B846F1}">
                  <asvg:svgBlip xmlns:asvg="http://schemas.microsoft.com/office/drawing/2016/SVG/main" r:embed="rId9"/>
                </a:ext>
              </a:extLst>
            </a:blip>
            <a:stretch>
              <a:fillRect l="0" t="0" r="0" b="0"/>
            </a:stretch>
          </a:blipFill>
        </p:spPr>
      </p:sp>
      <p:grpSp>
        <p:nvGrpSpPr>
          <p:cNvPr name="Group 6" id="6"/>
          <p:cNvGrpSpPr/>
          <p:nvPr/>
        </p:nvGrpSpPr>
        <p:grpSpPr>
          <a:xfrm rot="0">
            <a:off x="553200" y="3414786"/>
            <a:ext cx="10467056" cy="4131945"/>
            <a:chOff x="0" y="0"/>
            <a:chExt cx="2298030" cy="907164"/>
          </a:xfrm>
        </p:grpSpPr>
        <p:sp>
          <p:nvSpPr>
            <p:cNvPr name="Freeform 7" id="7"/>
            <p:cNvSpPr/>
            <p:nvPr/>
          </p:nvSpPr>
          <p:spPr>
            <a:xfrm flipH="false" flipV="false" rot="0">
              <a:off x="0" y="0"/>
              <a:ext cx="2298030" cy="907164"/>
            </a:xfrm>
            <a:custGeom>
              <a:avLst/>
              <a:gdLst/>
              <a:ahLst/>
              <a:cxnLst/>
              <a:rect r="r" b="b" t="t" l="l"/>
              <a:pathLst>
                <a:path h="907164" w="2298030">
                  <a:moveTo>
                    <a:pt x="5178" y="0"/>
                  </a:moveTo>
                  <a:lnTo>
                    <a:pt x="2292852" y="0"/>
                  </a:lnTo>
                  <a:cubicBezTo>
                    <a:pt x="2295712" y="0"/>
                    <a:pt x="2298030" y="2318"/>
                    <a:pt x="2298030" y="5178"/>
                  </a:cubicBezTo>
                  <a:lnTo>
                    <a:pt x="2298030" y="901986"/>
                  </a:lnTo>
                  <a:cubicBezTo>
                    <a:pt x="2298030" y="904846"/>
                    <a:pt x="2295712" y="907164"/>
                    <a:pt x="2292852" y="907164"/>
                  </a:cubicBezTo>
                  <a:lnTo>
                    <a:pt x="5178" y="907164"/>
                  </a:lnTo>
                  <a:cubicBezTo>
                    <a:pt x="2318" y="907164"/>
                    <a:pt x="0" y="904846"/>
                    <a:pt x="0" y="901986"/>
                  </a:cubicBezTo>
                  <a:lnTo>
                    <a:pt x="0" y="5178"/>
                  </a:lnTo>
                  <a:cubicBezTo>
                    <a:pt x="0" y="2318"/>
                    <a:pt x="2318" y="0"/>
                    <a:pt x="5178" y="0"/>
                  </a:cubicBezTo>
                  <a:close/>
                </a:path>
              </a:pathLst>
            </a:custGeom>
            <a:blipFill>
              <a:blip r:embed="rId10"/>
              <a:stretch>
                <a:fillRect l="0" t="-1254" r="0" b="-1254"/>
              </a:stretch>
            </a:blipFill>
            <a:ln w="38100" cap="sq">
              <a:solidFill>
                <a:srgbClr val="000000"/>
              </a:solidFill>
              <a:prstDash val="solid"/>
              <a:miter/>
            </a:ln>
          </p:spPr>
        </p:sp>
      </p:grpSp>
      <p:sp>
        <p:nvSpPr>
          <p:cNvPr name="TextBox 8" id="8"/>
          <p:cNvSpPr txBox="true"/>
          <p:nvPr/>
        </p:nvSpPr>
        <p:spPr>
          <a:xfrm rot="0">
            <a:off x="2529741" y="895350"/>
            <a:ext cx="10456436" cy="1193800"/>
          </a:xfrm>
          <a:prstGeom prst="rect">
            <a:avLst/>
          </a:prstGeom>
        </p:spPr>
        <p:txBody>
          <a:bodyPr anchor="t" rtlCol="false" tIns="0" lIns="0" bIns="0" rIns="0">
            <a:spAutoFit/>
          </a:bodyPr>
          <a:lstStyle/>
          <a:p>
            <a:pPr algn="l">
              <a:lnSpc>
                <a:spcPts val="9799"/>
              </a:lnSpc>
            </a:pPr>
            <a:r>
              <a:rPr lang="en-US" sz="6999" b="true">
                <a:solidFill>
                  <a:srgbClr val="245095"/>
                </a:solidFill>
                <a:latin typeface="Open Sans Bold"/>
                <a:ea typeface="Open Sans Bold"/>
                <a:cs typeface="Open Sans Bold"/>
                <a:sym typeface="Open Sans Bold"/>
              </a:rPr>
              <a:t>Pelabelan Sentiment</a:t>
            </a:r>
          </a:p>
        </p:txBody>
      </p:sp>
      <p:sp>
        <p:nvSpPr>
          <p:cNvPr name="TextBox 9" id="9"/>
          <p:cNvSpPr txBox="true"/>
          <p:nvPr/>
        </p:nvSpPr>
        <p:spPr>
          <a:xfrm rot="0">
            <a:off x="11403522" y="3797691"/>
            <a:ext cx="6331278" cy="3328035"/>
          </a:xfrm>
          <a:prstGeom prst="rect">
            <a:avLst/>
          </a:prstGeom>
        </p:spPr>
        <p:txBody>
          <a:bodyPr anchor="t" rtlCol="false" tIns="0" lIns="0" bIns="0" rIns="0">
            <a:spAutoFit/>
          </a:bodyPr>
          <a:lstStyle/>
          <a:p>
            <a:pPr algn="l">
              <a:lnSpc>
                <a:spcPts val="2940"/>
              </a:lnSpc>
            </a:pPr>
            <a:r>
              <a:rPr lang="en-US" sz="2100">
                <a:solidFill>
                  <a:srgbClr val="000000"/>
                </a:solidFill>
                <a:latin typeface="Open Sans"/>
                <a:ea typeface="Open Sans"/>
                <a:cs typeface="Open Sans"/>
                <a:sym typeface="Open Sans"/>
              </a:rPr>
              <a:t>Pelabelan dilakukan secara otomatis berdasarkan rating yang diberikan oleh pengguna. Kriteria pelabelan sentimen digunakan adalah sebagai berikut:</a:t>
            </a:r>
          </a:p>
          <a:p>
            <a:pPr algn="l" marL="453392" indent="-226696" lvl="1">
              <a:lnSpc>
                <a:spcPts val="2940"/>
              </a:lnSpc>
              <a:buAutoNum type="arabicPeriod" startAt="1"/>
            </a:pPr>
            <a:r>
              <a:rPr lang="en-US" sz="2100">
                <a:solidFill>
                  <a:srgbClr val="000000"/>
                </a:solidFill>
                <a:latin typeface="Open Sans"/>
                <a:ea typeface="Open Sans"/>
                <a:cs typeface="Open Sans"/>
                <a:sym typeface="Open Sans"/>
              </a:rPr>
              <a:t>Rating 4 dan 5 dikategorikan sebagai sentimen positif</a:t>
            </a:r>
          </a:p>
          <a:p>
            <a:pPr algn="l" marL="453392" indent="-226696" lvl="1">
              <a:lnSpc>
                <a:spcPts val="2940"/>
              </a:lnSpc>
              <a:buAutoNum type="arabicPeriod" startAt="1"/>
            </a:pPr>
            <a:r>
              <a:rPr lang="en-US" sz="2100">
                <a:solidFill>
                  <a:srgbClr val="000000"/>
                </a:solidFill>
                <a:latin typeface="Open Sans"/>
                <a:ea typeface="Open Sans"/>
                <a:cs typeface="Open Sans"/>
                <a:sym typeface="Open Sans"/>
              </a:rPr>
              <a:t>Rating 3 dikategorikan sebagai netral</a:t>
            </a:r>
          </a:p>
          <a:p>
            <a:pPr algn="l" marL="453392" indent="-226696" lvl="1">
              <a:lnSpc>
                <a:spcPts val="2940"/>
              </a:lnSpc>
              <a:buAutoNum type="arabicPeriod" startAt="1"/>
            </a:pPr>
            <a:r>
              <a:rPr lang="en-US" sz="2100">
                <a:solidFill>
                  <a:srgbClr val="000000"/>
                </a:solidFill>
                <a:latin typeface="Open Sans"/>
                <a:ea typeface="Open Sans"/>
                <a:cs typeface="Open Sans"/>
                <a:sym typeface="Open Sans"/>
              </a:rPr>
              <a:t>Rating 1 dan 2 dikategorikan sebagai sentimen negatif</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32582" y="3146917"/>
            <a:ext cx="9960203" cy="4927950"/>
            <a:chOff x="0" y="0"/>
            <a:chExt cx="1833528" cy="907164"/>
          </a:xfrm>
        </p:grpSpPr>
        <p:sp>
          <p:nvSpPr>
            <p:cNvPr name="Freeform 3" id="3"/>
            <p:cNvSpPr/>
            <p:nvPr/>
          </p:nvSpPr>
          <p:spPr>
            <a:xfrm flipH="false" flipV="false" rot="0">
              <a:off x="0" y="0"/>
              <a:ext cx="1833528" cy="907164"/>
            </a:xfrm>
            <a:custGeom>
              <a:avLst/>
              <a:gdLst/>
              <a:ahLst/>
              <a:cxnLst/>
              <a:rect r="r" b="b" t="t" l="l"/>
              <a:pathLst>
                <a:path h="907164" w="1833528">
                  <a:moveTo>
                    <a:pt x="5441" y="0"/>
                  </a:moveTo>
                  <a:lnTo>
                    <a:pt x="1828087" y="0"/>
                  </a:lnTo>
                  <a:cubicBezTo>
                    <a:pt x="1829530" y="0"/>
                    <a:pt x="1830914" y="573"/>
                    <a:pt x="1831934" y="1594"/>
                  </a:cubicBezTo>
                  <a:cubicBezTo>
                    <a:pt x="1832955" y="2614"/>
                    <a:pt x="1833528" y="3998"/>
                    <a:pt x="1833528" y="5441"/>
                  </a:cubicBezTo>
                  <a:lnTo>
                    <a:pt x="1833528" y="901723"/>
                  </a:lnTo>
                  <a:cubicBezTo>
                    <a:pt x="1833528" y="903166"/>
                    <a:pt x="1832955" y="904550"/>
                    <a:pt x="1831934" y="905570"/>
                  </a:cubicBezTo>
                  <a:cubicBezTo>
                    <a:pt x="1830914" y="906590"/>
                    <a:pt x="1829530" y="907164"/>
                    <a:pt x="1828087" y="907164"/>
                  </a:cubicBezTo>
                  <a:lnTo>
                    <a:pt x="5441" y="907164"/>
                  </a:lnTo>
                  <a:cubicBezTo>
                    <a:pt x="3998" y="907164"/>
                    <a:pt x="2614" y="906590"/>
                    <a:pt x="1594" y="905570"/>
                  </a:cubicBezTo>
                  <a:cubicBezTo>
                    <a:pt x="573" y="904550"/>
                    <a:pt x="0" y="903166"/>
                    <a:pt x="0" y="901723"/>
                  </a:cubicBezTo>
                  <a:lnTo>
                    <a:pt x="0" y="5441"/>
                  </a:lnTo>
                  <a:cubicBezTo>
                    <a:pt x="0" y="3998"/>
                    <a:pt x="573" y="2614"/>
                    <a:pt x="1594" y="1594"/>
                  </a:cubicBezTo>
                  <a:cubicBezTo>
                    <a:pt x="2614" y="573"/>
                    <a:pt x="3998" y="0"/>
                    <a:pt x="5441" y="0"/>
                  </a:cubicBezTo>
                  <a:close/>
                </a:path>
              </a:pathLst>
            </a:custGeom>
            <a:blipFill>
              <a:blip r:embed="rId2"/>
              <a:stretch>
                <a:fillRect l="-229" t="0" r="-229" b="0"/>
              </a:stretch>
            </a:blipFill>
            <a:ln w="38100" cap="sq">
              <a:solidFill>
                <a:srgbClr val="000000"/>
              </a:solidFill>
              <a:prstDash val="solid"/>
              <a:miter/>
            </a:ln>
          </p:spPr>
        </p:sp>
      </p:grpSp>
      <p:sp>
        <p:nvSpPr>
          <p:cNvPr name="Freeform 4" id="4"/>
          <p:cNvSpPr/>
          <p:nvPr/>
        </p:nvSpPr>
        <p:spPr>
          <a:xfrm flipH="false" flipV="false" rot="0">
            <a:off x="0" y="39010"/>
            <a:ext cx="1927028" cy="1963850"/>
          </a:xfrm>
          <a:custGeom>
            <a:avLst/>
            <a:gdLst/>
            <a:ahLst/>
            <a:cxnLst/>
            <a:rect r="r" b="b" t="t" l="l"/>
            <a:pathLst>
              <a:path h="1963850" w="1927028">
                <a:moveTo>
                  <a:pt x="0" y="0"/>
                </a:moveTo>
                <a:lnTo>
                  <a:pt x="1927028" y="0"/>
                </a:lnTo>
                <a:lnTo>
                  <a:pt x="1927028" y="1963849"/>
                </a:lnTo>
                <a:lnTo>
                  <a:pt x="0" y="196384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6321562" y="8276375"/>
            <a:ext cx="1875477" cy="1963850"/>
          </a:xfrm>
          <a:custGeom>
            <a:avLst/>
            <a:gdLst/>
            <a:ahLst/>
            <a:cxnLst/>
            <a:rect r="r" b="b" t="t" l="l"/>
            <a:pathLst>
              <a:path h="1963850" w="1875477">
                <a:moveTo>
                  <a:pt x="0" y="0"/>
                </a:moveTo>
                <a:lnTo>
                  <a:pt x="1875476" y="0"/>
                </a:lnTo>
                <a:lnTo>
                  <a:pt x="1875476" y="1963850"/>
                </a:lnTo>
                <a:lnTo>
                  <a:pt x="0" y="196385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8376036">
            <a:off x="16836079" y="-608454"/>
            <a:ext cx="1464840" cy="1464840"/>
          </a:xfrm>
          <a:custGeom>
            <a:avLst/>
            <a:gdLst/>
            <a:ahLst/>
            <a:cxnLst/>
            <a:rect r="r" b="b" t="t" l="l"/>
            <a:pathLst>
              <a:path h="1464840" w="1464840">
                <a:moveTo>
                  <a:pt x="0" y="0"/>
                </a:moveTo>
                <a:lnTo>
                  <a:pt x="1464840" y="0"/>
                </a:lnTo>
                <a:lnTo>
                  <a:pt x="1464840" y="1464840"/>
                </a:lnTo>
                <a:lnTo>
                  <a:pt x="0" y="1464840"/>
                </a:lnTo>
                <a:lnTo>
                  <a:pt x="0" y="0"/>
                </a:lnTo>
                <a:close/>
              </a:path>
            </a:pathLst>
          </a:custGeom>
          <a:blipFill>
            <a:blip r:embed="rId7">
              <a:alphaModFix amt="19999"/>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true" flipV="true" rot="0">
            <a:off x="-283283" y="8456203"/>
            <a:ext cx="1784022" cy="1784022"/>
          </a:xfrm>
          <a:custGeom>
            <a:avLst/>
            <a:gdLst/>
            <a:ahLst/>
            <a:cxnLst/>
            <a:rect r="r" b="b" t="t" l="l"/>
            <a:pathLst>
              <a:path h="1784022" w="1784022">
                <a:moveTo>
                  <a:pt x="1784022" y="1784022"/>
                </a:moveTo>
                <a:lnTo>
                  <a:pt x="0" y="1784022"/>
                </a:lnTo>
                <a:lnTo>
                  <a:pt x="0" y="0"/>
                </a:lnTo>
                <a:lnTo>
                  <a:pt x="1784022" y="0"/>
                </a:lnTo>
                <a:lnTo>
                  <a:pt x="1784022" y="1784022"/>
                </a:lnTo>
                <a:close/>
              </a:path>
            </a:pathLst>
          </a:custGeom>
          <a:blipFill>
            <a:blip r:embed="rId9">
              <a:alphaModFix amt="19999"/>
              <a:extLst>
                <a:ext uri="{96DAC541-7B7A-43D3-8B79-37D633B846F1}">
                  <asvg:svgBlip xmlns:asvg="http://schemas.microsoft.com/office/drawing/2016/SVG/main" r:embed="rId10"/>
                </a:ext>
              </a:extLst>
            </a:blip>
            <a:stretch>
              <a:fillRect l="0" t="0" r="0" b="0"/>
            </a:stretch>
          </a:blipFill>
        </p:spPr>
      </p:sp>
      <p:sp>
        <p:nvSpPr>
          <p:cNvPr name="TextBox 8" id="8"/>
          <p:cNvSpPr txBox="true"/>
          <p:nvPr/>
        </p:nvSpPr>
        <p:spPr>
          <a:xfrm rot="0">
            <a:off x="2529741" y="895350"/>
            <a:ext cx="6897240" cy="1193800"/>
          </a:xfrm>
          <a:prstGeom prst="rect">
            <a:avLst/>
          </a:prstGeom>
        </p:spPr>
        <p:txBody>
          <a:bodyPr anchor="t" rtlCol="false" tIns="0" lIns="0" bIns="0" rIns="0">
            <a:spAutoFit/>
          </a:bodyPr>
          <a:lstStyle/>
          <a:p>
            <a:pPr algn="l">
              <a:lnSpc>
                <a:spcPts val="9799"/>
              </a:lnSpc>
            </a:pPr>
            <a:r>
              <a:rPr lang="en-US" sz="6999" b="true">
                <a:solidFill>
                  <a:srgbClr val="245095"/>
                </a:solidFill>
                <a:latin typeface="Open Sans Bold"/>
                <a:ea typeface="Open Sans Bold"/>
                <a:cs typeface="Open Sans Bold"/>
                <a:sym typeface="Open Sans Bold"/>
              </a:rPr>
              <a:t>Pre-Processing</a:t>
            </a:r>
          </a:p>
        </p:txBody>
      </p:sp>
      <p:sp>
        <p:nvSpPr>
          <p:cNvPr name="TextBox 9" id="9"/>
          <p:cNvSpPr txBox="true"/>
          <p:nvPr/>
        </p:nvSpPr>
        <p:spPr>
          <a:xfrm rot="0">
            <a:off x="11237222" y="3370612"/>
            <a:ext cx="6331278" cy="4442460"/>
          </a:xfrm>
          <a:prstGeom prst="rect">
            <a:avLst/>
          </a:prstGeom>
        </p:spPr>
        <p:txBody>
          <a:bodyPr anchor="t" rtlCol="false" tIns="0" lIns="0" bIns="0" rIns="0">
            <a:spAutoFit/>
          </a:bodyPr>
          <a:lstStyle/>
          <a:p>
            <a:pPr algn="l">
              <a:lnSpc>
                <a:spcPts val="2940"/>
              </a:lnSpc>
            </a:pPr>
            <a:r>
              <a:rPr lang="en-US" sz="2100">
                <a:solidFill>
                  <a:srgbClr val="000000"/>
                </a:solidFill>
                <a:latin typeface="Open Sans"/>
                <a:ea typeface="Open Sans"/>
                <a:cs typeface="Open Sans"/>
                <a:sym typeface="Open Sans"/>
              </a:rPr>
              <a:t>Tahap Pre-Processing teks dilakukan untuk membersihkan dan menormalkan data sebelum digunakan pada tahap analisis dan pemodelan. Tahapan pre-processing yang dilakukan:</a:t>
            </a:r>
          </a:p>
          <a:p>
            <a:pPr algn="l" marL="453392" indent="-226696" lvl="1">
              <a:lnSpc>
                <a:spcPts val="2940"/>
              </a:lnSpc>
              <a:buAutoNum type="arabicPeriod" startAt="1"/>
            </a:pPr>
            <a:r>
              <a:rPr lang="en-US" sz="2100">
                <a:solidFill>
                  <a:srgbClr val="000000"/>
                </a:solidFill>
                <a:latin typeface="Open Sans"/>
                <a:ea typeface="Open Sans"/>
                <a:cs typeface="Open Sans"/>
                <a:sym typeface="Open Sans"/>
              </a:rPr>
              <a:t>Lowercasing</a:t>
            </a:r>
          </a:p>
          <a:p>
            <a:pPr algn="l" marL="453392" indent="-226696" lvl="1">
              <a:lnSpc>
                <a:spcPts val="2940"/>
              </a:lnSpc>
              <a:buAutoNum type="arabicPeriod" startAt="1"/>
            </a:pPr>
            <a:r>
              <a:rPr lang="en-US" sz="2100">
                <a:solidFill>
                  <a:srgbClr val="000000"/>
                </a:solidFill>
                <a:latin typeface="Open Sans"/>
                <a:ea typeface="Open Sans"/>
                <a:cs typeface="Open Sans"/>
                <a:sym typeface="Open Sans"/>
              </a:rPr>
              <a:t>Menghapus angka</a:t>
            </a:r>
          </a:p>
          <a:p>
            <a:pPr algn="l" marL="453392" indent="-226696" lvl="1">
              <a:lnSpc>
                <a:spcPts val="2940"/>
              </a:lnSpc>
              <a:buAutoNum type="arabicPeriod" startAt="1"/>
            </a:pPr>
            <a:r>
              <a:rPr lang="en-US" sz="2100">
                <a:solidFill>
                  <a:srgbClr val="000000"/>
                </a:solidFill>
                <a:latin typeface="Open Sans"/>
                <a:ea typeface="Open Sans"/>
                <a:cs typeface="Open Sans"/>
                <a:sym typeface="Open Sans"/>
              </a:rPr>
              <a:t>Remove Emoji</a:t>
            </a:r>
          </a:p>
          <a:p>
            <a:pPr algn="l" marL="453392" indent="-226696" lvl="1">
              <a:lnSpc>
                <a:spcPts val="2940"/>
              </a:lnSpc>
              <a:buAutoNum type="arabicPeriod" startAt="1"/>
            </a:pPr>
            <a:r>
              <a:rPr lang="en-US" sz="2100">
                <a:solidFill>
                  <a:srgbClr val="000000"/>
                </a:solidFill>
                <a:latin typeface="Open Sans"/>
                <a:ea typeface="Open Sans"/>
                <a:cs typeface="Open Sans"/>
                <a:sym typeface="Open Sans"/>
              </a:rPr>
              <a:t>Remove punctuation</a:t>
            </a:r>
          </a:p>
          <a:p>
            <a:pPr algn="l" marL="453392" indent="-226696" lvl="1">
              <a:lnSpc>
                <a:spcPts val="2940"/>
              </a:lnSpc>
              <a:buAutoNum type="arabicPeriod" startAt="1"/>
            </a:pPr>
            <a:r>
              <a:rPr lang="en-US" sz="2100">
                <a:solidFill>
                  <a:srgbClr val="000000"/>
                </a:solidFill>
                <a:latin typeface="Open Sans"/>
                <a:ea typeface="Open Sans"/>
                <a:cs typeface="Open Sans"/>
                <a:sym typeface="Open Sans"/>
              </a:rPr>
              <a:t>Normalisasi slangword</a:t>
            </a:r>
          </a:p>
          <a:p>
            <a:pPr algn="l" marL="453392" indent="-226696" lvl="1">
              <a:lnSpc>
                <a:spcPts val="2940"/>
              </a:lnSpc>
              <a:buAutoNum type="arabicPeriod" startAt="1"/>
            </a:pPr>
            <a:r>
              <a:rPr lang="en-US" sz="2100">
                <a:solidFill>
                  <a:srgbClr val="000000"/>
                </a:solidFill>
                <a:latin typeface="Open Sans"/>
                <a:ea typeface="Open Sans"/>
                <a:cs typeface="Open Sans"/>
                <a:sym typeface="Open Sans"/>
              </a:rPr>
              <a:t>Remove stopwords</a:t>
            </a:r>
          </a:p>
          <a:p>
            <a:pPr algn="l" marL="453392" indent="-226696" lvl="1">
              <a:lnSpc>
                <a:spcPts val="2940"/>
              </a:lnSpc>
              <a:buAutoNum type="arabicPeriod" startAt="1"/>
            </a:pPr>
            <a:r>
              <a:rPr lang="en-US" sz="2100">
                <a:solidFill>
                  <a:srgbClr val="000000"/>
                </a:solidFill>
                <a:latin typeface="Open Sans"/>
                <a:ea typeface="Open Sans"/>
                <a:cs typeface="Open Sans"/>
                <a:sym typeface="Open Sans"/>
              </a:rPr>
              <a:t>Stemming</a:t>
            </a:r>
          </a:p>
          <a:p>
            <a:pPr algn="l" marL="453392" indent="-226696" lvl="1">
              <a:lnSpc>
                <a:spcPts val="2940"/>
              </a:lnSpc>
              <a:buAutoNum type="arabicPeriod" startAt="1"/>
            </a:pPr>
            <a:r>
              <a:rPr lang="en-US" sz="2100">
                <a:solidFill>
                  <a:srgbClr val="000000"/>
                </a:solidFill>
                <a:latin typeface="Open Sans"/>
                <a:ea typeface="Open Sans"/>
                <a:cs typeface="Open Sans"/>
                <a:sym typeface="Open Sans"/>
              </a:rPr>
              <a:t>Tokenisasi</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484057" y="2629308"/>
            <a:ext cx="6506615" cy="4731726"/>
            <a:chOff x="0" y="0"/>
            <a:chExt cx="1247444" cy="907164"/>
          </a:xfrm>
        </p:grpSpPr>
        <p:sp>
          <p:nvSpPr>
            <p:cNvPr name="Freeform 3" id="3"/>
            <p:cNvSpPr/>
            <p:nvPr/>
          </p:nvSpPr>
          <p:spPr>
            <a:xfrm flipH="false" flipV="false" rot="0">
              <a:off x="0" y="0"/>
              <a:ext cx="1247444" cy="907164"/>
            </a:xfrm>
            <a:custGeom>
              <a:avLst/>
              <a:gdLst/>
              <a:ahLst/>
              <a:cxnLst/>
              <a:rect r="r" b="b" t="t" l="l"/>
              <a:pathLst>
                <a:path h="907164" w="1247444">
                  <a:moveTo>
                    <a:pt x="27367" y="0"/>
                  </a:moveTo>
                  <a:lnTo>
                    <a:pt x="1220078" y="0"/>
                  </a:lnTo>
                  <a:cubicBezTo>
                    <a:pt x="1235192" y="0"/>
                    <a:pt x="1247444" y="12252"/>
                    <a:pt x="1247444" y="27367"/>
                  </a:cubicBezTo>
                  <a:lnTo>
                    <a:pt x="1247444" y="879797"/>
                  </a:lnTo>
                  <a:cubicBezTo>
                    <a:pt x="1247444" y="894911"/>
                    <a:pt x="1235192" y="907164"/>
                    <a:pt x="1220078" y="907164"/>
                  </a:cubicBezTo>
                  <a:lnTo>
                    <a:pt x="27367" y="907164"/>
                  </a:lnTo>
                  <a:cubicBezTo>
                    <a:pt x="12252" y="907164"/>
                    <a:pt x="0" y="894911"/>
                    <a:pt x="0" y="879797"/>
                  </a:cubicBezTo>
                  <a:lnTo>
                    <a:pt x="0" y="27367"/>
                  </a:lnTo>
                  <a:cubicBezTo>
                    <a:pt x="0" y="12252"/>
                    <a:pt x="12252" y="0"/>
                    <a:pt x="27367" y="0"/>
                  </a:cubicBezTo>
                  <a:close/>
                </a:path>
              </a:pathLst>
            </a:custGeom>
            <a:blipFill>
              <a:blip r:embed="rId2"/>
              <a:stretch>
                <a:fillRect l="0" t="-38" r="0" b="-38"/>
              </a:stretch>
            </a:blipFill>
            <a:ln w="19050" cap="rnd">
              <a:solidFill>
                <a:srgbClr val="000000"/>
              </a:solidFill>
              <a:prstDash val="solid"/>
              <a:round/>
            </a:ln>
          </p:spPr>
        </p:sp>
      </p:grpSp>
      <p:sp>
        <p:nvSpPr>
          <p:cNvPr name="Freeform 4" id="4"/>
          <p:cNvSpPr/>
          <p:nvPr/>
        </p:nvSpPr>
        <p:spPr>
          <a:xfrm flipH="false" flipV="false" rot="0">
            <a:off x="0" y="39010"/>
            <a:ext cx="1927028" cy="1963850"/>
          </a:xfrm>
          <a:custGeom>
            <a:avLst/>
            <a:gdLst/>
            <a:ahLst/>
            <a:cxnLst/>
            <a:rect r="r" b="b" t="t" l="l"/>
            <a:pathLst>
              <a:path h="1963850" w="1927028">
                <a:moveTo>
                  <a:pt x="0" y="0"/>
                </a:moveTo>
                <a:lnTo>
                  <a:pt x="1927028" y="0"/>
                </a:lnTo>
                <a:lnTo>
                  <a:pt x="1927028" y="1963849"/>
                </a:lnTo>
                <a:lnTo>
                  <a:pt x="0" y="196384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6321562" y="8276375"/>
            <a:ext cx="1875477" cy="1963850"/>
          </a:xfrm>
          <a:custGeom>
            <a:avLst/>
            <a:gdLst/>
            <a:ahLst/>
            <a:cxnLst/>
            <a:rect r="r" b="b" t="t" l="l"/>
            <a:pathLst>
              <a:path h="1963850" w="1875477">
                <a:moveTo>
                  <a:pt x="0" y="0"/>
                </a:moveTo>
                <a:lnTo>
                  <a:pt x="1875476" y="0"/>
                </a:lnTo>
                <a:lnTo>
                  <a:pt x="1875476" y="1963850"/>
                </a:lnTo>
                <a:lnTo>
                  <a:pt x="0" y="196385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8376036">
            <a:off x="16836079" y="-608454"/>
            <a:ext cx="1464840" cy="1464840"/>
          </a:xfrm>
          <a:custGeom>
            <a:avLst/>
            <a:gdLst/>
            <a:ahLst/>
            <a:cxnLst/>
            <a:rect r="r" b="b" t="t" l="l"/>
            <a:pathLst>
              <a:path h="1464840" w="1464840">
                <a:moveTo>
                  <a:pt x="0" y="0"/>
                </a:moveTo>
                <a:lnTo>
                  <a:pt x="1464840" y="0"/>
                </a:lnTo>
                <a:lnTo>
                  <a:pt x="1464840" y="1464840"/>
                </a:lnTo>
                <a:lnTo>
                  <a:pt x="0" y="1464840"/>
                </a:lnTo>
                <a:lnTo>
                  <a:pt x="0" y="0"/>
                </a:lnTo>
                <a:close/>
              </a:path>
            </a:pathLst>
          </a:custGeom>
          <a:blipFill>
            <a:blip r:embed="rId7">
              <a:alphaModFix amt="19999"/>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true" flipV="true" rot="0">
            <a:off x="-283283" y="8456203"/>
            <a:ext cx="1784022" cy="1784022"/>
          </a:xfrm>
          <a:custGeom>
            <a:avLst/>
            <a:gdLst/>
            <a:ahLst/>
            <a:cxnLst/>
            <a:rect r="r" b="b" t="t" l="l"/>
            <a:pathLst>
              <a:path h="1784022" w="1784022">
                <a:moveTo>
                  <a:pt x="1784022" y="1784022"/>
                </a:moveTo>
                <a:lnTo>
                  <a:pt x="0" y="1784022"/>
                </a:lnTo>
                <a:lnTo>
                  <a:pt x="0" y="0"/>
                </a:lnTo>
                <a:lnTo>
                  <a:pt x="1784022" y="0"/>
                </a:lnTo>
                <a:lnTo>
                  <a:pt x="1784022" y="1784022"/>
                </a:lnTo>
                <a:close/>
              </a:path>
            </a:pathLst>
          </a:custGeom>
          <a:blipFill>
            <a:blip r:embed="rId9">
              <a:alphaModFix amt="19999"/>
              <a:extLst>
                <a:ext uri="{96DAC541-7B7A-43D3-8B79-37D633B846F1}">
                  <asvg:svgBlip xmlns:asvg="http://schemas.microsoft.com/office/drawing/2016/SVG/main" r:embed="rId10"/>
                </a:ext>
              </a:extLst>
            </a:blip>
            <a:stretch>
              <a:fillRect l="0" t="0" r="0" b="0"/>
            </a:stretch>
          </a:blipFill>
        </p:spPr>
      </p:sp>
      <p:grpSp>
        <p:nvGrpSpPr>
          <p:cNvPr name="Group 8" id="8"/>
          <p:cNvGrpSpPr/>
          <p:nvPr/>
        </p:nvGrpSpPr>
        <p:grpSpPr>
          <a:xfrm rot="0">
            <a:off x="9544959" y="2629308"/>
            <a:ext cx="6258984" cy="4731726"/>
            <a:chOff x="0" y="0"/>
            <a:chExt cx="1199969" cy="907164"/>
          </a:xfrm>
        </p:grpSpPr>
        <p:sp>
          <p:nvSpPr>
            <p:cNvPr name="Freeform 9" id="9"/>
            <p:cNvSpPr/>
            <p:nvPr/>
          </p:nvSpPr>
          <p:spPr>
            <a:xfrm flipH="false" flipV="false" rot="0">
              <a:off x="0" y="0"/>
              <a:ext cx="1199969" cy="907164"/>
            </a:xfrm>
            <a:custGeom>
              <a:avLst/>
              <a:gdLst/>
              <a:ahLst/>
              <a:cxnLst/>
              <a:rect r="r" b="b" t="t" l="l"/>
              <a:pathLst>
                <a:path h="907164" w="1199969">
                  <a:moveTo>
                    <a:pt x="28449" y="0"/>
                  </a:moveTo>
                  <a:lnTo>
                    <a:pt x="1171519" y="0"/>
                  </a:lnTo>
                  <a:cubicBezTo>
                    <a:pt x="1187231" y="0"/>
                    <a:pt x="1199969" y="12737"/>
                    <a:pt x="1199969" y="28449"/>
                  </a:cubicBezTo>
                  <a:lnTo>
                    <a:pt x="1199969" y="878714"/>
                  </a:lnTo>
                  <a:cubicBezTo>
                    <a:pt x="1199969" y="894426"/>
                    <a:pt x="1187231" y="907164"/>
                    <a:pt x="1171519" y="907164"/>
                  </a:cubicBezTo>
                  <a:lnTo>
                    <a:pt x="28449" y="907164"/>
                  </a:lnTo>
                  <a:cubicBezTo>
                    <a:pt x="12737" y="907164"/>
                    <a:pt x="0" y="894426"/>
                    <a:pt x="0" y="878714"/>
                  </a:cubicBezTo>
                  <a:lnTo>
                    <a:pt x="0" y="28449"/>
                  </a:lnTo>
                  <a:cubicBezTo>
                    <a:pt x="0" y="12737"/>
                    <a:pt x="12737" y="0"/>
                    <a:pt x="28449" y="0"/>
                  </a:cubicBezTo>
                  <a:close/>
                </a:path>
              </a:pathLst>
            </a:custGeom>
            <a:blipFill>
              <a:blip r:embed="rId11"/>
              <a:stretch>
                <a:fillRect l="0" t="-299" r="0" b="-299"/>
              </a:stretch>
            </a:blipFill>
            <a:ln w="19050" cap="rnd">
              <a:solidFill>
                <a:srgbClr val="000000"/>
              </a:solidFill>
              <a:prstDash val="solid"/>
              <a:round/>
            </a:ln>
          </p:spPr>
        </p:sp>
      </p:grpSp>
      <p:sp>
        <p:nvSpPr>
          <p:cNvPr name="TextBox 10" id="10"/>
          <p:cNvSpPr txBox="true"/>
          <p:nvPr/>
        </p:nvSpPr>
        <p:spPr>
          <a:xfrm rot="0">
            <a:off x="2295921" y="809059"/>
            <a:ext cx="12237579" cy="1193800"/>
          </a:xfrm>
          <a:prstGeom prst="rect">
            <a:avLst/>
          </a:prstGeom>
        </p:spPr>
        <p:txBody>
          <a:bodyPr anchor="t" rtlCol="false" tIns="0" lIns="0" bIns="0" rIns="0">
            <a:spAutoFit/>
          </a:bodyPr>
          <a:lstStyle/>
          <a:p>
            <a:pPr algn="l">
              <a:lnSpc>
                <a:spcPts val="9799"/>
              </a:lnSpc>
            </a:pPr>
            <a:r>
              <a:rPr lang="en-US" sz="6999" b="true">
                <a:solidFill>
                  <a:srgbClr val="245095"/>
                </a:solidFill>
                <a:latin typeface="Open Sans Bold"/>
                <a:ea typeface="Open Sans Bold"/>
                <a:cs typeface="Open Sans Bold"/>
                <a:sym typeface="Open Sans Bold"/>
              </a:rPr>
              <a:t>EDA setelah Pre-Processing</a:t>
            </a:r>
          </a:p>
        </p:txBody>
      </p:sp>
      <p:sp>
        <p:nvSpPr>
          <p:cNvPr name="TextBox 11" id="11"/>
          <p:cNvSpPr txBox="true"/>
          <p:nvPr/>
        </p:nvSpPr>
        <p:spPr>
          <a:xfrm rot="0">
            <a:off x="2571726" y="7499350"/>
            <a:ext cx="6331278" cy="1758950"/>
          </a:xfrm>
          <a:prstGeom prst="rect">
            <a:avLst/>
          </a:prstGeom>
        </p:spPr>
        <p:txBody>
          <a:bodyPr anchor="t" rtlCol="false" tIns="0" lIns="0" bIns="0" rIns="0">
            <a:spAutoFit/>
          </a:bodyPr>
          <a:lstStyle/>
          <a:p>
            <a:pPr algn="ctr">
              <a:lnSpc>
                <a:spcPts val="2800"/>
              </a:lnSpc>
            </a:pPr>
            <a:r>
              <a:rPr lang="en-US" sz="2000">
                <a:solidFill>
                  <a:srgbClr val="000000"/>
                </a:solidFill>
                <a:latin typeface="Open Sans"/>
                <a:ea typeface="Open Sans"/>
                <a:cs typeface="Open Sans"/>
                <a:sym typeface="Open Sans"/>
              </a:rPr>
              <a:t>Rating 5 mendominasi jumlah ulasan, menandakan sebagian besar pengguna memberikan penilaian sangat baik terhadap aplikasi. Rating 1memiliki jumlah yang cukup signifikan, sementara rating 2 hingga 4 jumlahnya relatif lebih sedikit.</a:t>
            </a:r>
          </a:p>
        </p:txBody>
      </p:sp>
      <p:sp>
        <p:nvSpPr>
          <p:cNvPr name="TextBox 12" id="12"/>
          <p:cNvSpPr txBox="true"/>
          <p:nvPr/>
        </p:nvSpPr>
        <p:spPr>
          <a:xfrm rot="0">
            <a:off x="9508812" y="7499350"/>
            <a:ext cx="6331278" cy="1758950"/>
          </a:xfrm>
          <a:prstGeom prst="rect">
            <a:avLst/>
          </a:prstGeom>
        </p:spPr>
        <p:txBody>
          <a:bodyPr anchor="t" rtlCol="false" tIns="0" lIns="0" bIns="0" rIns="0">
            <a:spAutoFit/>
          </a:bodyPr>
          <a:lstStyle/>
          <a:p>
            <a:pPr algn="ctr">
              <a:lnSpc>
                <a:spcPts val="2800"/>
              </a:lnSpc>
            </a:pPr>
            <a:r>
              <a:rPr lang="en-US" sz="2000">
                <a:solidFill>
                  <a:srgbClr val="000000"/>
                </a:solidFill>
                <a:latin typeface="Open Sans"/>
                <a:ea typeface="Open Sans"/>
                <a:cs typeface="Open Sans"/>
                <a:sym typeface="Open Sans"/>
              </a:rPr>
              <a:t>Visualisasi menunjukkan bahwa review dengan rating rendah hingga netral cenderung lebih panjang dan deskriptif, sedangkan rating tinggi umumnya disertai ulasan yang lebih singkat sebagai bentuk kepuasan pengguna.</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469394" y="2629308"/>
            <a:ext cx="5925825" cy="4731726"/>
            <a:chOff x="0" y="0"/>
            <a:chExt cx="1230637" cy="982654"/>
          </a:xfrm>
        </p:grpSpPr>
        <p:sp>
          <p:nvSpPr>
            <p:cNvPr name="Freeform 3" id="3"/>
            <p:cNvSpPr/>
            <p:nvPr/>
          </p:nvSpPr>
          <p:spPr>
            <a:xfrm flipH="false" flipV="false" rot="0">
              <a:off x="0" y="0"/>
              <a:ext cx="1230637" cy="982654"/>
            </a:xfrm>
            <a:custGeom>
              <a:avLst/>
              <a:gdLst/>
              <a:ahLst/>
              <a:cxnLst/>
              <a:rect r="r" b="b" t="t" l="l"/>
              <a:pathLst>
                <a:path h="982654" w="1230637">
                  <a:moveTo>
                    <a:pt x="30049" y="0"/>
                  </a:moveTo>
                  <a:lnTo>
                    <a:pt x="1200588" y="0"/>
                  </a:lnTo>
                  <a:cubicBezTo>
                    <a:pt x="1208557" y="0"/>
                    <a:pt x="1216200" y="3166"/>
                    <a:pt x="1221835" y="8801"/>
                  </a:cubicBezTo>
                  <a:cubicBezTo>
                    <a:pt x="1227471" y="14436"/>
                    <a:pt x="1230637" y="22079"/>
                    <a:pt x="1230637" y="30049"/>
                  </a:cubicBezTo>
                  <a:lnTo>
                    <a:pt x="1230637" y="952605"/>
                  </a:lnTo>
                  <a:cubicBezTo>
                    <a:pt x="1230637" y="960575"/>
                    <a:pt x="1227471" y="968218"/>
                    <a:pt x="1221835" y="973853"/>
                  </a:cubicBezTo>
                  <a:cubicBezTo>
                    <a:pt x="1216200" y="979488"/>
                    <a:pt x="1208557" y="982654"/>
                    <a:pt x="1200588" y="982654"/>
                  </a:cubicBezTo>
                  <a:lnTo>
                    <a:pt x="30049" y="982654"/>
                  </a:lnTo>
                  <a:cubicBezTo>
                    <a:pt x="22079" y="982654"/>
                    <a:pt x="14436" y="979488"/>
                    <a:pt x="8801" y="973853"/>
                  </a:cubicBezTo>
                  <a:cubicBezTo>
                    <a:pt x="3166" y="968218"/>
                    <a:pt x="0" y="960575"/>
                    <a:pt x="0" y="952605"/>
                  </a:cubicBezTo>
                  <a:lnTo>
                    <a:pt x="0" y="30049"/>
                  </a:lnTo>
                  <a:cubicBezTo>
                    <a:pt x="0" y="22079"/>
                    <a:pt x="3166" y="14436"/>
                    <a:pt x="8801" y="8801"/>
                  </a:cubicBezTo>
                  <a:cubicBezTo>
                    <a:pt x="14436" y="3166"/>
                    <a:pt x="22079" y="0"/>
                    <a:pt x="30049" y="0"/>
                  </a:cubicBezTo>
                  <a:close/>
                </a:path>
              </a:pathLst>
            </a:custGeom>
            <a:blipFill>
              <a:blip r:embed="rId2"/>
              <a:stretch>
                <a:fillRect l="-103" t="0" r="-103" b="0"/>
              </a:stretch>
            </a:blipFill>
            <a:ln w="19050" cap="rnd">
              <a:solidFill>
                <a:srgbClr val="000000"/>
              </a:solidFill>
              <a:prstDash val="solid"/>
              <a:round/>
            </a:ln>
          </p:spPr>
        </p:sp>
      </p:grpSp>
      <p:sp>
        <p:nvSpPr>
          <p:cNvPr name="Freeform 4" id="4"/>
          <p:cNvSpPr/>
          <p:nvPr/>
        </p:nvSpPr>
        <p:spPr>
          <a:xfrm flipH="false" flipV="false" rot="0">
            <a:off x="0" y="39010"/>
            <a:ext cx="1927028" cy="1963850"/>
          </a:xfrm>
          <a:custGeom>
            <a:avLst/>
            <a:gdLst/>
            <a:ahLst/>
            <a:cxnLst/>
            <a:rect r="r" b="b" t="t" l="l"/>
            <a:pathLst>
              <a:path h="1963850" w="1927028">
                <a:moveTo>
                  <a:pt x="0" y="0"/>
                </a:moveTo>
                <a:lnTo>
                  <a:pt x="1927028" y="0"/>
                </a:lnTo>
                <a:lnTo>
                  <a:pt x="1927028" y="1963849"/>
                </a:lnTo>
                <a:lnTo>
                  <a:pt x="0" y="196384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6321562" y="8276375"/>
            <a:ext cx="1875477" cy="1963850"/>
          </a:xfrm>
          <a:custGeom>
            <a:avLst/>
            <a:gdLst/>
            <a:ahLst/>
            <a:cxnLst/>
            <a:rect r="r" b="b" t="t" l="l"/>
            <a:pathLst>
              <a:path h="1963850" w="1875477">
                <a:moveTo>
                  <a:pt x="0" y="0"/>
                </a:moveTo>
                <a:lnTo>
                  <a:pt x="1875476" y="0"/>
                </a:lnTo>
                <a:lnTo>
                  <a:pt x="1875476" y="1963850"/>
                </a:lnTo>
                <a:lnTo>
                  <a:pt x="0" y="196385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8376036">
            <a:off x="16836079" y="-608454"/>
            <a:ext cx="1464840" cy="1464840"/>
          </a:xfrm>
          <a:custGeom>
            <a:avLst/>
            <a:gdLst/>
            <a:ahLst/>
            <a:cxnLst/>
            <a:rect r="r" b="b" t="t" l="l"/>
            <a:pathLst>
              <a:path h="1464840" w="1464840">
                <a:moveTo>
                  <a:pt x="0" y="0"/>
                </a:moveTo>
                <a:lnTo>
                  <a:pt x="1464840" y="0"/>
                </a:lnTo>
                <a:lnTo>
                  <a:pt x="1464840" y="1464840"/>
                </a:lnTo>
                <a:lnTo>
                  <a:pt x="0" y="1464840"/>
                </a:lnTo>
                <a:lnTo>
                  <a:pt x="0" y="0"/>
                </a:lnTo>
                <a:close/>
              </a:path>
            </a:pathLst>
          </a:custGeom>
          <a:blipFill>
            <a:blip r:embed="rId7">
              <a:alphaModFix amt="19999"/>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true" flipV="true" rot="0">
            <a:off x="-283283" y="8456203"/>
            <a:ext cx="1784022" cy="1784022"/>
          </a:xfrm>
          <a:custGeom>
            <a:avLst/>
            <a:gdLst/>
            <a:ahLst/>
            <a:cxnLst/>
            <a:rect r="r" b="b" t="t" l="l"/>
            <a:pathLst>
              <a:path h="1784022" w="1784022">
                <a:moveTo>
                  <a:pt x="1784022" y="1784022"/>
                </a:moveTo>
                <a:lnTo>
                  <a:pt x="0" y="1784022"/>
                </a:lnTo>
                <a:lnTo>
                  <a:pt x="0" y="0"/>
                </a:lnTo>
                <a:lnTo>
                  <a:pt x="1784022" y="0"/>
                </a:lnTo>
                <a:lnTo>
                  <a:pt x="1784022" y="1784022"/>
                </a:lnTo>
                <a:close/>
              </a:path>
            </a:pathLst>
          </a:custGeom>
          <a:blipFill>
            <a:blip r:embed="rId9">
              <a:alphaModFix amt="19999"/>
              <a:extLst>
                <a:ext uri="{96DAC541-7B7A-43D3-8B79-37D633B846F1}">
                  <asvg:svgBlip xmlns:asvg="http://schemas.microsoft.com/office/drawing/2016/SVG/main" r:embed="rId10"/>
                </a:ext>
              </a:extLst>
            </a:blip>
            <a:stretch>
              <a:fillRect l="0" t="0" r="0" b="0"/>
            </a:stretch>
          </a:blipFill>
        </p:spPr>
      </p:sp>
      <p:grpSp>
        <p:nvGrpSpPr>
          <p:cNvPr name="Group 8" id="8"/>
          <p:cNvGrpSpPr/>
          <p:nvPr/>
        </p:nvGrpSpPr>
        <p:grpSpPr>
          <a:xfrm rot="0">
            <a:off x="9027839" y="2933744"/>
            <a:ext cx="6991079" cy="4122852"/>
            <a:chOff x="0" y="0"/>
            <a:chExt cx="1538268" cy="907164"/>
          </a:xfrm>
        </p:grpSpPr>
        <p:sp>
          <p:nvSpPr>
            <p:cNvPr name="Freeform 9" id="9"/>
            <p:cNvSpPr/>
            <p:nvPr/>
          </p:nvSpPr>
          <p:spPr>
            <a:xfrm flipH="false" flipV="false" rot="0">
              <a:off x="0" y="0"/>
              <a:ext cx="1538268" cy="907164"/>
            </a:xfrm>
            <a:custGeom>
              <a:avLst/>
              <a:gdLst/>
              <a:ahLst/>
              <a:cxnLst/>
              <a:rect r="r" b="b" t="t" l="l"/>
              <a:pathLst>
                <a:path h="907164" w="1538268">
                  <a:moveTo>
                    <a:pt x="25470" y="0"/>
                  </a:moveTo>
                  <a:lnTo>
                    <a:pt x="1512798" y="0"/>
                  </a:lnTo>
                  <a:cubicBezTo>
                    <a:pt x="1519553" y="0"/>
                    <a:pt x="1526032" y="2683"/>
                    <a:pt x="1530808" y="7460"/>
                  </a:cubicBezTo>
                  <a:cubicBezTo>
                    <a:pt x="1535585" y="12237"/>
                    <a:pt x="1538268" y="18715"/>
                    <a:pt x="1538268" y="25470"/>
                  </a:cubicBezTo>
                  <a:lnTo>
                    <a:pt x="1538268" y="881693"/>
                  </a:lnTo>
                  <a:cubicBezTo>
                    <a:pt x="1538268" y="888449"/>
                    <a:pt x="1535585" y="894927"/>
                    <a:pt x="1530808" y="899704"/>
                  </a:cubicBezTo>
                  <a:cubicBezTo>
                    <a:pt x="1526032" y="904480"/>
                    <a:pt x="1519553" y="907164"/>
                    <a:pt x="1512798" y="907164"/>
                  </a:cubicBezTo>
                  <a:lnTo>
                    <a:pt x="25470" y="907164"/>
                  </a:lnTo>
                  <a:cubicBezTo>
                    <a:pt x="18715" y="907164"/>
                    <a:pt x="12237" y="904480"/>
                    <a:pt x="7460" y="899704"/>
                  </a:cubicBezTo>
                  <a:cubicBezTo>
                    <a:pt x="2683" y="894927"/>
                    <a:pt x="0" y="888449"/>
                    <a:pt x="0" y="881693"/>
                  </a:cubicBezTo>
                  <a:lnTo>
                    <a:pt x="0" y="25470"/>
                  </a:lnTo>
                  <a:cubicBezTo>
                    <a:pt x="0" y="18715"/>
                    <a:pt x="2683" y="12237"/>
                    <a:pt x="7460" y="7460"/>
                  </a:cubicBezTo>
                  <a:cubicBezTo>
                    <a:pt x="12237" y="2683"/>
                    <a:pt x="18715" y="0"/>
                    <a:pt x="25470" y="0"/>
                  </a:cubicBezTo>
                  <a:close/>
                </a:path>
              </a:pathLst>
            </a:custGeom>
            <a:blipFill>
              <a:blip r:embed="rId11"/>
              <a:stretch>
                <a:fillRect l="0" t="-846" r="0" b="-846"/>
              </a:stretch>
            </a:blipFill>
            <a:ln w="19050" cap="rnd">
              <a:solidFill>
                <a:srgbClr val="000000"/>
              </a:solidFill>
              <a:prstDash val="solid"/>
              <a:round/>
            </a:ln>
          </p:spPr>
        </p:sp>
      </p:grpSp>
      <p:sp>
        <p:nvSpPr>
          <p:cNvPr name="TextBox 10" id="10"/>
          <p:cNvSpPr txBox="true"/>
          <p:nvPr/>
        </p:nvSpPr>
        <p:spPr>
          <a:xfrm rot="0">
            <a:off x="2295921" y="809059"/>
            <a:ext cx="12237579" cy="1193800"/>
          </a:xfrm>
          <a:prstGeom prst="rect">
            <a:avLst/>
          </a:prstGeom>
        </p:spPr>
        <p:txBody>
          <a:bodyPr anchor="t" rtlCol="false" tIns="0" lIns="0" bIns="0" rIns="0">
            <a:spAutoFit/>
          </a:bodyPr>
          <a:lstStyle/>
          <a:p>
            <a:pPr algn="l">
              <a:lnSpc>
                <a:spcPts val="9799"/>
              </a:lnSpc>
            </a:pPr>
            <a:r>
              <a:rPr lang="en-US" sz="6999" b="true">
                <a:solidFill>
                  <a:srgbClr val="245095"/>
                </a:solidFill>
                <a:latin typeface="Open Sans Bold"/>
                <a:ea typeface="Open Sans Bold"/>
                <a:cs typeface="Open Sans Bold"/>
                <a:sym typeface="Open Sans Bold"/>
              </a:rPr>
              <a:t>EDA setelah Pre-Processing</a:t>
            </a:r>
          </a:p>
        </p:txBody>
      </p:sp>
      <p:sp>
        <p:nvSpPr>
          <p:cNvPr name="TextBox 11" id="11"/>
          <p:cNvSpPr txBox="true"/>
          <p:nvPr/>
        </p:nvSpPr>
        <p:spPr>
          <a:xfrm rot="0">
            <a:off x="2269082" y="7499350"/>
            <a:ext cx="6331278" cy="1406525"/>
          </a:xfrm>
          <a:prstGeom prst="rect">
            <a:avLst/>
          </a:prstGeom>
        </p:spPr>
        <p:txBody>
          <a:bodyPr anchor="t" rtlCol="false" tIns="0" lIns="0" bIns="0" rIns="0">
            <a:spAutoFit/>
          </a:bodyPr>
          <a:lstStyle/>
          <a:p>
            <a:pPr algn="ctr">
              <a:lnSpc>
                <a:spcPts val="2800"/>
              </a:lnSpc>
            </a:pPr>
            <a:r>
              <a:rPr lang="en-US" sz="2000">
                <a:solidFill>
                  <a:srgbClr val="000000"/>
                </a:solidFill>
                <a:latin typeface="Open Sans"/>
                <a:ea typeface="Open Sans"/>
                <a:cs typeface="Open Sans"/>
                <a:sym typeface="Open Sans"/>
              </a:rPr>
              <a:t>Visualisasi menunjukkan distribusi sentimen yang tidak seimbang, dengan sentimen positif mendominasi, sentimen negatif berada di tingkat menengah, dan sentimen netral paling sedikit.</a:t>
            </a:r>
          </a:p>
        </p:txBody>
      </p:sp>
      <p:sp>
        <p:nvSpPr>
          <p:cNvPr name="TextBox 12" id="12"/>
          <p:cNvSpPr txBox="true"/>
          <p:nvPr/>
        </p:nvSpPr>
        <p:spPr>
          <a:xfrm rot="0">
            <a:off x="9357740" y="7499350"/>
            <a:ext cx="6331278" cy="1406525"/>
          </a:xfrm>
          <a:prstGeom prst="rect">
            <a:avLst/>
          </a:prstGeom>
        </p:spPr>
        <p:txBody>
          <a:bodyPr anchor="t" rtlCol="false" tIns="0" lIns="0" bIns="0" rIns="0">
            <a:spAutoFit/>
          </a:bodyPr>
          <a:lstStyle/>
          <a:p>
            <a:pPr algn="ctr">
              <a:lnSpc>
                <a:spcPts val="2800"/>
              </a:lnSpc>
            </a:pPr>
            <a:r>
              <a:rPr lang="en-US" sz="2000">
                <a:solidFill>
                  <a:srgbClr val="000000"/>
                </a:solidFill>
                <a:latin typeface="Open Sans"/>
                <a:ea typeface="Open Sans"/>
                <a:cs typeface="Open Sans"/>
                <a:sym typeface="Open Sans"/>
              </a:rPr>
              <a:t>Visualisasi menunjukkan distribusi sentimen yang tidak seimbang, dengan sentimen positif mendominasi, sentimen negatif berada di tingkat menengah, dan sentimen netral paling sedikit.</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903956" y="5598749"/>
            <a:ext cx="5189680" cy="855189"/>
            <a:chOff x="0" y="0"/>
            <a:chExt cx="1366829" cy="225235"/>
          </a:xfrm>
        </p:grpSpPr>
        <p:sp>
          <p:nvSpPr>
            <p:cNvPr name="Freeform 3" id="3"/>
            <p:cNvSpPr/>
            <p:nvPr/>
          </p:nvSpPr>
          <p:spPr>
            <a:xfrm flipH="false" flipV="false" rot="0">
              <a:off x="0" y="0"/>
              <a:ext cx="1366829" cy="225235"/>
            </a:xfrm>
            <a:custGeom>
              <a:avLst/>
              <a:gdLst/>
              <a:ahLst/>
              <a:cxnLst/>
              <a:rect r="r" b="b" t="t" l="l"/>
              <a:pathLst>
                <a:path h="225235" w="1366829">
                  <a:moveTo>
                    <a:pt x="76081" y="0"/>
                  </a:moveTo>
                  <a:lnTo>
                    <a:pt x="1290748" y="0"/>
                  </a:lnTo>
                  <a:cubicBezTo>
                    <a:pt x="1310926" y="0"/>
                    <a:pt x="1330278" y="8016"/>
                    <a:pt x="1344546" y="22284"/>
                  </a:cubicBezTo>
                  <a:cubicBezTo>
                    <a:pt x="1358814" y="36552"/>
                    <a:pt x="1366829" y="55903"/>
                    <a:pt x="1366829" y="76081"/>
                  </a:cubicBezTo>
                  <a:lnTo>
                    <a:pt x="1366829" y="149154"/>
                  </a:lnTo>
                  <a:cubicBezTo>
                    <a:pt x="1366829" y="169332"/>
                    <a:pt x="1358814" y="188683"/>
                    <a:pt x="1344546" y="202951"/>
                  </a:cubicBezTo>
                  <a:cubicBezTo>
                    <a:pt x="1330278" y="217219"/>
                    <a:pt x="1310926" y="225235"/>
                    <a:pt x="1290748" y="225235"/>
                  </a:cubicBezTo>
                  <a:lnTo>
                    <a:pt x="76081" y="225235"/>
                  </a:lnTo>
                  <a:cubicBezTo>
                    <a:pt x="55903" y="225235"/>
                    <a:pt x="36552" y="217219"/>
                    <a:pt x="22284" y="202951"/>
                  </a:cubicBezTo>
                  <a:cubicBezTo>
                    <a:pt x="8016" y="188683"/>
                    <a:pt x="0" y="169332"/>
                    <a:pt x="0" y="149154"/>
                  </a:cubicBezTo>
                  <a:lnTo>
                    <a:pt x="0" y="76081"/>
                  </a:lnTo>
                  <a:cubicBezTo>
                    <a:pt x="0" y="55903"/>
                    <a:pt x="8016" y="36552"/>
                    <a:pt x="22284" y="22284"/>
                  </a:cubicBezTo>
                  <a:cubicBezTo>
                    <a:pt x="36552" y="8016"/>
                    <a:pt x="55903" y="0"/>
                    <a:pt x="76081" y="0"/>
                  </a:cubicBezTo>
                  <a:close/>
                </a:path>
              </a:pathLst>
            </a:custGeom>
            <a:solidFill>
              <a:srgbClr val="245095"/>
            </a:solidFill>
          </p:spPr>
        </p:sp>
        <p:sp>
          <p:nvSpPr>
            <p:cNvPr name="TextBox 4" id="4"/>
            <p:cNvSpPr txBox="true"/>
            <p:nvPr/>
          </p:nvSpPr>
          <p:spPr>
            <a:xfrm>
              <a:off x="0" y="-57150"/>
              <a:ext cx="1366829" cy="282385"/>
            </a:xfrm>
            <a:prstGeom prst="rect">
              <a:avLst/>
            </a:prstGeom>
          </p:spPr>
          <p:txBody>
            <a:bodyPr anchor="ctr" rtlCol="false" tIns="50800" lIns="50800" bIns="50800" rIns="50800"/>
            <a:lstStyle/>
            <a:p>
              <a:pPr algn="ctr">
                <a:lnSpc>
                  <a:spcPts val="3643"/>
                </a:lnSpc>
              </a:pPr>
            </a:p>
          </p:txBody>
        </p:sp>
      </p:grpSp>
      <p:sp>
        <p:nvSpPr>
          <p:cNvPr name="TextBox 5" id="5"/>
          <p:cNvSpPr txBox="true"/>
          <p:nvPr/>
        </p:nvSpPr>
        <p:spPr>
          <a:xfrm rot="0">
            <a:off x="2508640" y="5730936"/>
            <a:ext cx="5980311" cy="481330"/>
          </a:xfrm>
          <a:prstGeom prst="rect">
            <a:avLst/>
          </a:prstGeom>
        </p:spPr>
        <p:txBody>
          <a:bodyPr anchor="t" rtlCol="false" tIns="0" lIns="0" bIns="0" rIns="0">
            <a:spAutoFit/>
          </a:bodyPr>
          <a:lstStyle/>
          <a:p>
            <a:pPr algn="ctr">
              <a:lnSpc>
                <a:spcPts val="3920"/>
              </a:lnSpc>
            </a:pPr>
            <a:r>
              <a:rPr lang="en-US" sz="2800" b="true">
                <a:solidFill>
                  <a:srgbClr val="FFFFFF"/>
                </a:solidFill>
                <a:latin typeface="Open Sans Bold"/>
                <a:ea typeface="Open Sans Bold"/>
                <a:cs typeface="Open Sans Bold"/>
                <a:sym typeface="Open Sans Bold"/>
              </a:rPr>
              <a:t>TF-IDF</a:t>
            </a:r>
          </a:p>
        </p:txBody>
      </p:sp>
      <p:grpSp>
        <p:nvGrpSpPr>
          <p:cNvPr name="Group 6" id="6"/>
          <p:cNvGrpSpPr/>
          <p:nvPr/>
        </p:nvGrpSpPr>
        <p:grpSpPr>
          <a:xfrm rot="0">
            <a:off x="2508640" y="5172861"/>
            <a:ext cx="908975" cy="90897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DC8"/>
            </a:solidFill>
          </p:spPr>
        </p:sp>
        <p:sp>
          <p:nvSpPr>
            <p:cNvPr name="TextBox 8" id="8"/>
            <p:cNvSpPr txBox="true"/>
            <p:nvPr/>
          </p:nvSpPr>
          <p:spPr>
            <a:xfrm>
              <a:off x="76200" y="19050"/>
              <a:ext cx="660400" cy="717550"/>
            </a:xfrm>
            <a:prstGeom prst="rect">
              <a:avLst/>
            </a:prstGeom>
          </p:spPr>
          <p:txBody>
            <a:bodyPr anchor="ctr" rtlCol="false" tIns="50800" lIns="50800" bIns="50800" rIns="50800"/>
            <a:lstStyle/>
            <a:p>
              <a:pPr algn="ctr">
                <a:lnSpc>
                  <a:spcPts val="3643"/>
                </a:lnSpc>
              </a:pPr>
            </a:p>
          </p:txBody>
        </p:sp>
      </p:grpSp>
      <p:sp>
        <p:nvSpPr>
          <p:cNvPr name="Freeform 9" id="9"/>
          <p:cNvSpPr/>
          <p:nvPr/>
        </p:nvSpPr>
        <p:spPr>
          <a:xfrm flipH="false" flipV="false" rot="0">
            <a:off x="2734815" y="5399036"/>
            <a:ext cx="456625" cy="456625"/>
          </a:xfrm>
          <a:custGeom>
            <a:avLst/>
            <a:gdLst/>
            <a:ahLst/>
            <a:cxnLst/>
            <a:rect r="r" b="b" t="t" l="l"/>
            <a:pathLst>
              <a:path h="456625" w="456625">
                <a:moveTo>
                  <a:pt x="0" y="0"/>
                </a:moveTo>
                <a:lnTo>
                  <a:pt x="456626" y="0"/>
                </a:lnTo>
                <a:lnTo>
                  <a:pt x="456626" y="456626"/>
                </a:lnTo>
                <a:lnTo>
                  <a:pt x="0" y="45662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true" rot="0">
            <a:off x="0" y="8160499"/>
            <a:ext cx="1988278" cy="2126501"/>
          </a:xfrm>
          <a:custGeom>
            <a:avLst/>
            <a:gdLst/>
            <a:ahLst/>
            <a:cxnLst/>
            <a:rect r="r" b="b" t="t" l="l"/>
            <a:pathLst>
              <a:path h="2126501" w="1988278">
                <a:moveTo>
                  <a:pt x="0" y="2126501"/>
                </a:moveTo>
                <a:lnTo>
                  <a:pt x="1988278" y="2126501"/>
                </a:lnTo>
                <a:lnTo>
                  <a:pt x="1988278" y="0"/>
                </a:lnTo>
                <a:lnTo>
                  <a:pt x="0" y="0"/>
                </a:lnTo>
                <a:lnTo>
                  <a:pt x="0" y="2126501"/>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6310134" y="39010"/>
            <a:ext cx="1974988" cy="2126501"/>
          </a:xfrm>
          <a:custGeom>
            <a:avLst/>
            <a:gdLst/>
            <a:ahLst/>
            <a:cxnLst/>
            <a:rect r="r" b="b" t="t" l="l"/>
            <a:pathLst>
              <a:path h="2126501" w="1974988">
                <a:moveTo>
                  <a:pt x="0" y="0"/>
                </a:moveTo>
                <a:lnTo>
                  <a:pt x="1974988" y="0"/>
                </a:lnTo>
                <a:lnTo>
                  <a:pt x="1974988" y="2126501"/>
                </a:lnTo>
                <a:lnTo>
                  <a:pt x="0" y="212650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false" flipV="false" rot="5067791">
            <a:off x="-503391" y="-429831"/>
            <a:ext cx="1464840" cy="1464840"/>
          </a:xfrm>
          <a:custGeom>
            <a:avLst/>
            <a:gdLst/>
            <a:ahLst/>
            <a:cxnLst/>
            <a:rect r="r" b="b" t="t" l="l"/>
            <a:pathLst>
              <a:path h="1464840" w="1464840">
                <a:moveTo>
                  <a:pt x="0" y="0"/>
                </a:moveTo>
                <a:lnTo>
                  <a:pt x="1464841" y="0"/>
                </a:lnTo>
                <a:lnTo>
                  <a:pt x="1464841" y="1464841"/>
                </a:lnTo>
                <a:lnTo>
                  <a:pt x="0" y="1464841"/>
                </a:lnTo>
                <a:lnTo>
                  <a:pt x="0" y="0"/>
                </a:lnTo>
                <a:close/>
              </a:path>
            </a:pathLst>
          </a:custGeom>
          <a:blipFill>
            <a:blip r:embed="rId8">
              <a:alphaModFix amt="19999"/>
              <a:extLst>
                <a:ext uri="{96DAC541-7B7A-43D3-8B79-37D633B846F1}">
                  <asvg:svgBlip xmlns:asvg="http://schemas.microsoft.com/office/drawing/2016/SVG/main" r:embed="rId9"/>
                </a:ext>
              </a:extLst>
            </a:blip>
            <a:stretch>
              <a:fillRect l="0" t="0" r="0" b="0"/>
            </a:stretch>
          </a:blipFill>
        </p:spPr>
      </p:sp>
      <p:sp>
        <p:nvSpPr>
          <p:cNvPr name="Freeform 13" id="13"/>
          <p:cNvSpPr/>
          <p:nvPr/>
        </p:nvSpPr>
        <p:spPr>
          <a:xfrm flipH="false" flipV="false" rot="0">
            <a:off x="16456322" y="9223750"/>
            <a:ext cx="3657600" cy="1911096"/>
          </a:xfrm>
          <a:custGeom>
            <a:avLst/>
            <a:gdLst/>
            <a:ahLst/>
            <a:cxnLst/>
            <a:rect r="r" b="b" t="t" l="l"/>
            <a:pathLst>
              <a:path h="1911096" w="3657600">
                <a:moveTo>
                  <a:pt x="0" y="0"/>
                </a:moveTo>
                <a:lnTo>
                  <a:pt x="3657600" y="0"/>
                </a:lnTo>
                <a:lnTo>
                  <a:pt x="3657600" y="1911096"/>
                </a:lnTo>
                <a:lnTo>
                  <a:pt x="0" y="191109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4" id="14"/>
          <p:cNvSpPr txBox="true"/>
          <p:nvPr/>
        </p:nvSpPr>
        <p:spPr>
          <a:xfrm rot="0">
            <a:off x="4014235" y="1129366"/>
            <a:ext cx="10259531" cy="1193800"/>
          </a:xfrm>
          <a:prstGeom prst="rect">
            <a:avLst/>
          </a:prstGeom>
        </p:spPr>
        <p:txBody>
          <a:bodyPr anchor="t" rtlCol="false" tIns="0" lIns="0" bIns="0" rIns="0">
            <a:spAutoFit/>
          </a:bodyPr>
          <a:lstStyle/>
          <a:p>
            <a:pPr algn="ctr">
              <a:lnSpc>
                <a:spcPts val="9799"/>
              </a:lnSpc>
            </a:pPr>
            <a:r>
              <a:rPr lang="en-US" sz="6999" b="true">
                <a:solidFill>
                  <a:srgbClr val="245095"/>
                </a:solidFill>
                <a:latin typeface="Open Sans Bold"/>
                <a:ea typeface="Open Sans Bold"/>
                <a:cs typeface="Open Sans Bold"/>
                <a:sym typeface="Open Sans Bold"/>
              </a:rPr>
              <a:t>Feature Engineering</a:t>
            </a:r>
          </a:p>
        </p:txBody>
      </p:sp>
      <p:grpSp>
        <p:nvGrpSpPr>
          <p:cNvPr name="Group 15" id="15"/>
          <p:cNvGrpSpPr/>
          <p:nvPr/>
        </p:nvGrpSpPr>
        <p:grpSpPr>
          <a:xfrm rot="0">
            <a:off x="3984277" y="3140299"/>
            <a:ext cx="10319446" cy="1626635"/>
            <a:chOff x="0" y="0"/>
            <a:chExt cx="2717879" cy="428414"/>
          </a:xfrm>
        </p:grpSpPr>
        <p:sp>
          <p:nvSpPr>
            <p:cNvPr name="Freeform 16" id="16"/>
            <p:cNvSpPr/>
            <p:nvPr/>
          </p:nvSpPr>
          <p:spPr>
            <a:xfrm flipH="false" flipV="false" rot="0">
              <a:off x="0" y="0"/>
              <a:ext cx="2717879" cy="428414"/>
            </a:xfrm>
            <a:custGeom>
              <a:avLst/>
              <a:gdLst/>
              <a:ahLst/>
              <a:cxnLst/>
              <a:rect r="r" b="b" t="t" l="l"/>
              <a:pathLst>
                <a:path h="428414" w="2717879">
                  <a:moveTo>
                    <a:pt x="19506" y="0"/>
                  </a:moveTo>
                  <a:lnTo>
                    <a:pt x="2698373" y="0"/>
                  </a:lnTo>
                  <a:cubicBezTo>
                    <a:pt x="2709146" y="0"/>
                    <a:pt x="2717879" y="8733"/>
                    <a:pt x="2717879" y="19506"/>
                  </a:cubicBezTo>
                  <a:lnTo>
                    <a:pt x="2717879" y="408908"/>
                  </a:lnTo>
                  <a:cubicBezTo>
                    <a:pt x="2717879" y="419681"/>
                    <a:pt x="2709146" y="428414"/>
                    <a:pt x="2698373" y="428414"/>
                  </a:cubicBezTo>
                  <a:lnTo>
                    <a:pt x="19506" y="428414"/>
                  </a:lnTo>
                  <a:cubicBezTo>
                    <a:pt x="8733" y="428414"/>
                    <a:pt x="0" y="419681"/>
                    <a:pt x="0" y="408908"/>
                  </a:cubicBezTo>
                  <a:lnTo>
                    <a:pt x="0" y="19506"/>
                  </a:lnTo>
                  <a:cubicBezTo>
                    <a:pt x="0" y="8733"/>
                    <a:pt x="8733" y="0"/>
                    <a:pt x="19506" y="0"/>
                  </a:cubicBezTo>
                  <a:close/>
                </a:path>
              </a:pathLst>
            </a:custGeom>
            <a:solidFill>
              <a:srgbClr val="D9D9D9"/>
            </a:solidFill>
          </p:spPr>
        </p:sp>
        <p:sp>
          <p:nvSpPr>
            <p:cNvPr name="TextBox 17" id="17"/>
            <p:cNvSpPr txBox="true"/>
            <p:nvPr/>
          </p:nvSpPr>
          <p:spPr>
            <a:xfrm>
              <a:off x="0" y="-57150"/>
              <a:ext cx="2717879" cy="485564"/>
            </a:xfrm>
            <a:prstGeom prst="rect">
              <a:avLst/>
            </a:prstGeom>
          </p:spPr>
          <p:txBody>
            <a:bodyPr anchor="ctr" rtlCol="false" tIns="50800" lIns="50800" bIns="50800" rIns="50800"/>
            <a:lstStyle/>
            <a:p>
              <a:pPr algn="ctr">
                <a:lnSpc>
                  <a:spcPts val="3643"/>
                </a:lnSpc>
              </a:pPr>
            </a:p>
          </p:txBody>
        </p:sp>
      </p:grpSp>
      <p:sp>
        <p:nvSpPr>
          <p:cNvPr name="TextBox 18" id="18"/>
          <p:cNvSpPr txBox="true"/>
          <p:nvPr/>
        </p:nvSpPr>
        <p:spPr>
          <a:xfrm rot="0">
            <a:off x="4090435" y="3402754"/>
            <a:ext cx="10041832" cy="1054100"/>
          </a:xfrm>
          <a:prstGeom prst="rect">
            <a:avLst/>
          </a:prstGeom>
        </p:spPr>
        <p:txBody>
          <a:bodyPr anchor="t" rtlCol="false" tIns="0" lIns="0" bIns="0" rIns="0">
            <a:spAutoFit/>
          </a:bodyPr>
          <a:lstStyle/>
          <a:p>
            <a:pPr algn="ctr">
              <a:lnSpc>
                <a:spcPts val="2800"/>
              </a:lnSpc>
            </a:pPr>
            <a:r>
              <a:rPr lang="en-US" sz="2000">
                <a:solidFill>
                  <a:srgbClr val="000000"/>
                </a:solidFill>
                <a:latin typeface="Open Sans"/>
                <a:ea typeface="Open Sans"/>
                <a:cs typeface="Open Sans"/>
                <a:sym typeface="Open Sans"/>
              </a:rPr>
              <a:t>Pengubahan teks hasil pre-processing menjadi representasi numerik sangat diperlukan, karena algoritma machine learning tidak dapat memproses teks secara langsung. Sehingga diperlukan dua metode berbeda sesuai dengan tujuan analisis</a:t>
            </a:r>
          </a:p>
        </p:txBody>
      </p:sp>
      <p:sp>
        <p:nvSpPr>
          <p:cNvPr name="TextBox 19" id="19"/>
          <p:cNvSpPr txBox="true"/>
          <p:nvPr/>
        </p:nvSpPr>
        <p:spPr>
          <a:xfrm rot="0">
            <a:off x="2508640" y="6865923"/>
            <a:ext cx="5584995" cy="1758950"/>
          </a:xfrm>
          <a:prstGeom prst="rect">
            <a:avLst/>
          </a:prstGeom>
        </p:spPr>
        <p:txBody>
          <a:bodyPr anchor="t" rtlCol="false" tIns="0" lIns="0" bIns="0" rIns="0">
            <a:spAutoFit/>
          </a:bodyPr>
          <a:lstStyle/>
          <a:p>
            <a:pPr algn="l" marL="431802" indent="-215901" lvl="1">
              <a:lnSpc>
                <a:spcPts val="2800"/>
              </a:lnSpc>
              <a:buFont typeface="Arial"/>
              <a:buChar char="•"/>
            </a:pPr>
            <a:r>
              <a:rPr lang="en-US" sz="2000">
                <a:solidFill>
                  <a:srgbClr val="000000"/>
                </a:solidFill>
                <a:latin typeface="Open Sans"/>
                <a:ea typeface="Open Sans"/>
                <a:cs typeface="Open Sans"/>
                <a:sym typeface="Open Sans"/>
              </a:rPr>
              <a:t>Digunakan untuk klasifikasi sentimen (Naive Bayes)</a:t>
            </a:r>
          </a:p>
          <a:p>
            <a:pPr algn="l" marL="431802" indent="-215901" lvl="1">
              <a:lnSpc>
                <a:spcPts val="2800"/>
              </a:lnSpc>
              <a:buFont typeface="Arial"/>
              <a:buChar char="•"/>
            </a:pPr>
            <a:r>
              <a:rPr lang="en-US" sz="2000">
                <a:solidFill>
                  <a:srgbClr val="000000"/>
                </a:solidFill>
                <a:latin typeface="Open Sans"/>
                <a:ea typeface="Open Sans"/>
                <a:cs typeface="Open Sans"/>
                <a:sym typeface="Open Sans"/>
              </a:rPr>
              <a:t>Memberikan bobot pada kata-kata yang dianggap lebih informatif dalam suatu dokumen.</a:t>
            </a:r>
          </a:p>
        </p:txBody>
      </p:sp>
      <p:grpSp>
        <p:nvGrpSpPr>
          <p:cNvPr name="Group 20" id="20"/>
          <p:cNvGrpSpPr/>
          <p:nvPr/>
        </p:nvGrpSpPr>
        <p:grpSpPr>
          <a:xfrm rot="0">
            <a:off x="10194364" y="5584068"/>
            <a:ext cx="5189680" cy="855189"/>
            <a:chOff x="0" y="0"/>
            <a:chExt cx="1366829" cy="225235"/>
          </a:xfrm>
        </p:grpSpPr>
        <p:sp>
          <p:nvSpPr>
            <p:cNvPr name="Freeform 21" id="21"/>
            <p:cNvSpPr/>
            <p:nvPr/>
          </p:nvSpPr>
          <p:spPr>
            <a:xfrm flipH="false" flipV="false" rot="0">
              <a:off x="0" y="0"/>
              <a:ext cx="1366829" cy="225235"/>
            </a:xfrm>
            <a:custGeom>
              <a:avLst/>
              <a:gdLst/>
              <a:ahLst/>
              <a:cxnLst/>
              <a:rect r="r" b="b" t="t" l="l"/>
              <a:pathLst>
                <a:path h="225235" w="1366829">
                  <a:moveTo>
                    <a:pt x="76081" y="0"/>
                  </a:moveTo>
                  <a:lnTo>
                    <a:pt x="1290748" y="0"/>
                  </a:lnTo>
                  <a:cubicBezTo>
                    <a:pt x="1310926" y="0"/>
                    <a:pt x="1330278" y="8016"/>
                    <a:pt x="1344546" y="22284"/>
                  </a:cubicBezTo>
                  <a:cubicBezTo>
                    <a:pt x="1358814" y="36552"/>
                    <a:pt x="1366829" y="55903"/>
                    <a:pt x="1366829" y="76081"/>
                  </a:cubicBezTo>
                  <a:lnTo>
                    <a:pt x="1366829" y="149154"/>
                  </a:lnTo>
                  <a:cubicBezTo>
                    <a:pt x="1366829" y="169332"/>
                    <a:pt x="1358814" y="188683"/>
                    <a:pt x="1344546" y="202951"/>
                  </a:cubicBezTo>
                  <a:cubicBezTo>
                    <a:pt x="1330278" y="217219"/>
                    <a:pt x="1310926" y="225235"/>
                    <a:pt x="1290748" y="225235"/>
                  </a:cubicBezTo>
                  <a:lnTo>
                    <a:pt x="76081" y="225235"/>
                  </a:lnTo>
                  <a:cubicBezTo>
                    <a:pt x="55903" y="225235"/>
                    <a:pt x="36552" y="217219"/>
                    <a:pt x="22284" y="202951"/>
                  </a:cubicBezTo>
                  <a:cubicBezTo>
                    <a:pt x="8016" y="188683"/>
                    <a:pt x="0" y="169332"/>
                    <a:pt x="0" y="149154"/>
                  </a:cubicBezTo>
                  <a:lnTo>
                    <a:pt x="0" y="76081"/>
                  </a:lnTo>
                  <a:cubicBezTo>
                    <a:pt x="0" y="55903"/>
                    <a:pt x="8016" y="36552"/>
                    <a:pt x="22284" y="22284"/>
                  </a:cubicBezTo>
                  <a:cubicBezTo>
                    <a:pt x="36552" y="8016"/>
                    <a:pt x="55903" y="0"/>
                    <a:pt x="76081" y="0"/>
                  </a:cubicBezTo>
                  <a:close/>
                </a:path>
              </a:pathLst>
            </a:custGeom>
            <a:solidFill>
              <a:srgbClr val="245095"/>
            </a:solidFill>
          </p:spPr>
        </p:sp>
        <p:sp>
          <p:nvSpPr>
            <p:cNvPr name="TextBox 22" id="22"/>
            <p:cNvSpPr txBox="true"/>
            <p:nvPr/>
          </p:nvSpPr>
          <p:spPr>
            <a:xfrm>
              <a:off x="0" y="-57150"/>
              <a:ext cx="1366829" cy="282385"/>
            </a:xfrm>
            <a:prstGeom prst="rect">
              <a:avLst/>
            </a:prstGeom>
          </p:spPr>
          <p:txBody>
            <a:bodyPr anchor="ctr" rtlCol="false" tIns="50800" lIns="50800" bIns="50800" rIns="50800"/>
            <a:lstStyle/>
            <a:p>
              <a:pPr algn="ctr">
                <a:lnSpc>
                  <a:spcPts val="3643"/>
                </a:lnSpc>
              </a:pPr>
            </a:p>
          </p:txBody>
        </p:sp>
      </p:grpSp>
      <p:sp>
        <p:nvSpPr>
          <p:cNvPr name="TextBox 23" id="23"/>
          <p:cNvSpPr txBox="true"/>
          <p:nvPr/>
        </p:nvSpPr>
        <p:spPr>
          <a:xfrm rot="0">
            <a:off x="9799049" y="5716255"/>
            <a:ext cx="5980311" cy="481330"/>
          </a:xfrm>
          <a:prstGeom prst="rect">
            <a:avLst/>
          </a:prstGeom>
        </p:spPr>
        <p:txBody>
          <a:bodyPr anchor="t" rtlCol="false" tIns="0" lIns="0" bIns="0" rIns="0">
            <a:spAutoFit/>
          </a:bodyPr>
          <a:lstStyle/>
          <a:p>
            <a:pPr algn="ctr">
              <a:lnSpc>
                <a:spcPts val="3920"/>
              </a:lnSpc>
            </a:pPr>
            <a:r>
              <a:rPr lang="en-US" sz="2800" b="true">
                <a:solidFill>
                  <a:srgbClr val="FFFFFF"/>
                </a:solidFill>
                <a:latin typeface="Open Sans Bold"/>
                <a:ea typeface="Open Sans Bold"/>
                <a:cs typeface="Open Sans Bold"/>
                <a:sym typeface="Open Sans Bold"/>
              </a:rPr>
              <a:t>Bag of Words (BoW)</a:t>
            </a:r>
          </a:p>
        </p:txBody>
      </p:sp>
      <p:grpSp>
        <p:nvGrpSpPr>
          <p:cNvPr name="Group 24" id="24"/>
          <p:cNvGrpSpPr/>
          <p:nvPr/>
        </p:nvGrpSpPr>
        <p:grpSpPr>
          <a:xfrm rot="0">
            <a:off x="14870384" y="5143500"/>
            <a:ext cx="908975" cy="908975"/>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DC8"/>
            </a:solidFill>
          </p:spPr>
        </p:sp>
        <p:sp>
          <p:nvSpPr>
            <p:cNvPr name="TextBox 26" id="26"/>
            <p:cNvSpPr txBox="true"/>
            <p:nvPr/>
          </p:nvSpPr>
          <p:spPr>
            <a:xfrm>
              <a:off x="76200" y="19050"/>
              <a:ext cx="660400" cy="717550"/>
            </a:xfrm>
            <a:prstGeom prst="rect">
              <a:avLst/>
            </a:prstGeom>
          </p:spPr>
          <p:txBody>
            <a:bodyPr anchor="ctr" rtlCol="false" tIns="50800" lIns="50800" bIns="50800" rIns="50800"/>
            <a:lstStyle/>
            <a:p>
              <a:pPr algn="ctr">
                <a:lnSpc>
                  <a:spcPts val="3643"/>
                </a:lnSpc>
              </a:pPr>
            </a:p>
          </p:txBody>
        </p:sp>
      </p:grpSp>
      <p:sp>
        <p:nvSpPr>
          <p:cNvPr name="Freeform 27" id="27"/>
          <p:cNvSpPr/>
          <p:nvPr/>
        </p:nvSpPr>
        <p:spPr>
          <a:xfrm flipH="false" flipV="false" rot="0">
            <a:off x="15096559" y="5369675"/>
            <a:ext cx="456625" cy="456625"/>
          </a:xfrm>
          <a:custGeom>
            <a:avLst/>
            <a:gdLst/>
            <a:ahLst/>
            <a:cxnLst/>
            <a:rect r="r" b="b" t="t" l="l"/>
            <a:pathLst>
              <a:path h="456625" w="456625">
                <a:moveTo>
                  <a:pt x="0" y="0"/>
                </a:moveTo>
                <a:lnTo>
                  <a:pt x="456626" y="0"/>
                </a:lnTo>
                <a:lnTo>
                  <a:pt x="456626" y="456625"/>
                </a:lnTo>
                <a:lnTo>
                  <a:pt x="0" y="45662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28" id="28"/>
          <p:cNvSpPr txBox="true"/>
          <p:nvPr/>
        </p:nvSpPr>
        <p:spPr>
          <a:xfrm rot="0">
            <a:off x="10005204" y="6865923"/>
            <a:ext cx="5980311" cy="1758950"/>
          </a:xfrm>
          <a:prstGeom prst="rect">
            <a:avLst/>
          </a:prstGeom>
        </p:spPr>
        <p:txBody>
          <a:bodyPr anchor="t" rtlCol="false" tIns="0" lIns="0" bIns="0" rIns="0">
            <a:spAutoFit/>
          </a:bodyPr>
          <a:lstStyle/>
          <a:p>
            <a:pPr algn="l" marL="431802" indent="-215901" lvl="1">
              <a:lnSpc>
                <a:spcPts val="2800"/>
              </a:lnSpc>
              <a:buFont typeface="Arial"/>
              <a:buChar char="•"/>
            </a:pPr>
            <a:r>
              <a:rPr lang="en-US" sz="2000">
                <a:solidFill>
                  <a:srgbClr val="000000"/>
                </a:solidFill>
                <a:latin typeface="Open Sans"/>
                <a:ea typeface="Open Sans"/>
                <a:cs typeface="Open Sans"/>
                <a:sym typeface="Open Sans"/>
              </a:rPr>
              <a:t>Digunakan pada topic modelling menggunakan LDA untuk membentuk corpus &amp; dictionary LDA</a:t>
            </a:r>
          </a:p>
          <a:p>
            <a:pPr algn="l" marL="431802" indent="-215901" lvl="1">
              <a:lnSpc>
                <a:spcPts val="2800"/>
              </a:lnSpc>
              <a:buFont typeface="Arial"/>
              <a:buChar char="•"/>
            </a:pPr>
            <a:r>
              <a:rPr lang="en-US" sz="2000">
                <a:solidFill>
                  <a:srgbClr val="000000"/>
                </a:solidFill>
                <a:latin typeface="Open Sans"/>
                <a:ea typeface="Open Sans"/>
                <a:cs typeface="Open Sans"/>
                <a:sym typeface="Open Sans"/>
              </a:rPr>
              <a:t>Bekerja berdasarkan distribusi frekuensi kata dalam dokumen</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767043" y="77110"/>
            <a:ext cx="2520957" cy="2520957"/>
          </a:xfrm>
          <a:custGeom>
            <a:avLst/>
            <a:gdLst/>
            <a:ahLst/>
            <a:cxnLst/>
            <a:rect r="r" b="b" t="t" l="l"/>
            <a:pathLst>
              <a:path h="2520957" w="2520957">
                <a:moveTo>
                  <a:pt x="0" y="0"/>
                </a:moveTo>
                <a:lnTo>
                  <a:pt x="2520957" y="0"/>
                </a:lnTo>
                <a:lnTo>
                  <a:pt x="2520957" y="2520957"/>
                </a:lnTo>
                <a:lnTo>
                  <a:pt x="0" y="252095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5400000">
            <a:off x="17270954" y="9119166"/>
            <a:ext cx="896962" cy="1175230"/>
            <a:chOff x="0" y="0"/>
            <a:chExt cx="1195949" cy="1566974"/>
          </a:xfrm>
        </p:grpSpPr>
        <p:sp>
          <p:nvSpPr>
            <p:cNvPr name="Freeform 4" id="4"/>
            <p:cNvSpPr/>
            <p:nvPr/>
          </p:nvSpPr>
          <p:spPr>
            <a:xfrm flipH="false" flipV="false" rot="0">
              <a:off x="0" y="706492"/>
              <a:ext cx="1195949" cy="860481"/>
            </a:xfrm>
            <a:custGeom>
              <a:avLst/>
              <a:gdLst/>
              <a:ahLst/>
              <a:cxnLst/>
              <a:rect r="r" b="b" t="t" l="l"/>
              <a:pathLst>
                <a:path h="860481" w="1195949">
                  <a:moveTo>
                    <a:pt x="0" y="0"/>
                  </a:moveTo>
                  <a:lnTo>
                    <a:pt x="1195949" y="0"/>
                  </a:lnTo>
                  <a:lnTo>
                    <a:pt x="1195949" y="860482"/>
                  </a:lnTo>
                  <a:lnTo>
                    <a:pt x="0" y="860482"/>
                  </a:lnTo>
                  <a:lnTo>
                    <a:pt x="0" y="0"/>
                  </a:lnTo>
                  <a:close/>
                </a:path>
              </a:pathLst>
            </a:custGeom>
            <a:blipFill>
              <a:blip r:embed="rId4">
                <a:extLst>
                  <a:ext uri="{96DAC541-7B7A-43D3-8B79-37D633B846F1}">
                    <asvg:svgBlip xmlns:asvg="http://schemas.microsoft.com/office/drawing/2016/SVG/main" r:embed="rId5"/>
                  </a:ext>
                </a:extLst>
              </a:blip>
              <a:stretch>
                <a:fillRect l="0" t="-62625" r="-57890" b="-56820"/>
              </a:stretch>
            </a:blipFill>
          </p:spPr>
        </p:sp>
        <p:sp>
          <p:nvSpPr>
            <p:cNvPr name="Freeform 5" id="5"/>
            <p:cNvSpPr/>
            <p:nvPr/>
          </p:nvSpPr>
          <p:spPr>
            <a:xfrm flipH="false" flipV="false" rot="0">
              <a:off x="0" y="0"/>
              <a:ext cx="1195949" cy="860481"/>
            </a:xfrm>
            <a:custGeom>
              <a:avLst/>
              <a:gdLst/>
              <a:ahLst/>
              <a:cxnLst/>
              <a:rect r="r" b="b" t="t" l="l"/>
              <a:pathLst>
                <a:path h="860481" w="1195949">
                  <a:moveTo>
                    <a:pt x="0" y="0"/>
                  </a:moveTo>
                  <a:lnTo>
                    <a:pt x="1195949" y="0"/>
                  </a:lnTo>
                  <a:lnTo>
                    <a:pt x="1195949" y="860481"/>
                  </a:lnTo>
                  <a:lnTo>
                    <a:pt x="0" y="860481"/>
                  </a:lnTo>
                  <a:lnTo>
                    <a:pt x="0" y="0"/>
                  </a:lnTo>
                  <a:close/>
                </a:path>
              </a:pathLst>
            </a:custGeom>
            <a:blipFill>
              <a:blip r:embed="rId4">
                <a:extLst>
                  <a:ext uri="{96DAC541-7B7A-43D3-8B79-37D633B846F1}">
                    <asvg:svgBlip xmlns:asvg="http://schemas.microsoft.com/office/drawing/2016/SVG/main" r:embed="rId5"/>
                  </a:ext>
                </a:extLst>
              </a:blip>
              <a:stretch>
                <a:fillRect l="0" t="-62625" r="-57890" b="-56820"/>
              </a:stretch>
            </a:blipFill>
          </p:spPr>
        </p:sp>
      </p:grpSp>
      <p:sp>
        <p:nvSpPr>
          <p:cNvPr name="Freeform 6" id="6"/>
          <p:cNvSpPr/>
          <p:nvPr/>
        </p:nvSpPr>
        <p:spPr>
          <a:xfrm flipH="true" flipV="false" rot="0">
            <a:off x="-3448881" y="-329184"/>
            <a:ext cx="7315200" cy="658368"/>
          </a:xfrm>
          <a:custGeom>
            <a:avLst/>
            <a:gdLst/>
            <a:ahLst/>
            <a:cxnLst/>
            <a:rect r="r" b="b" t="t" l="l"/>
            <a:pathLst>
              <a:path h="658368" w="7315200">
                <a:moveTo>
                  <a:pt x="7315200" y="0"/>
                </a:moveTo>
                <a:lnTo>
                  <a:pt x="0" y="0"/>
                </a:lnTo>
                <a:lnTo>
                  <a:pt x="0" y="658368"/>
                </a:lnTo>
                <a:lnTo>
                  <a:pt x="7315200" y="658368"/>
                </a:lnTo>
                <a:lnTo>
                  <a:pt x="7315200" y="0"/>
                </a:lnTo>
                <a:close/>
              </a:path>
            </a:pathLst>
          </a:custGeom>
          <a:blipFill>
            <a:blip r:embed="rId6">
              <a:extLst>
                <a:ext uri="{96DAC541-7B7A-43D3-8B79-37D633B846F1}">
                  <asvg:svgBlip xmlns:asvg="http://schemas.microsoft.com/office/drawing/2016/SVG/main" r:embed="rId7"/>
                </a:ext>
              </a:extLst>
            </a:blip>
            <a:stretch>
              <a:fillRect l="-10767" t="-45011" r="-34243" b="0"/>
            </a:stretch>
          </a:blipFill>
        </p:spPr>
      </p:sp>
      <p:sp>
        <p:nvSpPr>
          <p:cNvPr name="Freeform 7" id="7"/>
          <p:cNvSpPr/>
          <p:nvPr/>
        </p:nvSpPr>
        <p:spPr>
          <a:xfrm flipH="false" flipV="false" rot="0">
            <a:off x="3062998" y="3715385"/>
            <a:ext cx="6081002" cy="2574439"/>
          </a:xfrm>
          <a:custGeom>
            <a:avLst/>
            <a:gdLst/>
            <a:ahLst/>
            <a:cxnLst/>
            <a:rect r="r" b="b" t="t" l="l"/>
            <a:pathLst>
              <a:path h="2574439" w="6081002">
                <a:moveTo>
                  <a:pt x="0" y="0"/>
                </a:moveTo>
                <a:lnTo>
                  <a:pt x="6081002" y="0"/>
                </a:lnTo>
                <a:lnTo>
                  <a:pt x="6081002" y="2574439"/>
                </a:lnTo>
                <a:lnTo>
                  <a:pt x="0" y="2574439"/>
                </a:lnTo>
                <a:lnTo>
                  <a:pt x="0" y="0"/>
                </a:lnTo>
                <a:close/>
              </a:path>
            </a:pathLst>
          </a:custGeom>
          <a:blipFill>
            <a:blip r:embed="rId8"/>
            <a:stretch>
              <a:fillRect l="0" t="0" r="0" b="0"/>
            </a:stretch>
          </a:blipFill>
          <a:ln w="38100" cap="sq">
            <a:solidFill>
              <a:srgbClr val="000000"/>
            </a:solidFill>
            <a:prstDash val="solid"/>
            <a:miter/>
          </a:ln>
        </p:spPr>
      </p:sp>
      <p:sp>
        <p:nvSpPr>
          <p:cNvPr name="Freeform 8" id="8"/>
          <p:cNvSpPr/>
          <p:nvPr/>
        </p:nvSpPr>
        <p:spPr>
          <a:xfrm flipH="false" flipV="false" rot="0">
            <a:off x="3062998" y="6693223"/>
            <a:ext cx="6081002" cy="2565077"/>
          </a:xfrm>
          <a:custGeom>
            <a:avLst/>
            <a:gdLst/>
            <a:ahLst/>
            <a:cxnLst/>
            <a:rect r="r" b="b" t="t" l="l"/>
            <a:pathLst>
              <a:path h="2565077" w="6081002">
                <a:moveTo>
                  <a:pt x="0" y="0"/>
                </a:moveTo>
                <a:lnTo>
                  <a:pt x="6081002" y="0"/>
                </a:lnTo>
                <a:lnTo>
                  <a:pt x="6081002" y="2565077"/>
                </a:lnTo>
                <a:lnTo>
                  <a:pt x="0" y="2565077"/>
                </a:lnTo>
                <a:lnTo>
                  <a:pt x="0" y="0"/>
                </a:lnTo>
                <a:close/>
              </a:path>
            </a:pathLst>
          </a:custGeom>
          <a:blipFill>
            <a:blip r:embed="rId9"/>
            <a:stretch>
              <a:fillRect l="0" t="0" r="0" b="0"/>
            </a:stretch>
          </a:blipFill>
          <a:ln w="38100" cap="sq">
            <a:solidFill>
              <a:srgbClr val="000000"/>
            </a:solidFill>
            <a:prstDash val="solid"/>
            <a:miter/>
          </a:ln>
        </p:spPr>
      </p:sp>
      <p:sp>
        <p:nvSpPr>
          <p:cNvPr name="Freeform 9" id="9"/>
          <p:cNvSpPr/>
          <p:nvPr/>
        </p:nvSpPr>
        <p:spPr>
          <a:xfrm flipH="false" flipV="false" rot="0">
            <a:off x="9877897" y="4266893"/>
            <a:ext cx="6478649" cy="1471422"/>
          </a:xfrm>
          <a:custGeom>
            <a:avLst/>
            <a:gdLst/>
            <a:ahLst/>
            <a:cxnLst/>
            <a:rect r="r" b="b" t="t" l="l"/>
            <a:pathLst>
              <a:path h="1471422" w="6478649">
                <a:moveTo>
                  <a:pt x="0" y="0"/>
                </a:moveTo>
                <a:lnTo>
                  <a:pt x="6478649" y="0"/>
                </a:lnTo>
                <a:lnTo>
                  <a:pt x="6478649" y="1471422"/>
                </a:lnTo>
                <a:lnTo>
                  <a:pt x="0" y="1471422"/>
                </a:lnTo>
                <a:lnTo>
                  <a:pt x="0" y="0"/>
                </a:lnTo>
                <a:close/>
              </a:path>
            </a:pathLst>
          </a:custGeom>
          <a:blipFill>
            <a:blip r:embed="rId10"/>
            <a:stretch>
              <a:fillRect l="-5158" t="-6254" r="-2453" b="-4133"/>
            </a:stretch>
          </a:blipFill>
          <a:ln w="38100" cap="sq">
            <a:solidFill>
              <a:srgbClr val="000000"/>
            </a:solidFill>
            <a:prstDash val="solid"/>
            <a:miter/>
          </a:ln>
        </p:spPr>
      </p:sp>
      <p:sp>
        <p:nvSpPr>
          <p:cNvPr name="TextBox 10" id="10"/>
          <p:cNvSpPr txBox="true"/>
          <p:nvPr/>
        </p:nvSpPr>
        <p:spPr>
          <a:xfrm rot="0">
            <a:off x="3461601" y="1114425"/>
            <a:ext cx="11364798" cy="1905635"/>
          </a:xfrm>
          <a:prstGeom prst="rect">
            <a:avLst/>
          </a:prstGeom>
        </p:spPr>
        <p:txBody>
          <a:bodyPr anchor="t" rtlCol="false" tIns="0" lIns="0" bIns="0" rIns="0">
            <a:spAutoFit/>
          </a:bodyPr>
          <a:lstStyle/>
          <a:p>
            <a:pPr algn="ctr">
              <a:lnSpc>
                <a:spcPts val="7419"/>
              </a:lnSpc>
            </a:pPr>
            <a:r>
              <a:rPr lang="en-US" sz="6999" b="true">
                <a:solidFill>
                  <a:srgbClr val="245095"/>
                </a:solidFill>
                <a:latin typeface="Open Sans Bold"/>
                <a:ea typeface="Open Sans Bold"/>
                <a:cs typeface="Open Sans Bold"/>
                <a:sym typeface="Open Sans Bold"/>
              </a:rPr>
              <a:t>Pemodelan Klasisifikasi Naive Bayes &amp; SMOTE</a:t>
            </a:r>
          </a:p>
        </p:txBody>
      </p:sp>
      <p:sp>
        <p:nvSpPr>
          <p:cNvPr name="TextBox 11" id="11"/>
          <p:cNvSpPr txBox="true"/>
          <p:nvPr/>
        </p:nvSpPr>
        <p:spPr>
          <a:xfrm rot="0">
            <a:off x="1568617" y="3667760"/>
            <a:ext cx="1243444" cy="719514"/>
          </a:xfrm>
          <a:prstGeom prst="rect">
            <a:avLst/>
          </a:prstGeom>
        </p:spPr>
        <p:txBody>
          <a:bodyPr anchor="t" rtlCol="false" tIns="0" lIns="0" bIns="0" rIns="0">
            <a:spAutoFit/>
          </a:bodyPr>
          <a:lstStyle/>
          <a:p>
            <a:pPr algn="l">
              <a:lnSpc>
                <a:spcPts val="2866"/>
              </a:lnSpc>
            </a:pPr>
            <a:r>
              <a:rPr lang="en-US" sz="2047" b="true">
                <a:solidFill>
                  <a:srgbClr val="000000"/>
                </a:solidFill>
                <a:latin typeface="Open Sans Bold"/>
                <a:ea typeface="Open Sans Bold"/>
                <a:cs typeface="Open Sans Bold"/>
                <a:sym typeface="Open Sans Bold"/>
              </a:rPr>
              <a:t>Sebelum</a:t>
            </a:r>
            <a:r>
              <a:rPr lang="en-US" sz="2047" b="true">
                <a:solidFill>
                  <a:srgbClr val="000000"/>
                </a:solidFill>
                <a:latin typeface="Open Sans Bold"/>
                <a:ea typeface="Open Sans Bold"/>
                <a:cs typeface="Open Sans Bold"/>
                <a:sym typeface="Open Sans Bold"/>
              </a:rPr>
              <a:t> SMOTE</a:t>
            </a:r>
          </a:p>
        </p:txBody>
      </p:sp>
      <p:sp>
        <p:nvSpPr>
          <p:cNvPr name="TextBox 12" id="12"/>
          <p:cNvSpPr txBox="true"/>
          <p:nvPr/>
        </p:nvSpPr>
        <p:spPr>
          <a:xfrm rot="0">
            <a:off x="1568617" y="6645598"/>
            <a:ext cx="1163545" cy="719514"/>
          </a:xfrm>
          <a:prstGeom prst="rect">
            <a:avLst/>
          </a:prstGeom>
        </p:spPr>
        <p:txBody>
          <a:bodyPr anchor="t" rtlCol="false" tIns="0" lIns="0" bIns="0" rIns="0">
            <a:spAutoFit/>
          </a:bodyPr>
          <a:lstStyle/>
          <a:p>
            <a:pPr algn="l">
              <a:lnSpc>
                <a:spcPts val="2866"/>
              </a:lnSpc>
            </a:pPr>
            <a:r>
              <a:rPr lang="en-US" sz="2047" b="true">
                <a:solidFill>
                  <a:srgbClr val="000000"/>
                </a:solidFill>
                <a:latin typeface="Open Sans Bold"/>
                <a:ea typeface="Open Sans Bold"/>
                <a:cs typeface="Open Sans Bold"/>
                <a:sym typeface="Open Sans Bold"/>
              </a:rPr>
              <a:t>Setelah</a:t>
            </a:r>
            <a:r>
              <a:rPr lang="en-US" sz="2047" b="true">
                <a:solidFill>
                  <a:srgbClr val="000000"/>
                </a:solidFill>
                <a:latin typeface="Open Sans Bold"/>
                <a:ea typeface="Open Sans Bold"/>
                <a:cs typeface="Open Sans Bold"/>
                <a:sym typeface="Open Sans Bold"/>
              </a:rPr>
              <a:t> SMOTE</a:t>
            </a:r>
          </a:p>
        </p:txBody>
      </p:sp>
      <p:sp>
        <p:nvSpPr>
          <p:cNvPr name="TextBox 13" id="13"/>
          <p:cNvSpPr txBox="true"/>
          <p:nvPr/>
        </p:nvSpPr>
        <p:spPr>
          <a:xfrm rot="0">
            <a:off x="9849272" y="3667760"/>
            <a:ext cx="3949394" cy="357564"/>
          </a:xfrm>
          <a:prstGeom prst="rect">
            <a:avLst/>
          </a:prstGeom>
        </p:spPr>
        <p:txBody>
          <a:bodyPr anchor="t" rtlCol="false" tIns="0" lIns="0" bIns="0" rIns="0">
            <a:spAutoFit/>
          </a:bodyPr>
          <a:lstStyle/>
          <a:p>
            <a:pPr algn="l">
              <a:lnSpc>
                <a:spcPts val="2866"/>
              </a:lnSpc>
            </a:pPr>
            <a:r>
              <a:rPr lang="en-US" sz="2047" b="true">
                <a:solidFill>
                  <a:srgbClr val="000000"/>
                </a:solidFill>
                <a:latin typeface="Open Sans Bold"/>
                <a:ea typeface="Open Sans Bold"/>
                <a:cs typeface="Open Sans Bold"/>
                <a:sym typeface="Open Sans Bold"/>
              </a:rPr>
              <a:t>Train-Test Split</a:t>
            </a:r>
          </a:p>
        </p:txBody>
      </p:sp>
      <p:sp>
        <p:nvSpPr>
          <p:cNvPr name="TextBox 14" id="14"/>
          <p:cNvSpPr txBox="true"/>
          <p:nvPr/>
        </p:nvSpPr>
        <p:spPr>
          <a:xfrm rot="0">
            <a:off x="9877897" y="6089650"/>
            <a:ext cx="7381403" cy="2816225"/>
          </a:xfrm>
          <a:prstGeom prst="rect">
            <a:avLst/>
          </a:prstGeom>
        </p:spPr>
        <p:txBody>
          <a:bodyPr anchor="t" rtlCol="false" tIns="0" lIns="0" bIns="0" rIns="0">
            <a:spAutoFit/>
          </a:bodyPr>
          <a:lstStyle/>
          <a:p>
            <a:pPr algn="l">
              <a:lnSpc>
                <a:spcPts val="2800"/>
              </a:lnSpc>
            </a:pPr>
            <a:r>
              <a:rPr lang="en-US" sz="2000">
                <a:solidFill>
                  <a:srgbClr val="000000"/>
                </a:solidFill>
                <a:latin typeface="Open Sans"/>
                <a:ea typeface="Open Sans"/>
                <a:cs typeface="Open Sans"/>
                <a:sym typeface="Open Sans"/>
              </a:rPr>
              <a:t>SMOTE diterapkan hanya pada data latih untuk mengatasi ketidakseimbangan kelas tanpa menyebabkan data leakage.</a:t>
            </a:r>
          </a:p>
          <a:p>
            <a:pPr algn="l">
              <a:lnSpc>
                <a:spcPts val="2800"/>
              </a:lnSpc>
            </a:pPr>
          </a:p>
          <a:p>
            <a:pPr algn="l">
              <a:lnSpc>
                <a:spcPts val="2800"/>
              </a:lnSpc>
            </a:pPr>
            <a:r>
              <a:rPr lang="en-US" sz="2000">
                <a:solidFill>
                  <a:srgbClr val="000000"/>
                </a:solidFill>
                <a:latin typeface="Open Sans"/>
                <a:ea typeface="Open Sans"/>
                <a:cs typeface="Open Sans"/>
                <a:sym typeface="Open Sans"/>
              </a:rPr>
              <a:t>Penurunan akurasi yang terjadi dikarenakan model tidak lagi terlalu berpihak pada kelas mayoritas. Namun secara keseluruhan, performa model menjadi lebih seimbang, yang ditunjukkan oleh peningkatan recall dan F1-score pada kelas minoritas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210513" y="-329184"/>
            <a:ext cx="1884362" cy="1884362"/>
          </a:xfrm>
          <a:custGeom>
            <a:avLst/>
            <a:gdLst/>
            <a:ahLst/>
            <a:cxnLst/>
            <a:rect r="r" b="b" t="t" l="l"/>
            <a:pathLst>
              <a:path h="1884362" w="1884362">
                <a:moveTo>
                  <a:pt x="0" y="1884362"/>
                </a:moveTo>
                <a:lnTo>
                  <a:pt x="1884362" y="1884362"/>
                </a:lnTo>
                <a:lnTo>
                  <a:pt x="1884362" y="0"/>
                </a:lnTo>
                <a:lnTo>
                  <a:pt x="0" y="0"/>
                </a:lnTo>
                <a:lnTo>
                  <a:pt x="0" y="188436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509633" y="8402638"/>
            <a:ext cx="1778367" cy="1884362"/>
          </a:xfrm>
          <a:custGeom>
            <a:avLst/>
            <a:gdLst/>
            <a:ahLst/>
            <a:cxnLst/>
            <a:rect r="r" b="b" t="t" l="l"/>
            <a:pathLst>
              <a:path h="1884362" w="1778367">
                <a:moveTo>
                  <a:pt x="0" y="0"/>
                </a:moveTo>
                <a:lnTo>
                  <a:pt x="1778367" y="0"/>
                </a:lnTo>
                <a:lnTo>
                  <a:pt x="1778367" y="1884362"/>
                </a:lnTo>
                <a:lnTo>
                  <a:pt x="0" y="188436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0">
            <a:off x="13842130" y="-329184"/>
            <a:ext cx="7315200" cy="658368"/>
          </a:xfrm>
          <a:custGeom>
            <a:avLst/>
            <a:gdLst/>
            <a:ahLst/>
            <a:cxnLst/>
            <a:rect r="r" b="b" t="t" l="l"/>
            <a:pathLst>
              <a:path h="658368" w="7315200">
                <a:moveTo>
                  <a:pt x="7315200" y="0"/>
                </a:moveTo>
                <a:lnTo>
                  <a:pt x="0" y="0"/>
                </a:lnTo>
                <a:lnTo>
                  <a:pt x="0" y="658368"/>
                </a:lnTo>
                <a:lnTo>
                  <a:pt x="7315200" y="658368"/>
                </a:lnTo>
                <a:lnTo>
                  <a:pt x="7315200" y="0"/>
                </a:lnTo>
                <a:close/>
              </a:path>
            </a:pathLst>
          </a:custGeom>
          <a:blipFill>
            <a:blip r:embed="rId6">
              <a:extLst>
                <a:ext uri="{96DAC541-7B7A-43D3-8B79-37D633B846F1}">
                  <asvg:svgBlip xmlns:asvg="http://schemas.microsoft.com/office/drawing/2016/SVG/main" r:embed="rId7"/>
                </a:ext>
              </a:extLst>
            </a:blip>
            <a:stretch>
              <a:fillRect l="-10767" t="-45011" r="-34243" b="0"/>
            </a:stretch>
          </a:blipFill>
        </p:spPr>
      </p:sp>
      <p:sp>
        <p:nvSpPr>
          <p:cNvPr name="Freeform 5" id="5"/>
          <p:cNvSpPr/>
          <p:nvPr/>
        </p:nvSpPr>
        <p:spPr>
          <a:xfrm flipH="true" flipV="false" rot="0">
            <a:off x="-3299792" y="9957816"/>
            <a:ext cx="7315200" cy="658368"/>
          </a:xfrm>
          <a:custGeom>
            <a:avLst/>
            <a:gdLst/>
            <a:ahLst/>
            <a:cxnLst/>
            <a:rect r="r" b="b" t="t" l="l"/>
            <a:pathLst>
              <a:path h="658368" w="7315200">
                <a:moveTo>
                  <a:pt x="7315200" y="0"/>
                </a:moveTo>
                <a:lnTo>
                  <a:pt x="0" y="0"/>
                </a:lnTo>
                <a:lnTo>
                  <a:pt x="0" y="658368"/>
                </a:lnTo>
                <a:lnTo>
                  <a:pt x="7315200" y="658368"/>
                </a:lnTo>
                <a:lnTo>
                  <a:pt x="7315200" y="0"/>
                </a:lnTo>
                <a:close/>
              </a:path>
            </a:pathLst>
          </a:custGeom>
          <a:blipFill>
            <a:blip r:embed="rId6">
              <a:extLst>
                <a:ext uri="{96DAC541-7B7A-43D3-8B79-37D633B846F1}">
                  <asvg:svgBlip xmlns:asvg="http://schemas.microsoft.com/office/drawing/2016/SVG/main" r:embed="rId7"/>
                </a:ext>
              </a:extLst>
            </a:blip>
            <a:stretch>
              <a:fillRect l="-10767" t="-45011" r="-34243" b="0"/>
            </a:stretch>
          </a:blipFill>
        </p:spPr>
      </p:sp>
      <p:sp>
        <p:nvSpPr>
          <p:cNvPr name="Freeform 6" id="6"/>
          <p:cNvSpPr/>
          <p:nvPr/>
        </p:nvSpPr>
        <p:spPr>
          <a:xfrm flipH="false" flipV="false" rot="0">
            <a:off x="1028700" y="3877723"/>
            <a:ext cx="6206485" cy="4782645"/>
          </a:xfrm>
          <a:custGeom>
            <a:avLst/>
            <a:gdLst/>
            <a:ahLst/>
            <a:cxnLst/>
            <a:rect r="r" b="b" t="t" l="l"/>
            <a:pathLst>
              <a:path h="4782645" w="6206485">
                <a:moveTo>
                  <a:pt x="0" y="0"/>
                </a:moveTo>
                <a:lnTo>
                  <a:pt x="6206485" y="0"/>
                </a:lnTo>
                <a:lnTo>
                  <a:pt x="6206485" y="4782645"/>
                </a:lnTo>
                <a:lnTo>
                  <a:pt x="0" y="4782645"/>
                </a:lnTo>
                <a:lnTo>
                  <a:pt x="0" y="0"/>
                </a:lnTo>
                <a:close/>
              </a:path>
            </a:pathLst>
          </a:custGeom>
          <a:blipFill>
            <a:blip r:embed="rId8"/>
            <a:stretch>
              <a:fillRect l="0" t="0" r="0" b="0"/>
            </a:stretch>
          </a:blipFill>
          <a:ln w="19050" cap="sq">
            <a:solidFill>
              <a:srgbClr val="000000"/>
            </a:solidFill>
            <a:prstDash val="solid"/>
            <a:miter/>
          </a:ln>
        </p:spPr>
      </p:sp>
      <p:sp>
        <p:nvSpPr>
          <p:cNvPr name="Freeform 7" id="7"/>
          <p:cNvSpPr/>
          <p:nvPr/>
        </p:nvSpPr>
        <p:spPr>
          <a:xfrm flipH="false" flipV="false" rot="0">
            <a:off x="7780085" y="3877723"/>
            <a:ext cx="9479215" cy="3428445"/>
          </a:xfrm>
          <a:custGeom>
            <a:avLst/>
            <a:gdLst/>
            <a:ahLst/>
            <a:cxnLst/>
            <a:rect r="r" b="b" t="t" l="l"/>
            <a:pathLst>
              <a:path h="3428445" w="9479215">
                <a:moveTo>
                  <a:pt x="0" y="0"/>
                </a:moveTo>
                <a:lnTo>
                  <a:pt x="9479215" y="0"/>
                </a:lnTo>
                <a:lnTo>
                  <a:pt x="9479215" y="3428445"/>
                </a:lnTo>
                <a:lnTo>
                  <a:pt x="0" y="3428445"/>
                </a:lnTo>
                <a:lnTo>
                  <a:pt x="0" y="0"/>
                </a:lnTo>
                <a:close/>
              </a:path>
            </a:pathLst>
          </a:custGeom>
          <a:blipFill>
            <a:blip r:embed="rId9"/>
            <a:stretch>
              <a:fillRect l="0" t="0" r="0" b="0"/>
            </a:stretch>
          </a:blipFill>
          <a:ln w="19050" cap="sq">
            <a:solidFill>
              <a:srgbClr val="000000"/>
            </a:solidFill>
            <a:prstDash val="solid"/>
            <a:miter/>
          </a:ln>
        </p:spPr>
      </p:sp>
      <p:sp>
        <p:nvSpPr>
          <p:cNvPr name="TextBox 8" id="8"/>
          <p:cNvSpPr txBox="true"/>
          <p:nvPr/>
        </p:nvSpPr>
        <p:spPr>
          <a:xfrm rot="0">
            <a:off x="1673849" y="783301"/>
            <a:ext cx="14940302" cy="1193800"/>
          </a:xfrm>
          <a:prstGeom prst="rect">
            <a:avLst/>
          </a:prstGeom>
        </p:spPr>
        <p:txBody>
          <a:bodyPr anchor="t" rtlCol="false" tIns="0" lIns="0" bIns="0" rIns="0">
            <a:spAutoFit/>
          </a:bodyPr>
          <a:lstStyle/>
          <a:p>
            <a:pPr algn="l">
              <a:lnSpc>
                <a:spcPts val="9799"/>
              </a:lnSpc>
            </a:pPr>
            <a:r>
              <a:rPr lang="en-US" sz="6999" b="true">
                <a:solidFill>
                  <a:srgbClr val="245095"/>
                </a:solidFill>
                <a:latin typeface="Open Sans Bold"/>
                <a:ea typeface="Open Sans Bold"/>
                <a:cs typeface="Open Sans Bold"/>
                <a:sym typeface="Open Sans Bold"/>
              </a:rPr>
              <a:t>Confusion Matrix &amp; Hasil Prediksi</a:t>
            </a:r>
          </a:p>
        </p:txBody>
      </p:sp>
      <p:sp>
        <p:nvSpPr>
          <p:cNvPr name="TextBox 9" id="9"/>
          <p:cNvSpPr txBox="true"/>
          <p:nvPr/>
        </p:nvSpPr>
        <p:spPr>
          <a:xfrm rot="0">
            <a:off x="1028700" y="2814572"/>
            <a:ext cx="5605021" cy="681457"/>
          </a:xfrm>
          <a:prstGeom prst="rect">
            <a:avLst/>
          </a:prstGeom>
        </p:spPr>
        <p:txBody>
          <a:bodyPr anchor="t" rtlCol="false" tIns="0" lIns="0" bIns="0" rIns="0">
            <a:spAutoFit/>
          </a:bodyPr>
          <a:lstStyle/>
          <a:p>
            <a:pPr algn="l">
              <a:lnSpc>
                <a:spcPts val="5593"/>
              </a:lnSpc>
            </a:pPr>
            <a:r>
              <a:rPr lang="en-US" sz="3995" b="true">
                <a:solidFill>
                  <a:srgbClr val="245095"/>
                </a:solidFill>
                <a:latin typeface="Open Sans Bold"/>
                <a:ea typeface="Open Sans Bold"/>
                <a:cs typeface="Open Sans Bold"/>
                <a:sym typeface="Open Sans Bold"/>
              </a:rPr>
              <a:t>Confusion Matrix</a:t>
            </a:r>
          </a:p>
        </p:txBody>
      </p:sp>
      <p:sp>
        <p:nvSpPr>
          <p:cNvPr name="TextBox 10" id="10"/>
          <p:cNvSpPr txBox="true"/>
          <p:nvPr/>
        </p:nvSpPr>
        <p:spPr>
          <a:xfrm rot="0">
            <a:off x="7780085" y="2814572"/>
            <a:ext cx="5605021" cy="681457"/>
          </a:xfrm>
          <a:prstGeom prst="rect">
            <a:avLst/>
          </a:prstGeom>
        </p:spPr>
        <p:txBody>
          <a:bodyPr anchor="t" rtlCol="false" tIns="0" lIns="0" bIns="0" rIns="0">
            <a:spAutoFit/>
          </a:bodyPr>
          <a:lstStyle/>
          <a:p>
            <a:pPr algn="l">
              <a:lnSpc>
                <a:spcPts val="5593"/>
              </a:lnSpc>
            </a:pPr>
            <a:r>
              <a:rPr lang="en-US" sz="3995" b="true">
                <a:solidFill>
                  <a:srgbClr val="245095"/>
                </a:solidFill>
                <a:latin typeface="Open Sans Bold"/>
                <a:ea typeface="Open Sans Bold"/>
                <a:cs typeface="Open Sans Bold"/>
                <a:sym typeface="Open Sans Bold"/>
              </a:rPr>
              <a:t>Hasil Prediksi</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144000" y="2655636"/>
            <a:ext cx="6326865" cy="4824888"/>
            <a:chOff x="0" y="0"/>
            <a:chExt cx="1358271" cy="1035822"/>
          </a:xfrm>
        </p:grpSpPr>
        <p:sp>
          <p:nvSpPr>
            <p:cNvPr name="Freeform 3" id="3"/>
            <p:cNvSpPr/>
            <p:nvPr/>
          </p:nvSpPr>
          <p:spPr>
            <a:xfrm flipH="false" flipV="false" rot="0">
              <a:off x="0" y="0"/>
              <a:ext cx="1358271" cy="1035822"/>
            </a:xfrm>
            <a:custGeom>
              <a:avLst/>
              <a:gdLst/>
              <a:ahLst/>
              <a:cxnLst/>
              <a:rect r="r" b="b" t="t" l="l"/>
              <a:pathLst>
                <a:path h="1035822" w="1358271">
                  <a:moveTo>
                    <a:pt x="50170" y="0"/>
                  </a:moveTo>
                  <a:lnTo>
                    <a:pt x="1308101" y="0"/>
                  </a:lnTo>
                  <a:cubicBezTo>
                    <a:pt x="1335809" y="0"/>
                    <a:pt x="1358271" y="22462"/>
                    <a:pt x="1358271" y="50170"/>
                  </a:cubicBezTo>
                  <a:lnTo>
                    <a:pt x="1358271" y="985652"/>
                  </a:lnTo>
                  <a:cubicBezTo>
                    <a:pt x="1358271" y="998958"/>
                    <a:pt x="1352985" y="1011719"/>
                    <a:pt x="1343576" y="1021127"/>
                  </a:cubicBezTo>
                  <a:cubicBezTo>
                    <a:pt x="1334168" y="1030536"/>
                    <a:pt x="1321407" y="1035822"/>
                    <a:pt x="1308101" y="1035822"/>
                  </a:cubicBezTo>
                  <a:lnTo>
                    <a:pt x="50170" y="1035822"/>
                  </a:lnTo>
                  <a:cubicBezTo>
                    <a:pt x="22462" y="1035822"/>
                    <a:pt x="0" y="1013360"/>
                    <a:pt x="0" y="985652"/>
                  </a:cubicBezTo>
                  <a:lnTo>
                    <a:pt x="0" y="50170"/>
                  </a:lnTo>
                  <a:cubicBezTo>
                    <a:pt x="0" y="22462"/>
                    <a:pt x="22462" y="0"/>
                    <a:pt x="50170" y="0"/>
                  </a:cubicBezTo>
                  <a:close/>
                </a:path>
              </a:pathLst>
            </a:custGeom>
            <a:blipFill>
              <a:blip r:embed="rId2"/>
              <a:stretch>
                <a:fillRect l="0" t="-1901" r="0" b="-1901"/>
              </a:stretch>
            </a:blipFill>
          </p:spPr>
        </p:sp>
      </p:grpSp>
      <p:grpSp>
        <p:nvGrpSpPr>
          <p:cNvPr name="Group 4" id="4"/>
          <p:cNvGrpSpPr/>
          <p:nvPr/>
        </p:nvGrpSpPr>
        <p:grpSpPr>
          <a:xfrm rot="0">
            <a:off x="1278316" y="2902274"/>
            <a:ext cx="6497733" cy="4227730"/>
            <a:chOff x="0" y="0"/>
            <a:chExt cx="1711337" cy="1113476"/>
          </a:xfrm>
        </p:grpSpPr>
        <p:sp>
          <p:nvSpPr>
            <p:cNvPr name="Freeform 5" id="5"/>
            <p:cNvSpPr/>
            <p:nvPr/>
          </p:nvSpPr>
          <p:spPr>
            <a:xfrm flipH="false" flipV="false" rot="0">
              <a:off x="0" y="0"/>
              <a:ext cx="1711337" cy="1113476"/>
            </a:xfrm>
            <a:custGeom>
              <a:avLst/>
              <a:gdLst/>
              <a:ahLst/>
              <a:cxnLst/>
              <a:rect r="r" b="b" t="t" l="l"/>
              <a:pathLst>
                <a:path h="1113476" w="1711337">
                  <a:moveTo>
                    <a:pt x="60765" y="0"/>
                  </a:moveTo>
                  <a:lnTo>
                    <a:pt x="1650572" y="0"/>
                  </a:lnTo>
                  <a:cubicBezTo>
                    <a:pt x="1684131" y="0"/>
                    <a:pt x="1711337" y="27206"/>
                    <a:pt x="1711337" y="60765"/>
                  </a:cubicBezTo>
                  <a:lnTo>
                    <a:pt x="1711337" y="1052711"/>
                  </a:lnTo>
                  <a:cubicBezTo>
                    <a:pt x="1711337" y="1068827"/>
                    <a:pt x="1704935" y="1084283"/>
                    <a:pt x="1693539" y="1095679"/>
                  </a:cubicBezTo>
                  <a:cubicBezTo>
                    <a:pt x="1682143" y="1107074"/>
                    <a:pt x="1666688" y="1113476"/>
                    <a:pt x="1650572" y="1113476"/>
                  </a:cubicBezTo>
                  <a:lnTo>
                    <a:pt x="60765" y="1113476"/>
                  </a:lnTo>
                  <a:cubicBezTo>
                    <a:pt x="44649" y="1113476"/>
                    <a:pt x="29194" y="1107074"/>
                    <a:pt x="17798" y="1095679"/>
                  </a:cubicBezTo>
                  <a:cubicBezTo>
                    <a:pt x="6402" y="1084283"/>
                    <a:pt x="0" y="1068827"/>
                    <a:pt x="0" y="1052711"/>
                  </a:cubicBezTo>
                  <a:lnTo>
                    <a:pt x="0" y="60765"/>
                  </a:lnTo>
                  <a:cubicBezTo>
                    <a:pt x="0" y="44649"/>
                    <a:pt x="6402" y="29194"/>
                    <a:pt x="17798" y="17798"/>
                  </a:cubicBezTo>
                  <a:cubicBezTo>
                    <a:pt x="29194" y="6402"/>
                    <a:pt x="44649" y="0"/>
                    <a:pt x="60765" y="0"/>
                  </a:cubicBezTo>
                  <a:close/>
                </a:path>
              </a:pathLst>
            </a:custGeom>
            <a:solidFill>
              <a:srgbClr val="245095"/>
            </a:solidFill>
          </p:spPr>
        </p:sp>
        <p:sp>
          <p:nvSpPr>
            <p:cNvPr name="TextBox 6" id="6"/>
            <p:cNvSpPr txBox="true"/>
            <p:nvPr/>
          </p:nvSpPr>
          <p:spPr>
            <a:xfrm>
              <a:off x="0" y="-57150"/>
              <a:ext cx="1711337" cy="1170626"/>
            </a:xfrm>
            <a:prstGeom prst="rect">
              <a:avLst/>
            </a:prstGeom>
          </p:spPr>
          <p:txBody>
            <a:bodyPr anchor="ctr" rtlCol="false" tIns="50800" lIns="50800" bIns="50800" rIns="50800"/>
            <a:lstStyle/>
            <a:p>
              <a:pPr algn="ctr">
                <a:lnSpc>
                  <a:spcPts val="3643"/>
                </a:lnSpc>
              </a:pPr>
            </a:p>
          </p:txBody>
        </p:sp>
      </p:grpSp>
      <p:grpSp>
        <p:nvGrpSpPr>
          <p:cNvPr name="Group 7" id="7"/>
          <p:cNvGrpSpPr/>
          <p:nvPr/>
        </p:nvGrpSpPr>
        <p:grpSpPr>
          <a:xfrm rot="0">
            <a:off x="1028700" y="2655636"/>
            <a:ext cx="1124480" cy="1124480"/>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DC8"/>
            </a:solidFill>
          </p:spPr>
        </p:sp>
        <p:sp>
          <p:nvSpPr>
            <p:cNvPr name="TextBox 9" id="9"/>
            <p:cNvSpPr txBox="true"/>
            <p:nvPr/>
          </p:nvSpPr>
          <p:spPr>
            <a:xfrm>
              <a:off x="76200" y="19050"/>
              <a:ext cx="660400" cy="717550"/>
            </a:xfrm>
            <a:prstGeom prst="rect">
              <a:avLst/>
            </a:prstGeom>
          </p:spPr>
          <p:txBody>
            <a:bodyPr anchor="ctr" rtlCol="false" tIns="50800" lIns="50800" bIns="50800" rIns="50800"/>
            <a:lstStyle/>
            <a:p>
              <a:pPr algn="ctr">
                <a:lnSpc>
                  <a:spcPts val="3643"/>
                </a:lnSpc>
              </a:pPr>
            </a:p>
          </p:txBody>
        </p:sp>
      </p:grpSp>
      <p:sp>
        <p:nvSpPr>
          <p:cNvPr name="Freeform 10" id="10"/>
          <p:cNvSpPr/>
          <p:nvPr/>
        </p:nvSpPr>
        <p:spPr>
          <a:xfrm flipH="false" flipV="false" rot="0">
            <a:off x="0" y="0"/>
            <a:ext cx="1923359" cy="2356336"/>
          </a:xfrm>
          <a:custGeom>
            <a:avLst/>
            <a:gdLst/>
            <a:ahLst/>
            <a:cxnLst/>
            <a:rect r="r" b="b" t="t" l="l"/>
            <a:pathLst>
              <a:path h="2356336" w="1923359">
                <a:moveTo>
                  <a:pt x="0" y="0"/>
                </a:moveTo>
                <a:lnTo>
                  <a:pt x="1923359" y="0"/>
                </a:lnTo>
                <a:lnTo>
                  <a:pt x="1923359" y="2356336"/>
                </a:lnTo>
                <a:lnTo>
                  <a:pt x="0" y="235633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false" flipV="false" rot="0">
            <a:off x="16364641" y="8212023"/>
            <a:ext cx="1923359" cy="2068128"/>
          </a:xfrm>
          <a:custGeom>
            <a:avLst/>
            <a:gdLst/>
            <a:ahLst/>
            <a:cxnLst/>
            <a:rect r="r" b="b" t="t" l="l"/>
            <a:pathLst>
              <a:path h="2068128" w="1923359">
                <a:moveTo>
                  <a:pt x="0" y="0"/>
                </a:moveTo>
                <a:lnTo>
                  <a:pt x="1923359" y="0"/>
                </a:lnTo>
                <a:lnTo>
                  <a:pt x="1923359" y="2068128"/>
                </a:lnTo>
                <a:lnTo>
                  <a:pt x="0" y="206812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2" id="12"/>
          <p:cNvSpPr/>
          <p:nvPr/>
        </p:nvSpPr>
        <p:spPr>
          <a:xfrm flipH="false" flipV="false" rot="0">
            <a:off x="1248296" y="2855431"/>
            <a:ext cx="628139" cy="628139"/>
          </a:xfrm>
          <a:custGeom>
            <a:avLst/>
            <a:gdLst/>
            <a:ahLst/>
            <a:cxnLst/>
            <a:rect r="r" b="b" t="t" l="l"/>
            <a:pathLst>
              <a:path h="628139" w="628139">
                <a:moveTo>
                  <a:pt x="0" y="0"/>
                </a:moveTo>
                <a:lnTo>
                  <a:pt x="628138" y="0"/>
                </a:lnTo>
                <a:lnTo>
                  <a:pt x="628138" y="628138"/>
                </a:lnTo>
                <a:lnTo>
                  <a:pt x="0" y="62813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3" id="13"/>
          <p:cNvSpPr/>
          <p:nvPr/>
        </p:nvSpPr>
        <p:spPr>
          <a:xfrm flipH="false" flipV="false" rot="0">
            <a:off x="16364641" y="0"/>
            <a:ext cx="4278914" cy="871829"/>
          </a:xfrm>
          <a:custGeom>
            <a:avLst/>
            <a:gdLst/>
            <a:ahLst/>
            <a:cxnLst/>
            <a:rect r="r" b="b" t="t" l="l"/>
            <a:pathLst>
              <a:path h="871829" w="4278914">
                <a:moveTo>
                  <a:pt x="0" y="0"/>
                </a:moveTo>
                <a:lnTo>
                  <a:pt x="4278914" y="0"/>
                </a:lnTo>
                <a:lnTo>
                  <a:pt x="4278914" y="871829"/>
                </a:lnTo>
                <a:lnTo>
                  <a:pt x="0" y="871829"/>
                </a:lnTo>
                <a:lnTo>
                  <a:pt x="0" y="0"/>
                </a:lnTo>
                <a:close/>
              </a:path>
            </a:pathLst>
          </a:custGeom>
          <a:blipFill>
            <a:blip r:embed="rId9">
              <a:alphaModFix amt="63000"/>
              <a:extLst>
                <a:ext uri="{96DAC541-7B7A-43D3-8B79-37D633B846F1}">
                  <asvg:svgBlip xmlns:asvg="http://schemas.microsoft.com/office/drawing/2016/SVG/main" r:embed="rId10"/>
                </a:ext>
              </a:extLst>
            </a:blip>
            <a:stretch>
              <a:fillRect l="0" t="0" r="0" b="0"/>
            </a:stretch>
          </a:blipFill>
        </p:spPr>
      </p:sp>
      <p:sp>
        <p:nvSpPr>
          <p:cNvPr name="Freeform 14" id="14"/>
          <p:cNvSpPr/>
          <p:nvPr/>
        </p:nvSpPr>
        <p:spPr>
          <a:xfrm flipH="false" flipV="false" rot="0">
            <a:off x="9795914" y="826483"/>
            <a:ext cx="999699" cy="1009797"/>
          </a:xfrm>
          <a:custGeom>
            <a:avLst/>
            <a:gdLst/>
            <a:ahLst/>
            <a:cxnLst/>
            <a:rect r="r" b="b" t="t" l="l"/>
            <a:pathLst>
              <a:path h="1009797" w="999699">
                <a:moveTo>
                  <a:pt x="0" y="0"/>
                </a:moveTo>
                <a:lnTo>
                  <a:pt x="999699" y="0"/>
                </a:lnTo>
                <a:lnTo>
                  <a:pt x="999699" y="1009797"/>
                </a:lnTo>
                <a:lnTo>
                  <a:pt x="0" y="100979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5" id="15"/>
          <p:cNvSpPr/>
          <p:nvPr/>
        </p:nvSpPr>
        <p:spPr>
          <a:xfrm flipH="false" flipV="false" rot="0">
            <a:off x="-952885" y="9207987"/>
            <a:ext cx="1953010" cy="1953010"/>
          </a:xfrm>
          <a:custGeom>
            <a:avLst/>
            <a:gdLst/>
            <a:ahLst/>
            <a:cxnLst/>
            <a:rect r="r" b="b" t="t" l="l"/>
            <a:pathLst>
              <a:path h="1953010" w="1953010">
                <a:moveTo>
                  <a:pt x="0" y="0"/>
                </a:moveTo>
                <a:lnTo>
                  <a:pt x="1953010" y="0"/>
                </a:lnTo>
                <a:lnTo>
                  <a:pt x="1953010" y="1953009"/>
                </a:lnTo>
                <a:lnTo>
                  <a:pt x="0" y="1953009"/>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16" id="16"/>
          <p:cNvSpPr txBox="true"/>
          <p:nvPr/>
        </p:nvSpPr>
        <p:spPr>
          <a:xfrm rot="0">
            <a:off x="2153180" y="4098124"/>
            <a:ext cx="5143184" cy="2463800"/>
          </a:xfrm>
          <a:prstGeom prst="rect">
            <a:avLst/>
          </a:prstGeom>
        </p:spPr>
        <p:txBody>
          <a:bodyPr anchor="t" rtlCol="false" tIns="0" lIns="0" bIns="0" rIns="0">
            <a:spAutoFit/>
          </a:bodyPr>
          <a:lstStyle/>
          <a:p>
            <a:pPr algn="l" marL="431802" indent="-215901" lvl="1">
              <a:lnSpc>
                <a:spcPts val="2800"/>
              </a:lnSpc>
              <a:buFont typeface="Arial"/>
              <a:buChar char="•"/>
            </a:pPr>
            <a:r>
              <a:rPr lang="en-US" sz="2000">
                <a:solidFill>
                  <a:srgbClr val="FFFFFF"/>
                </a:solidFill>
                <a:latin typeface="Open Sans"/>
                <a:ea typeface="Open Sans"/>
                <a:cs typeface="Open Sans"/>
                <a:sym typeface="Open Sans"/>
              </a:rPr>
              <a:t>Topic Modeling dilakukan menggunakan Latent Dirichlet Allocation (LDA)</a:t>
            </a:r>
          </a:p>
          <a:p>
            <a:pPr algn="l" marL="431802" indent="-215901" lvl="1">
              <a:lnSpc>
                <a:spcPts val="2800"/>
              </a:lnSpc>
              <a:buFont typeface="Arial"/>
              <a:buChar char="•"/>
            </a:pPr>
            <a:r>
              <a:rPr lang="en-US" sz="2000">
                <a:solidFill>
                  <a:srgbClr val="FFFFFF"/>
                </a:solidFill>
                <a:latin typeface="Open Sans"/>
                <a:ea typeface="Open Sans"/>
                <a:cs typeface="Open Sans"/>
                <a:sym typeface="Open Sans"/>
              </a:rPr>
              <a:t>Representasi teks menggunakan Bag-of-Words (CountVectorizer)</a:t>
            </a:r>
          </a:p>
          <a:p>
            <a:pPr algn="l" marL="431802" indent="-215901" lvl="1">
              <a:lnSpc>
                <a:spcPts val="2800"/>
              </a:lnSpc>
              <a:buFont typeface="Arial"/>
              <a:buChar char="•"/>
            </a:pPr>
            <a:r>
              <a:rPr lang="en-US" sz="2000">
                <a:solidFill>
                  <a:srgbClr val="FFFFFF"/>
                </a:solidFill>
                <a:latin typeface="Open Sans"/>
                <a:ea typeface="Open Sans"/>
                <a:cs typeface="Open Sans"/>
                <a:sym typeface="Open Sans"/>
              </a:rPr>
              <a:t>Pembentukan dictionary &amp; corpus menggunakan Gensim</a:t>
            </a:r>
          </a:p>
        </p:txBody>
      </p:sp>
      <p:sp>
        <p:nvSpPr>
          <p:cNvPr name="TextBox 17" id="17"/>
          <p:cNvSpPr txBox="true"/>
          <p:nvPr/>
        </p:nvSpPr>
        <p:spPr>
          <a:xfrm rot="0">
            <a:off x="2414437" y="3147654"/>
            <a:ext cx="5361611" cy="481330"/>
          </a:xfrm>
          <a:prstGeom prst="rect">
            <a:avLst/>
          </a:prstGeom>
        </p:spPr>
        <p:txBody>
          <a:bodyPr anchor="t" rtlCol="false" tIns="0" lIns="0" bIns="0" rIns="0">
            <a:spAutoFit/>
          </a:bodyPr>
          <a:lstStyle/>
          <a:p>
            <a:pPr algn="l">
              <a:lnSpc>
                <a:spcPts val="3920"/>
              </a:lnSpc>
            </a:pPr>
            <a:r>
              <a:rPr lang="en-US" sz="2800" b="true">
                <a:solidFill>
                  <a:srgbClr val="FFFFFF"/>
                </a:solidFill>
                <a:latin typeface="Open Sans Bold"/>
                <a:ea typeface="Open Sans Bold"/>
                <a:cs typeface="Open Sans Bold"/>
                <a:sym typeface="Open Sans Bold"/>
              </a:rPr>
              <a:t>Representasi Teks</a:t>
            </a:r>
          </a:p>
        </p:txBody>
      </p:sp>
      <p:sp>
        <p:nvSpPr>
          <p:cNvPr name="TextBox 18" id="18"/>
          <p:cNvSpPr txBox="true"/>
          <p:nvPr/>
        </p:nvSpPr>
        <p:spPr>
          <a:xfrm rot="0">
            <a:off x="4151590" y="738479"/>
            <a:ext cx="9286105" cy="1193800"/>
          </a:xfrm>
          <a:prstGeom prst="rect">
            <a:avLst/>
          </a:prstGeom>
        </p:spPr>
        <p:txBody>
          <a:bodyPr anchor="t" rtlCol="false" tIns="0" lIns="0" bIns="0" rIns="0">
            <a:spAutoFit/>
          </a:bodyPr>
          <a:lstStyle/>
          <a:p>
            <a:pPr algn="ctr">
              <a:lnSpc>
                <a:spcPts val="9799"/>
              </a:lnSpc>
            </a:pPr>
            <a:r>
              <a:rPr lang="en-US" sz="6999" b="true">
                <a:solidFill>
                  <a:srgbClr val="245095"/>
                </a:solidFill>
                <a:latin typeface="Open Sans Bold"/>
                <a:ea typeface="Open Sans Bold"/>
                <a:cs typeface="Open Sans Bold"/>
                <a:sym typeface="Open Sans Bold"/>
              </a:rPr>
              <a:t>Topic Modelling</a:t>
            </a:r>
          </a:p>
        </p:txBody>
      </p:sp>
      <p:grpSp>
        <p:nvGrpSpPr>
          <p:cNvPr name="Group 19" id="19"/>
          <p:cNvGrpSpPr/>
          <p:nvPr/>
        </p:nvGrpSpPr>
        <p:grpSpPr>
          <a:xfrm rot="0">
            <a:off x="5640133" y="7786805"/>
            <a:ext cx="9830732" cy="1996760"/>
            <a:chOff x="0" y="0"/>
            <a:chExt cx="2589164" cy="525896"/>
          </a:xfrm>
        </p:grpSpPr>
        <p:sp>
          <p:nvSpPr>
            <p:cNvPr name="Freeform 20" id="20"/>
            <p:cNvSpPr/>
            <p:nvPr/>
          </p:nvSpPr>
          <p:spPr>
            <a:xfrm flipH="false" flipV="false" rot="0">
              <a:off x="0" y="0"/>
              <a:ext cx="2589164" cy="525896"/>
            </a:xfrm>
            <a:custGeom>
              <a:avLst/>
              <a:gdLst/>
              <a:ahLst/>
              <a:cxnLst/>
              <a:rect r="r" b="b" t="t" l="l"/>
              <a:pathLst>
                <a:path h="525896" w="2589164">
                  <a:moveTo>
                    <a:pt x="23626" y="0"/>
                  </a:moveTo>
                  <a:lnTo>
                    <a:pt x="2565538" y="0"/>
                  </a:lnTo>
                  <a:cubicBezTo>
                    <a:pt x="2578586" y="0"/>
                    <a:pt x="2589164" y="10578"/>
                    <a:pt x="2589164" y="23626"/>
                  </a:cubicBezTo>
                  <a:lnTo>
                    <a:pt x="2589164" y="502270"/>
                  </a:lnTo>
                  <a:cubicBezTo>
                    <a:pt x="2589164" y="508536"/>
                    <a:pt x="2586675" y="514545"/>
                    <a:pt x="2582244" y="518976"/>
                  </a:cubicBezTo>
                  <a:cubicBezTo>
                    <a:pt x="2577813" y="523407"/>
                    <a:pt x="2571804" y="525896"/>
                    <a:pt x="2565538" y="525896"/>
                  </a:cubicBezTo>
                  <a:lnTo>
                    <a:pt x="23626" y="525896"/>
                  </a:lnTo>
                  <a:cubicBezTo>
                    <a:pt x="17360" y="525896"/>
                    <a:pt x="11350" y="523407"/>
                    <a:pt x="6920" y="518976"/>
                  </a:cubicBezTo>
                  <a:cubicBezTo>
                    <a:pt x="2489" y="514545"/>
                    <a:pt x="0" y="508536"/>
                    <a:pt x="0" y="502270"/>
                  </a:cubicBezTo>
                  <a:lnTo>
                    <a:pt x="0" y="23626"/>
                  </a:lnTo>
                  <a:cubicBezTo>
                    <a:pt x="0" y="17360"/>
                    <a:pt x="2489" y="11350"/>
                    <a:pt x="6920" y="6920"/>
                  </a:cubicBezTo>
                  <a:cubicBezTo>
                    <a:pt x="11350" y="2489"/>
                    <a:pt x="17360" y="0"/>
                    <a:pt x="23626" y="0"/>
                  </a:cubicBezTo>
                  <a:close/>
                </a:path>
              </a:pathLst>
            </a:custGeom>
            <a:solidFill>
              <a:srgbClr val="245095"/>
            </a:solidFill>
          </p:spPr>
        </p:sp>
        <p:sp>
          <p:nvSpPr>
            <p:cNvPr name="TextBox 21" id="21"/>
            <p:cNvSpPr txBox="true"/>
            <p:nvPr/>
          </p:nvSpPr>
          <p:spPr>
            <a:xfrm>
              <a:off x="0" y="-57150"/>
              <a:ext cx="2589164" cy="583046"/>
            </a:xfrm>
            <a:prstGeom prst="rect">
              <a:avLst/>
            </a:prstGeom>
          </p:spPr>
          <p:txBody>
            <a:bodyPr anchor="ctr" rtlCol="false" tIns="50800" lIns="50800" bIns="50800" rIns="50800"/>
            <a:lstStyle/>
            <a:p>
              <a:pPr algn="ctr">
                <a:lnSpc>
                  <a:spcPts val="3643"/>
                </a:lnSpc>
              </a:pPr>
            </a:p>
          </p:txBody>
        </p:sp>
      </p:grpSp>
      <p:sp>
        <p:nvSpPr>
          <p:cNvPr name="TextBox 22" id="22"/>
          <p:cNvSpPr txBox="true"/>
          <p:nvPr/>
        </p:nvSpPr>
        <p:spPr>
          <a:xfrm rot="0">
            <a:off x="6113836" y="7937725"/>
            <a:ext cx="5361611" cy="481330"/>
          </a:xfrm>
          <a:prstGeom prst="rect">
            <a:avLst/>
          </a:prstGeom>
        </p:spPr>
        <p:txBody>
          <a:bodyPr anchor="t" rtlCol="false" tIns="0" lIns="0" bIns="0" rIns="0">
            <a:spAutoFit/>
          </a:bodyPr>
          <a:lstStyle/>
          <a:p>
            <a:pPr algn="l">
              <a:lnSpc>
                <a:spcPts val="3920"/>
              </a:lnSpc>
            </a:pPr>
            <a:r>
              <a:rPr lang="en-US" sz="2800" b="true">
                <a:solidFill>
                  <a:srgbClr val="FFFFFF"/>
                </a:solidFill>
                <a:latin typeface="Open Sans Bold"/>
                <a:ea typeface="Open Sans Bold"/>
                <a:cs typeface="Open Sans Bold"/>
                <a:sym typeface="Open Sans Bold"/>
              </a:rPr>
              <a:t>Coherence Score</a:t>
            </a:r>
          </a:p>
        </p:txBody>
      </p:sp>
      <p:sp>
        <p:nvSpPr>
          <p:cNvPr name="TextBox 23" id="23"/>
          <p:cNvSpPr txBox="true"/>
          <p:nvPr/>
        </p:nvSpPr>
        <p:spPr>
          <a:xfrm rot="0">
            <a:off x="6113836" y="8583851"/>
            <a:ext cx="9210032" cy="662236"/>
          </a:xfrm>
          <a:prstGeom prst="rect">
            <a:avLst/>
          </a:prstGeom>
        </p:spPr>
        <p:txBody>
          <a:bodyPr anchor="t" rtlCol="false" tIns="0" lIns="0" bIns="0" rIns="0">
            <a:spAutoFit/>
          </a:bodyPr>
          <a:lstStyle/>
          <a:p>
            <a:pPr algn="l">
              <a:lnSpc>
                <a:spcPts val="2671"/>
              </a:lnSpc>
            </a:pPr>
            <a:r>
              <a:rPr lang="en-US" sz="1908">
                <a:solidFill>
                  <a:srgbClr val="FFFFFF"/>
                </a:solidFill>
                <a:latin typeface="Open Sans"/>
                <a:ea typeface="Open Sans"/>
                <a:cs typeface="Open Sans"/>
                <a:sym typeface="Open Sans"/>
              </a:rPr>
              <a:t>Berdasarkan grafik tersebut, jumlah topik yang dipilih adalah lima topik. Karena memberikan keseimbangan antara nilai coherence yang relatif tinggi</a:t>
            </a:r>
          </a:p>
        </p:txBody>
      </p:sp>
      <p:grpSp>
        <p:nvGrpSpPr>
          <p:cNvPr name="Group 24" id="24"/>
          <p:cNvGrpSpPr/>
          <p:nvPr/>
        </p:nvGrpSpPr>
        <p:grpSpPr>
          <a:xfrm rot="0">
            <a:off x="5235133" y="7480525"/>
            <a:ext cx="810001" cy="810001"/>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DC8"/>
            </a:solidFill>
          </p:spPr>
        </p:sp>
        <p:sp>
          <p:nvSpPr>
            <p:cNvPr name="TextBox 26" id="26"/>
            <p:cNvSpPr txBox="true"/>
            <p:nvPr/>
          </p:nvSpPr>
          <p:spPr>
            <a:xfrm>
              <a:off x="76200" y="19050"/>
              <a:ext cx="660400" cy="717550"/>
            </a:xfrm>
            <a:prstGeom prst="rect">
              <a:avLst/>
            </a:prstGeom>
          </p:spPr>
          <p:txBody>
            <a:bodyPr anchor="ctr" rtlCol="false" tIns="50800" lIns="50800" bIns="50800" rIns="50800"/>
            <a:lstStyle/>
            <a:p>
              <a:pPr algn="ctr">
                <a:lnSpc>
                  <a:spcPts val="3643"/>
                </a:lnSpc>
              </a:pPr>
            </a:p>
          </p:txBody>
        </p:sp>
      </p:grpSp>
      <p:sp>
        <p:nvSpPr>
          <p:cNvPr name="Freeform 27" id="27"/>
          <p:cNvSpPr/>
          <p:nvPr/>
        </p:nvSpPr>
        <p:spPr>
          <a:xfrm flipH="false" flipV="false" rot="0">
            <a:off x="5436680" y="7682072"/>
            <a:ext cx="406906" cy="406906"/>
          </a:xfrm>
          <a:custGeom>
            <a:avLst/>
            <a:gdLst/>
            <a:ahLst/>
            <a:cxnLst/>
            <a:rect r="r" b="b" t="t" l="l"/>
            <a:pathLst>
              <a:path h="406906" w="406906">
                <a:moveTo>
                  <a:pt x="0" y="0"/>
                </a:moveTo>
                <a:lnTo>
                  <a:pt x="406906" y="0"/>
                </a:lnTo>
                <a:lnTo>
                  <a:pt x="406906" y="406906"/>
                </a:lnTo>
                <a:lnTo>
                  <a:pt x="0" y="406906"/>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7625" y="48535"/>
            <a:ext cx="1837069" cy="1865045"/>
          </a:xfrm>
          <a:custGeom>
            <a:avLst/>
            <a:gdLst/>
            <a:ahLst/>
            <a:cxnLst/>
            <a:rect r="r" b="b" t="t" l="l"/>
            <a:pathLst>
              <a:path h="1865045" w="1837069">
                <a:moveTo>
                  <a:pt x="0" y="0"/>
                </a:moveTo>
                <a:lnTo>
                  <a:pt x="1837069" y="0"/>
                </a:lnTo>
                <a:lnTo>
                  <a:pt x="1837069" y="1865044"/>
                </a:lnTo>
                <a:lnTo>
                  <a:pt x="0" y="18650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238680" y="8209105"/>
            <a:ext cx="2049320" cy="2049320"/>
          </a:xfrm>
          <a:custGeom>
            <a:avLst/>
            <a:gdLst/>
            <a:ahLst/>
            <a:cxnLst/>
            <a:rect r="r" b="b" t="t" l="l"/>
            <a:pathLst>
              <a:path h="2049320" w="2049320">
                <a:moveTo>
                  <a:pt x="0" y="0"/>
                </a:moveTo>
                <a:lnTo>
                  <a:pt x="2049320" y="0"/>
                </a:lnTo>
                <a:lnTo>
                  <a:pt x="2049320" y="2049320"/>
                </a:lnTo>
                <a:lnTo>
                  <a:pt x="0" y="204932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0">
            <a:off x="-61295" y="8078435"/>
            <a:ext cx="2179990" cy="2179990"/>
          </a:xfrm>
          <a:custGeom>
            <a:avLst/>
            <a:gdLst/>
            <a:ahLst/>
            <a:cxnLst/>
            <a:rect r="r" b="b" t="t" l="l"/>
            <a:pathLst>
              <a:path h="2179990" w="2179990">
                <a:moveTo>
                  <a:pt x="2179990" y="0"/>
                </a:moveTo>
                <a:lnTo>
                  <a:pt x="0" y="0"/>
                </a:lnTo>
                <a:lnTo>
                  <a:pt x="0" y="2179990"/>
                </a:lnTo>
                <a:lnTo>
                  <a:pt x="2179990" y="2179990"/>
                </a:lnTo>
                <a:lnTo>
                  <a:pt x="217999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6526884" y="39010"/>
            <a:ext cx="1752723" cy="1874570"/>
          </a:xfrm>
          <a:custGeom>
            <a:avLst/>
            <a:gdLst/>
            <a:ahLst/>
            <a:cxnLst/>
            <a:rect r="r" b="b" t="t" l="l"/>
            <a:pathLst>
              <a:path h="1874570" w="1752723">
                <a:moveTo>
                  <a:pt x="0" y="0"/>
                </a:moveTo>
                <a:lnTo>
                  <a:pt x="1752722" y="0"/>
                </a:lnTo>
                <a:lnTo>
                  <a:pt x="1752722" y="1874569"/>
                </a:lnTo>
                <a:lnTo>
                  <a:pt x="0" y="1874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851859" y="3437989"/>
            <a:ext cx="2599497" cy="3642153"/>
          </a:xfrm>
          <a:custGeom>
            <a:avLst/>
            <a:gdLst/>
            <a:ahLst/>
            <a:cxnLst/>
            <a:rect r="r" b="b" t="t" l="l"/>
            <a:pathLst>
              <a:path h="3642153" w="2599497">
                <a:moveTo>
                  <a:pt x="0" y="0"/>
                </a:moveTo>
                <a:lnTo>
                  <a:pt x="2599498" y="0"/>
                </a:lnTo>
                <a:lnTo>
                  <a:pt x="2599498" y="3642153"/>
                </a:lnTo>
                <a:lnTo>
                  <a:pt x="0" y="3642153"/>
                </a:lnTo>
                <a:lnTo>
                  <a:pt x="0" y="0"/>
                </a:lnTo>
                <a:close/>
              </a:path>
            </a:pathLst>
          </a:custGeom>
          <a:blipFill>
            <a:blip r:embed="rId8"/>
            <a:stretch>
              <a:fillRect l="0" t="0" r="0" b="0"/>
            </a:stretch>
          </a:blipFill>
          <a:ln w="9525" cap="sq">
            <a:solidFill>
              <a:srgbClr val="000000"/>
            </a:solidFill>
            <a:prstDash val="solid"/>
            <a:miter/>
          </a:ln>
        </p:spPr>
      </p:sp>
      <p:sp>
        <p:nvSpPr>
          <p:cNvPr name="Freeform 7" id="7"/>
          <p:cNvSpPr/>
          <p:nvPr/>
        </p:nvSpPr>
        <p:spPr>
          <a:xfrm flipH="false" flipV="false" rot="0">
            <a:off x="3946391" y="3437989"/>
            <a:ext cx="2876608" cy="3673208"/>
          </a:xfrm>
          <a:custGeom>
            <a:avLst/>
            <a:gdLst/>
            <a:ahLst/>
            <a:cxnLst/>
            <a:rect r="r" b="b" t="t" l="l"/>
            <a:pathLst>
              <a:path h="3673208" w="2876608">
                <a:moveTo>
                  <a:pt x="0" y="0"/>
                </a:moveTo>
                <a:lnTo>
                  <a:pt x="2876608" y="0"/>
                </a:lnTo>
                <a:lnTo>
                  <a:pt x="2876608" y="3673208"/>
                </a:lnTo>
                <a:lnTo>
                  <a:pt x="0" y="3673208"/>
                </a:lnTo>
                <a:lnTo>
                  <a:pt x="0" y="0"/>
                </a:lnTo>
                <a:close/>
              </a:path>
            </a:pathLst>
          </a:custGeom>
          <a:blipFill>
            <a:blip r:embed="rId9"/>
            <a:stretch>
              <a:fillRect l="0" t="0" r="0" b="0"/>
            </a:stretch>
          </a:blipFill>
          <a:ln w="9525" cap="sq">
            <a:solidFill>
              <a:srgbClr val="000000"/>
            </a:solidFill>
            <a:prstDash val="solid"/>
            <a:miter/>
          </a:ln>
        </p:spPr>
      </p:sp>
      <p:sp>
        <p:nvSpPr>
          <p:cNvPr name="Freeform 8" id="8"/>
          <p:cNvSpPr/>
          <p:nvPr/>
        </p:nvSpPr>
        <p:spPr>
          <a:xfrm flipH="false" flipV="false" rot="0">
            <a:off x="7318299" y="3393859"/>
            <a:ext cx="2896066" cy="3717338"/>
          </a:xfrm>
          <a:custGeom>
            <a:avLst/>
            <a:gdLst/>
            <a:ahLst/>
            <a:cxnLst/>
            <a:rect r="r" b="b" t="t" l="l"/>
            <a:pathLst>
              <a:path h="3717338" w="2896066">
                <a:moveTo>
                  <a:pt x="0" y="0"/>
                </a:moveTo>
                <a:lnTo>
                  <a:pt x="2896066" y="0"/>
                </a:lnTo>
                <a:lnTo>
                  <a:pt x="2896066" y="3717338"/>
                </a:lnTo>
                <a:lnTo>
                  <a:pt x="0" y="3717338"/>
                </a:lnTo>
                <a:lnTo>
                  <a:pt x="0" y="0"/>
                </a:lnTo>
                <a:close/>
              </a:path>
            </a:pathLst>
          </a:custGeom>
          <a:blipFill>
            <a:blip r:embed="rId10"/>
            <a:stretch>
              <a:fillRect l="0" t="0" r="0" b="0"/>
            </a:stretch>
          </a:blipFill>
          <a:ln w="9525" cap="sq">
            <a:solidFill>
              <a:srgbClr val="000000"/>
            </a:solidFill>
            <a:prstDash val="solid"/>
            <a:miter/>
          </a:ln>
        </p:spPr>
      </p:sp>
      <p:sp>
        <p:nvSpPr>
          <p:cNvPr name="Freeform 9" id="9"/>
          <p:cNvSpPr/>
          <p:nvPr/>
        </p:nvSpPr>
        <p:spPr>
          <a:xfrm flipH="false" flipV="false" rot="0">
            <a:off x="10709665" y="3437989"/>
            <a:ext cx="2851755" cy="3702802"/>
          </a:xfrm>
          <a:custGeom>
            <a:avLst/>
            <a:gdLst/>
            <a:ahLst/>
            <a:cxnLst/>
            <a:rect r="r" b="b" t="t" l="l"/>
            <a:pathLst>
              <a:path h="3702802" w="2851755">
                <a:moveTo>
                  <a:pt x="0" y="0"/>
                </a:moveTo>
                <a:lnTo>
                  <a:pt x="2851755" y="0"/>
                </a:lnTo>
                <a:lnTo>
                  <a:pt x="2851755" y="3702802"/>
                </a:lnTo>
                <a:lnTo>
                  <a:pt x="0" y="3702802"/>
                </a:lnTo>
                <a:lnTo>
                  <a:pt x="0" y="0"/>
                </a:lnTo>
                <a:close/>
              </a:path>
            </a:pathLst>
          </a:custGeom>
          <a:blipFill>
            <a:blip r:embed="rId11"/>
            <a:stretch>
              <a:fillRect l="0" t="0" r="0" b="0"/>
            </a:stretch>
          </a:blipFill>
          <a:ln w="9525" cap="sq">
            <a:solidFill>
              <a:srgbClr val="000000"/>
            </a:solidFill>
            <a:prstDash val="solid"/>
            <a:miter/>
          </a:ln>
        </p:spPr>
      </p:sp>
      <p:sp>
        <p:nvSpPr>
          <p:cNvPr name="Freeform 10" id="10"/>
          <p:cNvSpPr/>
          <p:nvPr/>
        </p:nvSpPr>
        <p:spPr>
          <a:xfrm flipH="false" flipV="false" rot="0">
            <a:off x="14161495" y="3417188"/>
            <a:ext cx="2661915" cy="3723604"/>
          </a:xfrm>
          <a:custGeom>
            <a:avLst/>
            <a:gdLst/>
            <a:ahLst/>
            <a:cxnLst/>
            <a:rect r="r" b="b" t="t" l="l"/>
            <a:pathLst>
              <a:path h="3723604" w="2661915">
                <a:moveTo>
                  <a:pt x="0" y="0"/>
                </a:moveTo>
                <a:lnTo>
                  <a:pt x="2661915" y="0"/>
                </a:lnTo>
                <a:lnTo>
                  <a:pt x="2661915" y="3723603"/>
                </a:lnTo>
                <a:lnTo>
                  <a:pt x="0" y="3723603"/>
                </a:lnTo>
                <a:lnTo>
                  <a:pt x="0" y="0"/>
                </a:lnTo>
                <a:close/>
              </a:path>
            </a:pathLst>
          </a:custGeom>
          <a:blipFill>
            <a:blip r:embed="rId12"/>
            <a:stretch>
              <a:fillRect l="0" t="0" r="0" b="0"/>
            </a:stretch>
          </a:blipFill>
          <a:ln w="9525" cap="sq">
            <a:solidFill>
              <a:srgbClr val="000000"/>
            </a:solidFill>
            <a:prstDash val="solid"/>
            <a:miter/>
          </a:ln>
        </p:spPr>
      </p:sp>
      <p:sp>
        <p:nvSpPr>
          <p:cNvPr name="TextBox 11" id="11"/>
          <p:cNvSpPr txBox="true"/>
          <p:nvPr/>
        </p:nvSpPr>
        <p:spPr>
          <a:xfrm rot="0">
            <a:off x="4500947" y="733407"/>
            <a:ext cx="10002242" cy="1193800"/>
          </a:xfrm>
          <a:prstGeom prst="rect">
            <a:avLst/>
          </a:prstGeom>
        </p:spPr>
        <p:txBody>
          <a:bodyPr anchor="t" rtlCol="false" tIns="0" lIns="0" bIns="0" rIns="0">
            <a:spAutoFit/>
          </a:bodyPr>
          <a:lstStyle/>
          <a:p>
            <a:pPr algn="ctr">
              <a:lnSpc>
                <a:spcPts val="9799"/>
              </a:lnSpc>
            </a:pPr>
            <a:r>
              <a:rPr lang="en-US" sz="6999" b="true">
                <a:solidFill>
                  <a:srgbClr val="245095"/>
                </a:solidFill>
                <a:latin typeface="Open Sans Bold"/>
                <a:ea typeface="Open Sans Bold"/>
                <a:cs typeface="Open Sans Bold"/>
                <a:sym typeface="Open Sans Bold"/>
              </a:rPr>
              <a:t>LDA Sentimen Positif</a:t>
            </a:r>
          </a:p>
        </p:txBody>
      </p:sp>
      <p:grpSp>
        <p:nvGrpSpPr>
          <p:cNvPr name="Group 12" id="12"/>
          <p:cNvGrpSpPr/>
          <p:nvPr/>
        </p:nvGrpSpPr>
        <p:grpSpPr>
          <a:xfrm rot="0">
            <a:off x="2846463" y="7769441"/>
            <a:ext cx="12426510" cy="1901265"/>
            <a:chOff x="0" y="0"/>
            <a:chExt cx="3272826" cy="500745"/>
          </a:xfrm>
        </p:grpSpPr>
        <p:sp>
          <p:nvSpPr>
            <p:cNvPr name="Freeform 13" id="13"/>
            <p:cNvSpPr/>
            <p:nvPr/>
          </p:nvSpPr>
          <p:spPr>
            <a:xfrm flipH="false" flipV="false" rot="0">
              <a:off x="0" y="0"/>
              <a:ext cx="3272825" cy="500745"/>
            </a:xfrm>
            <a:custGeom>
              <a:avLst/>
              <a:gdLst/>
              <a:ahLst/>
              <a:cxnLst/>
              <a:rect r="r" b="b" t="t" l="l"/>
              <a:pathLst>
                <a:path h="500745" w="3272825">
                  <a:moveTo>
                    <a:pt x="16198" y="0"/>
                  </a:moveTo>
                  <a:lnTo>
                    <a:pt x="3256627" y="0"/>
                  </a:lnTo>
                  <a:cubicBezTo>
                    <a:pt x="3260923" y="0"/>
                    <a:pt x="3265043" y="1707"/>
                    <a:pt x="3268081" y="4744"/>
                  </a:cubicBezTo>
                  <a:cubicBezTo>
                    <a:pt x="3271119" y="7782"/>
                    <a:pt x="3272825" y="11902"/>
                    <a:pt x="3272825" y="16198"/>
                  </a:cubicBezTo>
                  <a:lnTo>
                    <a:pt x="3272825" y="484546"/>
                  </a:lnTo>
                  <a:cubicBezTo>
                    <a:pt x="3272825" y="493492"/>
                    <a:pt x="3265573" y="500745"/>
                    <a:pt x="3256627" y="500745"/>
                  </a:cubicBezTo>
                  <a:lnTo>
                    <a:pt x="16198" y="500745"/>
                  </a:lnTo>
                  <a:cubicBezTo>
                    <a:pt x="11902" y="500745"/>
                    <a:pt x="7782" y="499038"/>
                    <a:pt x="4744" y="496000"/>
                  </a:cubicBezTo>
                  <a:cubicBezTo>
                    <a:pt x="1707" y="492962"/>
                    <a:pt x="0" y="488842"/>
                    <a:pt x="0" y="484546"/>
                  </a:cubicBezTo>
                  <a:lnTo>
                    <a:pt x="0" y="16198"/>
                  </a:lnTo>
                  <a:cubicBezTo>
                    <a:pt x="0" y="11902"/>
                    <a:pt x="1707" y="7782"/>
                    <a:pt x="4744" y="4744"/>
                  </a:cubicBezTo>
                  <a:cubicBezTo>
                    <a:pt x="7782" y="1707"/>
                    <a:pt x="11902" y="0"/>
                    <a:pt x="16198" y="0"/>
                  </a:cubicBezTo>
                  <a:close/>
                </a:path>
              </a:pathLst>
            </a:custGeom>
            <a:solidFill>
              <a:srgbClr val="D9D9D9"/>
            </a:solidFill>
          </p:spPr>
        </p:sp>
        <p:sp>
          <p:nvSpPr>
            <p:cNvPr name="TextBox 14" id="14"/>
            <p:cNvSpPr txBox="true"/>
            <p:nvPr/>
          </p:nvSpPr>
          <p:spPr>
            <a:xfrm>
              <a:off x="0" y="-57150"/>
              <a:ext cx="3272826" cy="557895"/>
            </a:xfrm>
            <a:prstGeom prst="rect">
              <a:avLst/>
            </a:prstGeom>
          </p:spPr>
          <p:txBody>
            <a:bodyPr anchor="ctr" rtlCol="false" tIns="50800" lIns="50800" bIns="50800" rIns="50800"/>
            <a:lstStyle/>
            <a:p>
              <a:pPr algn="ctr">
                <a:lnSpc>
                  <a:spcPts val="3643"/>
                </a:lnSpc>
              </a:pPr>
            </a:p>
          </p:txBody>
        </p:sp>
      </p:grpSp>
      <p:sp>
        <p:nvSpPr>
          <p:cNvPr name="TextBox 15" id="15"/>
          <p:cNvSpPr txBox="true"/>
          <p:nvPr/>
        </p:nvSpPr>
        <p:spPr>
          <a:xfrm rot="0">
            <a:off x="3086474" y="7983185"/>
            <a:ext cx="11946486" cy="1406525"/>
          </a:xfrm>
          <a:prstGeom prst="rect">
            <a:avLst/>
          </a:prstGeom>
        </p:spPr>
        <p:txBody>
          <a:bodyPr anchor="t" rtlCol="false" tIns="0" lIns="0" bIns="0" rIns="0">
            <a:spAutoFit/>
          </a:bodyPr>
          <a:lstStyle/>
          <a:p>
            <a:pPr algn="ctr">
              <a:lnSpc>
                <a:spcPts val="2800"/>
              </a:lnSpc>
            </a:pPr>
            <a:r>
              <a:rPr lang="en-US" sz="2000">
                <a:solidFill>
                  <a:srgbClr val="000000"/>
                </a:solidFill>
                <a:latin typeface="Open Sans"/>
                <a:ea typeface="Open Sans"/>
                <a:cs typeface="Open Sans"/>
                <a:sym typeface="Open Sans"/>
              </a:rPr>
              <a:t>Pada sentimen positif, topik yang terbentuk didominasi oleh ekspresi kepuasan pengguna, baik dalam bentuk komentar singkat seperti ‘oke’ dan ‘mantap’, maupun pengalaman belanja yang mudah dan cepat. Selain itu, pengguna juga banyak menyoroti kepercayaan terhadap toko serta promo dan layanan pengiriman Shopee.</a:t>
            </a:r>
          </a:p>
        </p:txBody>
      </p:sp>
      <p:sp>
        <p:nvSpPr>
          <p:cNvPr name="TextBox 16" id="16"/>
          <p:cNvSpPr txBox="true"/>
          <p:nvPr/>
        </p:nvSpPr>
        <p:spPr>
          <a:xfrm rot="0">
            <a:off x="851859" y="2511209"/>
            <a:ext cx="2599497" cy="701675"/>
          </a:xfrm>
          <a:prstGeom prst="rect">
            <a:avLst/>
          </a:prstGeom>
        </p:spPr>
        <p:txBody>
          <a:bodyPr anchor="t" rtlCol="false" tIns="0" lIns="0" bIns="0" rIns="0">
            <a:spAutoFit/>
          </a:bodyPr>
          <a:lstStyle/>
          <a:p>
            <a:pPr algn="l">
              <a:lnSpc>
                <a:spcPts val="2800"/>
              </a:lnSpc>
            </a:pPr>
            <a:r>
              <a:rPr lang="en-US" sz="2000" b="true">
                <a:solidFill>
                  <a:srgbClr val="245095"/>
                </a:solidFill>
                <a:latin typeface="Open Sans Bold"/>
                <a:ea typeface="Open Sans Bold"/>
                <a:cs typeface="Open Sans Bold"/>
                <a:sym typeface="Open Sans Bold"/>
              </a:rPr>
              <a:t>Ekspresi Kepuasan Singkat</a:t>
            </a:r>
          </a:p>
        </p:txBody>
      </p:sp>
      <p:sp>
        <p:nvSpPr>
          <p:cNvPr name="TextBox 17" id="17"/>
          <p:cNvSpPr txBox="true"/>
          <p:nvPr/>
        </p:nvSpPr>
        <p:spPr>
          <a:xfrm rot="0">
            <a:off x="3946391" y="2687421"/>
            <a:ext cx="2599497" cy="349250"/>
          </a:xfrm>
          <a:prstGeom prst="rect">
            <a:avLst/>
          </a:prstGeom>
        </p:spPr>
        <p:txBody>
          <a:bodyPr anchor="t" rtlCol="false" tIns="0" lIns="0" bIns="0" rIns="0">
            <a:spAutoFit/>
          </a:bodyPr>
          <a:lstStyle/>
          <a:p>
            <a:pPr algn="l">
              <a:lnSpc>
                <a:spcPts val="2800"/>
              </a:lnSpc>
            </a:pPr>
            <a:r>
              <a:rPr lang="en-US" sz="2000" b="true">
                <a:solidFill>
                  <a:srgbClr val="245095"/>
                </a:solidFill>
                <a:latin typeface="Open Sans Bold"/>
                <a:ea typeface="Open Sans Bold"/>
                <a:cs typeface="Open Sans Bold"/>
                <a:sym typeface="Open Sans Bold"/>
              </a:rPr>
              <a:t>Pengalaman Belanja </a:t>
            </a:r>
          </a:p>
        </p:txBody>
      </p:sp>
      <p:sp>
        <p:nvSpPr>
          <p:cNvPr name="TextBox 18" id="18"/>
          <p:cNvSpPr txBox="true"/>
          <p:nvPr/>
        </p:nvSpPr>
        <p:spPr>
          <a:xfrm rot="0">
            <a:off x="7318299" y="2511209"/>
            <a:ext cx="3371908" cy="701675"/>
          </a:xfrm>
          <a:prstGeom prst="rect">
            <a:avLst/>
          </a:prstGeom>
        </p:spPr>
        <p:txBody>
          <a:bodyPr anchor="t" rtlCol="false" tIns="0" lIns="0" bIns="0" rIns="0">
            <a:spAutoFit/>
          </a:bodyPr>
          <a:lstStyle/>
          <a:p>
            <a:pPr algn="l">
              <a:lnSpc>
                <a:spcPts val="2800"/>
              </a:lnSpc>
            </a:pPr>
            <a:r>
              <a:rPr lang="en-US" sz="2000" b="true">
                <a:solidFill>
                  <a:srgbClr val="245095"/>
                </a:solidFill>
                <a:latin typeface="Open Sans Bold"/>
                <a:ea typeface="Open Sans Bold"/>
                <a:cs typeface="Open Sans Bold"/>
                <a:sym typeface="Open Sans Bold"/>
              </a:rPr>
              <a:t>Kepercayaan terhadap Produk dan Toko</a:t>
            </a:r>
          </a:p>
        </p:txBody>
      </p:sp>
      <p:sp>
        <p:nvSpPr>
          <p:cNvPr name="TextBox 19" id="19"/>
          <p:cNvSpPr txBox="true"/>
          <p:nvPr/>
        </p:nvSpPr>
        <p:spPr>
          <a:xfrm rot="0">
            <a:off x="10690207" y="2511209"/>
            <a:ext cx="3366512" cy="701675"/>
          </a:xfrm>
          <a:prstGeom prst="rect">
            <a:avLst/>
          </a:prstGeom>
        </p:spPr>
        <p:txBody>
          <a:bodyPr anchor="t" rtlCol="false" tIns="0" lIns="0" bIns="0" rIns="0">
            <a:spAutoFit/>
          </a:bodyPr>
          <a:lstStyle/>
          <a:p>
            <a:pPr algn="l">
              <a:lnSpc>
                <a:spcPts val="2800"/>
              </a:lnSpc>
            </a:pPr>
            <a:r>
              <a:rPr lang="en-US" sz="2000" b="true">
                <a:solidFill>
                  <a:srgbClr val="245095"/>
                </a:solidFill>
                <a:latin typeface="Open Sans Bold"/>
                <a:ea typeface="Open Sans Bold"/>
                <a:cs typeface="Open Sans Bold"/>
                <a:sym typeface="Open Sans Bold"/>
              </a:rPr>
              <a:t>Promo dan Pengalaman Pengiriman </a:t>
            </a:r>
          </a:p>
        </p:txBody>
      </p:sp>
      <p:sp>
        <p:nvSpPr>
          <p:cNvPr name="TextBox 20" id="20"/>
          <p:cNvSpPr txBox="true"/>
          <p:nvPr/>
        </p:nvSpPr>
        <p:spPr>
          <a:xfrm rot="0">
            <a:off x="14166891" y="2511209"/>
            <a:ext cx="3610888" cy="701675"/>
          </a:xfrm>
          <a:prstGeom prst="rect">
            <a:avLst/>
          </a:prstGeom>
        </p:spPr>
        <p:txBody>
          <a:bodyPr anchor="t" rtlCol="false" tIns="0" lIns="0" bIns="0" rIns="0">
            <a:spAutoFit/>
          </a:bodyPr>
          <a:lstStyle/>
          <a:p>
            <a:pPr algn="l">
              <a:lnSpc>
                <a:spcPts val="2800"/>
              </a:lnSpc>
            </a:pPr>
            <a:r>
              <a:rPr lang="en-US" sz="2000" b="true">
                <a:solidFill>
                  <a:srgbClr val="245095"/>
                </a:solidFill>
                <a:latin typeface="Open Sans Bold"/>
                <a:ea typeface="Open Sans Bold"/>
                <a:cs typeface="Open Sans Bold"/>
                <a:sym typeface="Open Sans Bold"/>
              </a:rPr>
              <a:t>Kepuasan terhadap Kualitas Barang dan Pengiriman</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7625" y="48535"/>
            <a:ext cx="1837069" cy="1865045"/>
          </a:xfrm>
          <a:custGeom>
            <a:avLst/>
            <a:gdLst/>
            <a:ahLst/>
            <a:cxnLst/>
            <a:rect r="r" b="b" t="t" l="l"/>
            <a:pathLst>
              <a:path h="1865045" w="1837069">
                <a:moveTo>
                  <a:pt x="0" y="0"/>
                </a:moveTo>
                <a:lnTo>
                  <a:pt x="1837069" y="0"/>
                </a:lnTo>
                <a:lnTo>
                  <a:pt x="1837069" y="1865044"/>
                </a:lnTo>
                <a:lnTo>
                  <a:pt x="0" y="18650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238680" y="8209105"/>
            <a:ext cx="2049320" cy="2049320"/>
          </a:xfrm>
          <a:custGeom>
            <a:avLst/>
            <a:gdLst/>
            <a:ahLst/>
            <a:cxnLst/>
            <a:rect r="r" b="b" t="t" l="l"/>
            <a:pathLst>
              <a:path h="2049320" w="2049320">
                <a:moveTo>
                  <a:pt x="0" y="0"/>
                </a:moveTo>
                <a:lnTo>
                  <a:pt x="2049320" y="0"/>
                </a:lnTo>
                <a:lnTo>
                  <a:pt x="2049320" y="2049320"/>
                </a:lnTo>
                <a:lnTo>
                  <a:pt x="0" y="204932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0">
            <a:off x="-61295" y="8078435"/>
            <a:ext cx="2179990" cy="2179990"/>
          </a:xfrm>
          <a:custGeom>
            <a:avLst/>
            <a:gdLst/>
            <a:ahLst/>
            <a:cxnLst/>
            <a:rect r="r" b="b" t="t" l="l"/>
            <a:pathLst>
              <a:path h="2179990" w="2179990">
                <a:moveTo>
                  <a:pt x="2179990" y="0"/>
                </a:moveTo>
                <a:lnTo>
                  <a:pt x="0" y="0"/>
                </a:lnTo>
                <a:lnTo>
                  <a:pt x="0" y="2179990"/>
                </a:lnTo>
                <a:lnTo>
                  <a:pt x="2179990" y="2179990"/>
                </a:lnTo>
                <a:lnTo>
                  <a:pt x="217999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6526884" y="39010"/>
            <a:ext cx="1752723" cy="1874570"/>
          </a:xfrm>
          <a:custGeom>
            <a:avLst/>
            <a:gdLst/>
            <a:ahLst/>
            <a:cxnLst/>
            <a:rect r="r" b="b" t="t" l="l"/>
            <a:pathLst>
              <a:path h="1874570" w="1752723">
                <a:moveTo>
                  <a:pt x="0" y="0"/>
                </a:moveTo>
                <a:lnTo>
                  <a:pt x="1752722" y="0"/>
                </a:lnTo>
                <a:lnTo>
                  <a:pt x="1752722" y="1874569"/>
                </a:lnTo>
                <a:lnTo>
                  <a:pt x="0" y="1874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2846463" y="7769441"/>
            <a:ext cx="12426510" cy="1488859"/>
            <a:chOff x="0" y="0"/>
            <a:chExt cx="3272826" cy="392127"/>
          </a:xfrm>
        </p:grpSpPr>
        <p:sp>
          <p:nvSpPr>
            <p:cNvPr name="Freeform 7" id="7"/>
            <p:cNvSpPr/>
            <p:nvPr/>
          </p:nvSpPr>
          <p:spPr>
            <a:xfrm flipH="false" flipV="false" rot="0">
              <a:off x="0" y="0"/>
              <a:ext cx="3272825" cy="392127"/>
            </a:xfrm>
            <a:custGeom>
              <a:avLst/>
              <a:gdLst/>
              <a:ahLst/>
              <a:cxnLst/>
              <a:rect r="r" b="b" t="t" l="l"/>
              <a:pathLst>
                <a:path h="392127" w="3272825">
                  <a:moveTo>
                    <a:pt x="16198" y="0"/>
                  </a:moveTo>
                  <a:lnTo>
                    <a:pt x="3256627" y="0"/>
                  </a:lnTo>
                  <a:cubicBezTo>
                    <a:pt x="3260923" y="0"/>
                    <a:pt x="3265043" y="1707"/>
                    <a:pt x="3268081" y="4744"/>
                  </a:cubicBezTo>
                  <a:cubicBezTo>
                    <a:pt x="3271119" y="7782"/>
                    <a:pt x="3272825" y="11902"/>
                    <a:pt x="3272825" y="16198"/>
                  </a:cubicBezTo>
                  <a:lnTo>
                    <a:pt x="3272825" y="375929"/>
                  </a:lnTo>
                  <a:cubicBezTo>
                    <a:pt x="3272825" y="384875"/>
                    <a:pt x="3265573" y="392127"/>
                    <a:pt x="3256627" y="392127"/>
                  </a:cubicBezTo>
                  <a:lnTo>
                    <a:pt x="16198" y="392127"/>
                  </a:lnTo>
                  <a:cubicBezTo>
                    <a:pt x="11902" y="392127"/>
                    <a:pt x="7782" y="390421"/>
                    <a:pt x="4744" y="387383"/>
                  </a:cubicBezTo>
                  <a:cubicBezTo>
                    <a:pt x="1707" y="384345"/>
                    <a:pt x="0" y="380225"/>
                    <a:pt x="0" y="375929"/>
                  </a:cubicBezTo>
                  <a:lnTo>
                    <a:pt x="0" y="16198"/>
                  </a:lnTo>
                  <a:cubicBezTo>
                    <a:pt x="0" y="11902"/>
                    <a:pt x="1707" y="7782"/>
                    <a:pt x="4744" y="4744"/>
                  </a:cubicBezTo>
                  <a:cubicBezTo>
                    <a:pt x="7782" y="1707"/>
                    <a:pt x="11902" y="0"/>
                    <a:pt x="16198" y="0"/>
                  </a:cubicBezTo>
                  <a:close/>
                </a:path>
              </a:pathLst>
            </a:custGeom>
            <a:solidFill>
              <a:srgbClr val="245095"/>
            </a:solidFill>
          </p:spPr>
        </p:sp>
        <p:sp>
          <p:nvSpPr>
            <p:cNvPr name="TextBox 8" id="8"/>
            <p:cNvSpPr txBox="true"/>
            <p:nvPr/>
          </p:nvSpPr>
          <p:spPr>
            <a:xfrm>
              <a:off x="0" y="-57150"/>
              <a:ext cx="3272826" cy="449277"/>
            </a:xfrm>
            <a:prstGeom prst="rect">
              <a:avLst/>
            </a:prstGeom>
          </p:spPr>
          <p:txBody>
            <a:bodyPr anchor="ctr" rtlCol="false" tIns="50800" lIns="50800" bIns="50800" rIns="50800"/>
            <a:lstStyle/>
            <a:p>
              <a:pPr algn="ctr">
                <a:lnSpc>
                  <a:spcPts val="3643"/>
                </a:lnSpc>
              </a:pPr>
            </a:p>
          </p:txBody>
        </p:sp>
      </p:grpSp>
      <p:sp>
        <p:nvSpPr>
          <p:cNvPr name="Freeform 9" id="9"/>
          <p:cNvSpPr/>
          <p:nvPr/>
        </p:nvSpPr>
        <p:spPr>
          <a:xfrm flipH="false" flipV="false" rot="0">
            <a:off x="1561638" y="3429963"/>
            <a:ext cx="2562417" cy="3686284"/>
          </a:xfrm>
          <a:custGeom>
            <a:avLst/>
            <a:gdLst/>
            <a:ahLst/>
            <a:cxnLst/>
            <a:rect r="r" b="b" t="t" l="l"/>
            <a:pathLst>
              <a:path h="3686284" w="2562417">
                <a:moveTo>
                  <a:pt x="0" y="0"/>
                </a:moveTo>
                <a:lnTo>
                  <a:pt x="2562417" y="0"/>
                </a:lnTo>
                <a:lnTo>
                  <a:pt x="2562417" y="3686284"/>
                </a:lnTo>
                <a:lnTo>
                  <a:pt x="0" y="3686284"/>
                </a:lnTo>
                <a:lnTo>
                  <a:pt x="0" y="0"/>
                </a:lnTo>
                <a:close/>
              </a:path>
            </a:pathLst>
          </a:custGeom>
          <a:blipFill>
            <a:blip r:embed="rId8"/>
            <a:stretch>
              <a:fillRect l="0" t="0" r="0" b="0"/>
            </a:stretch>
          </a:blipFill>
          <a:ln w="9525" cap="sq">
            <a:solidFill>
              <a:srgbClr val="000000"/>
            </a:solidFill>
            <a:prstDash val="solid"/>
            <a:miter/>
          </a:ln>
        </p:spPr>
      </p:sp>
      <p:sp>
        <p:nvSpPr>
          <p:cNvPr name="Freeform 10" id="10"/>
          <p:cNvSpPr/>
          <p:nvPr/>
        </p:nvSpPr>
        <p:spPr>
          <a:xfrm flipH="false" flipV="false" rot="0">
            <a:off x="4619089" y="3415699"/>
            <a:ext cx="2636311" cy="3723604"/>
          </a:xfrm>
          <a:custGeom>
            <a:avLst/>
            <a:gdLst/>
            <a:ahLst/>
            <a:cxnLst/>
            <a:rect r="r" b="b" t="t" l="l"/>
            <a:pathLst>
              <a:path h="3723604" w="2636311">
                <a:moveTo>
                  <a:pt x="0" y="0"/>
                </a:moveTo>
                <a:lnTo>
                  <a:pt x="2636311" y="0"/>
                </a:lnTo>
                <a:lnTo>
                  <a:pt x="2636311" y="3723604"/>
                </a:lnTo>
                <a:lnTo>
                  <a:pt x="0" y="3723604"/>
                </a:lnTo>
                <a:lnTo>
                  <a:pt x="0" y="0"/>
                </a:lnTo>
                <a:close/>
              </a:path>
            </a:pathLst>
          </a:custGeom>
          <a:blipFill>
            <a:blip r:embed="rId9"/>
            <a:stretch>
              <a:fillRect l="0" t="0" r="0" b="0"/>
            </a:stretch>
          </a:blipFill>
          <a:ln w="9525" cap="sq">
            <a:solidFill>
              <a:srgbClr val="000000"/>
            </a:solidFill>
            <a:prstDash val="solid"/>
            <a:miter/>
          </a:ln>
        </p:spPr>
      </p:sp>
      <p:sp>
        <p:nvSpPr>
          <p:cNvPr name="Freeform 11" id="11"/>
          <p:cNvSpPr/>
          <p:nvPr/>
        </p:nvSpPr>
        <p:spPr>
          <a:xfrm flipH="false" flipV="false" rot="0">
            <a:off x="7750700" y="3438756"/>
            <a:ext cx="2632503" cy="3700547"/>
          </a:xfrm>
          <a:custGeom>
            <a:avLst/>
            <a:gdLst/>
            <a:ahLst/>
            <a:cxnLst/>
            <a:rect r="r" b="b" t="t" l="l"/>
            <a:pathLst>
              <a:path h="3700547" w="2632503">
                <a:moveTo>
                  <a:pt x="0" y="0"/>
                </a:moveTo>
                <a:lnTo>
                  <a:pt x="2632503" y="0"/>
                </a:lnTo>
                <a:lnTo>
                  <a:pt x="2632503" y="3700547"/>
                </a:lnTo>
                <a:lnTo>
                  <a:pt x="0" y="3700547"/>
                </a:lnTo>
                <a:lnTo>
                  <a:pt x="0" y="0"/>
                </a:lnTo>
                <a:close/>
              </a:path>
            </a:pathLst>
          </a:custGeom>
          <a:blipFill>
            <a:blip r:embed="rId10"/>
            <a:stretch>
              <a:fillRect l="0" t="0" r="0" b="0"/>
            </a:stretch>
          </a:blipFill>
          <a:ln w="9525" cap="sq">
            <a:solidFill>
              <a:srgbClr val="000000"/>
            </a:solidFill>
            <a:prstDash val="solid"/>
            <a:miter/>
          </a:ln>
        </p:spPr>
      </p:sp>
      <p:sp>
        <p:nvSpPr>
          <p:cNvPr name="Freeform 12" id="12"/>
          <p:cNvSpPr/>
          <p:nvPr/>
        </p:nvSpPr>
        <p:spPr>
          <a:xfrm flipH="false" flipV="false" rot="0">
            <a:off x="10878503" y="3438756"/>
            <a:ext cx="2671810" cy="3677491"/>
          </a:xfrm>
          <a:custGeom>
            <a:avLst/>
            <a:gdLst/>
            <a:ahLst/>
            <a:cxnLst/>
            <a:rect r="r" b="b" t="t" l="l"/>
            <a:pathLst>
              <a:path h="3677491" w="2671810">
                <a:moveTo>
                  <a:pt x="0" y="0"/>
                </a:moveTo>
                <a:lnTo>
                  <a:pt x="2671810" y="0"/>
                </a:lnTo>
                <a:lnTo>
                  <a:pt x="2671810" y="3677491"/>
                </a:lnTo>
                <a:lnTo>
                  <a:pt x="0" y="3677491"/>
                </a:lnTo>
                <a:lnTo>
                  <a:pt x="0" y="0"/>
                </a:lnTo>
                <a:close/>
              </a:path>
            </a:pathLst>
          </a:custGeom>
          <a:blipFill>
            <a:blip r:embed="rId11"/>
            <a:stretch>
              <a:fillRect l="0" t="0" r="0" b="0"/>
            </a:stretch>
          </a:blipFill>
          <a:ln w="9525" cap="sq">
            <a:solidFill>
              <a:srgbClr val="000000"/>
            </a:solidFill>
            <a:prstDash val="solid"/>
            <a:miter/>
          </a:ln>
        </p:spPr>
      </p:sp>
      <p:sp>
        <p:nvSpPr>
          <p:cNvPr name="Freeform 13" id="13"/>
          <p:cNvSpPr/>
          <p:nvPr/>
        </p:nvSpPr>
        <p:spPr>
          <a:xfrm flipH="false" flipV="false" rot="0">
            <a:off x="14045613" y="3438756"/>
            <a:ext cx="2717829" cy="3700547"/>
          </a:xfrm>
          <a:custGeom>
            <a:avLst/>
            <a:gdLst/>
            <a:ahLst/>
            <a:cxnLst/>
            <a:rect r="r" b="b" t="t" l="l"/>
            <a:pathLst>
              <a:path h="3700547" w="2717829">
                <a:moveTo>
                  <a:pt x="0" y="0"/>
                </a:moveTo>
                <a:lnTo>
                  <a:pt x="2717829" y="0"/>
                </a:lnTo>
                <a:lnTo>
                  <a:pt x="2717829" y="3700547"/>
                </a:lnTo>
                <a:lnTo>
                  <a:pt x="0" y="3700547"/>
                </a:lnTo>
                <a:lnTo>
                  <a:pt x="0" y="0"/>
                </a:lnTo>
                <a:close/>
              </a:path>
            </a:pathLst>
          </a:custGeom>
          <a:blipFill>
            <a:blip r:embed="rId12"/>
            <a:stretch>
              <a:fillRect l="0" t="0" r="0" b="0"/>
            </a:stretch>
          </a:blipFill>
          <a:ln w="9525" cap="sq">
            <a:solidFill>
              <a:srgbClr val="000000"/>
            </a:solidFill>
            <a:prstDash val="solid"/>
            <a:miter/>
          </a:ln>
        </p:spPr>
      </p:sp>
      <p:sp>
        <p:nvSpPr>
          <p:cNvPr name="TextBox 14" id="14"/>
          <p:cNvSpPr txBox="true"/>
          <p:nvPr/>
        </p:nvSpPr>
        <p:spPr>
          <a:xfrm rot="0">
            <a:off x="4500947" y="733407"/>
            <a:ext cx="10002242" cy="1193800"/>
          </a:xfrm>
          <a:prstGeom prst="rect">
            <a:avLst/>
          </a:prstGeom>
        </p:spPr>
        <p:txBody>
          <a:bodyPr anchor="t" rtlCol="false" tIns="0" lIns="0" bIns="0" rIns="0">
            <a:spAutoFit/>
          </a:bodyPr>
          <a:lstStyle/>
          <a:p>
            <a:pPr algn="ctr">
              <a:lnSpc>
                <a:spcPts val="9799"/>
              </a:lnSpc>
            </a:pPr>
            <a:r>
              <a:rPr lang="en-US" sz="6999" b="true">
                <a:solidFill>
                  <a:srgbClr val="245095"/>
                </a:solidFill>
                <a:latin typeface="Open Sans Bold"/>
                <a:ea typeface="Open Sans Bold"/>
                <a:cs typeface="Open Sans Bold"/>
                <a:sym typeface="Open Sans Bold"/>
              </a:rPr>
              <a:t>LDA Sentimen Netral</a:t>
            </a:r>
          </a:p>
        </p:txBody>
      </p:sp>
      <p:sp>
        <p:nvSpPr>
          <p:cNvPr name="TextBox 15" id="15"/>
          <p:cNvSpPr txBox="true"/>
          <p:nvPr/>
        </p:nvSpPr>
        <p:spPr>
          <a:xfrm rot="0">
            <a:off x="3086474" y="7983185"/>
            <a:ext cx="11946486" cy="1054100"/>
          </a:xfrm>
          <a:prstGeom prst="rect">
            <a:avLst/>
          </a:prstGeom>
        </p:spPr>
        <p:txBody>
          <a:bodyPr anchor="t" rtlCol="false" tIns="0" lIns="0" bIns="0" rIns="0">
            <a:spAutoFit/>
          </a:bodyPr>
          <a:lstStyle/>
          <a:p>
            <a:pPr algn="ctr">
              <a:lnSpc>
                <a:spcPts val="2800"/>
              </a:lnSpc>
            </a:pPr>
            <a:r>
              <a:rPr lang="en-US" sz="2000">
                <a:solidFill>
                  <a:srgbClr val="FFFFFF"/>
                </a:solidFill>
                <a:latin typeface="Open Sans"/>
                <a:ea typeface="Open Sans"/>
                <a:cs typeface="Open Sans"/>
                <a:sym typeface="Open Sans"/>
              </a:rPr>
              <a:t>Sentimen netral cenderung berisi ulasan yang bersifat informatif, seperti status pesanan, durasi pengiriman, atau instruksi kepada penjual. Meskipun terdapat kata positif atau negatif, bobotnya tidak cukup dominan sehingga tidak menunjukkan emosi yang kuat.</a:t>
            </a:r>
          </a:p>
        </p:txBody>
      </p:sp>
      <p:sp>
        <p:nvSpPr>
          <p:cNvPr name="TextBox 16" id="16"/>
          <p:cNvSpPr txBox="true"/>
          <p:nvPr/>
        </p:nvSpPr>
        <p:spPr>
          <a:xfrm rot="0">
            <a:off x="1524558" y="2685933"/>
            <a:ext cx="2599497" cy="349250"/>
          </a:xfrm>
          <a:prstGeom prst="rect">
            <a:avLst/>
          </a:prstGeom>
        </p:spPr>
        <p:txBody>
          <a:bodyPr anchor="t" rtlCol="false" tIns="0" lIns="0" bIns="0" rIns="0">
            <a:spAutoFit/>
          </a:bodyPr>
          <a:lstStyle/>
          <a:p>
            <a:pPr algn="l">
              <a:lnSpc>
                <a:spcPts val="2800"/>
              </a:lnSpc>
            </a:pPr>
            <a:r>
              <a:rPr lang="en-US" sz="2000" b="true">
                <a:solidFill>
                  <a:srgbClr val="245095"/>
                </a:solidFill>
                <a:latin typeface="Open Sans Bold"/>
                <a:ea typeface="Open Sans Bold"/>
                <a:cs typeface="Open Sans Bold"/>
                <a:sym typeface="Open Sans Bold"/>
              </a:rPr>
              <a:t>Penilaian produk</a:t>
            </a:r>
          </a:p>
        </p:txBody>
      </p:sp>
      <p:sp>
        <p:nvSpPr>
          <p:cNvPr name="TextBox 17" id="17"/>
          <p:cNvSpPr txBox="true"/>
          <p:nvPr/>
        </p:nvSpPr>
        <p:spPr>
          <a:xfrm rot="0">
            <a:off x="4619089" y="2685933"/>
            <a:ext cx="2599497" cy="349250"/>
          </a:xfrm>
          <a:prstGeom prst="rect">
            <a:avLst/>
          </a:prstGeom>
        </p:spPr>
        <p:txBody>
          <a:bodyPr anchor="t" rtlCol="false" tIns="0" lIns="0" bIns="0" rIns="0">
            <a:spAutoFit/>
          </a:bodyPr>
          <a:lstStyle/>
          <a:p>
            <a:pPr algn="l">
              <a:lnSpc>
                <a:spcPts val="2800"/>
              </a:lnSpc>
            </a:pPr>
            <a:r>
              <a:rPr lang="en-US" sz="2000" b="true">
                <a:solidFill>
                  <a:srgbClr val="245095"/>
                </a:solidFill>
                <a:latin typeface="Open Sans Bold"/>
                <a:ea typeface="Open Sans Bold"/>
                <a:cs typeface="Open Sans Bold"/>
                <a:sym typeface="Open Sans Bold"/>
              </a:rPr>
              <a:t>Waktu pengiriman</a:t>
            </a:r>
          </a:p>
        </p:txBody>
      </p:sp>
      <p:sp>
        <p:nvSpPr>
          <p:cNvPr name="TextBox 18" id="18"/>
          <p:cNvSpPr txBox="true"/>
          <p:nvPr/>
        </p:nvSpPr>
        <p:spPr>
          <a:xfrm rot="0">
            <a:off x="7750700" y="2509720"/>
            <a:ext cx="2632503" cy="701675"/>
          </a:xfrm>
          <a:prstGeom prst="rect">
            <a:avLst/>
          </a:prstGeom>
        </p:spPr>
        <p:txBody>
          <a:bodyPr anchor="t" rtlCol="false" tIns="0" lIns="0" bIns="0" rIns="0">
            <a:spAutoFit/>
          </a:bodyPr>
          <a:lstStyle/>
          <a:p>
            <a:pPr algn="l">
              <a:lnSpc>
                <a:spcPts val="2800"/>
              </a:lnSpc>
            </a:pPr>
            <a:r>
              <a:rPr lang="en-US" sz="2000" b="true">
                <a:solidFill>
                  <a:srgbClr val="245095"/>
                </a:solidFill>
                <a:latin typeface="Open Sans Bold"/>
                <a:ea typeface="Open Sans Bold"/>
                <a:cs typeface="Open Sans Bold"/>
                <a:sym typeface="Open Sans Bold"/>
              </a:rPr>
              <a:t>Instruksi dan Catatan pembeli</a:t>
            </a:r>
          </a:p>
        </p:txBody>
      </p:sp>
      <p:sp>
        <p:nvSpPr>
          <p:cNvPr name="TextBox 19" id="19"/>
          <p:cNvSpPr txBox="true"/>
          <p:nvPr/>
        </p:nvSpPr>
        <p:spPr>
          <a:xfrm rot="0">
            <a:off x="10878503" y="2509720"/>
            <a:ext cx="2671810" cy="701675"/>
          </a:xfrm>
          <a:prstGeom prst="rect">
            <a:avLst/>
          </a:prstGeom>
        </p:spPr>
        <p:txBody>
          <a:bodyPr anchor="t" rtlCol="false" tIns="0" lIns="0" bIns="0" rIns="0">
            <a:spAutoFit/>
          </a:bodyPr>
          <a:lstStyle/>
          <a:p>
            <a:pPr algn="l">
              <a:lnSpc>
                <a:spcPts val="2800"/>
              </a:lnSpc>
            </a:pPr>
            <a:r>
              <a:rPr lang="en-US" sz="2000" b="true">
                <a:solidFill>
                  <a:srgbClr val="245095"/>
                </a:solidFill>
                <a:latin typeface="Open Sans Bold"/>
                <a:ea typeface="Open Sans Bold"/>
                <a:cs typeface="Open Sans Bold"/>
                <a:sym typeface="Open Sans Bold"/>
              </a:rPr>
              <a:t>Informasi Status Pesanan</a:t>
            </a:r>
          </a:p>
        </p:txBody>
      </p:sp>
      <p:sp>
        <p:nvSpPr>
          <p:cNvPr name="TextBox 20" id="20"/>
          <p:cNvSpPr txBox="true"/>
          <p:nvPr/>
        </p:nvSpPr>
        <p:spPr>
          <a:xfrm rot="0">
            <a:off x="14083713" y="2509720"/>
            <a:ext cx="2623216" cy="701675"/>
          </a:xfrm>
          <a:prstGeom prst="rect">
            <a:avLst/>
          </a:prstGeom>
        </p:spPr>
        <p:txBody>
          <a:bodyPr anchor="t" rtlCol="false" tIns="0" lIns="0" bIns="0" rIns="0">
            <a:spAutoFit/>
          </a:bodyPr>
          <a:lstStyle/>
          <a:p>
            <a:pPr algn="l">
              <a:lnSpc>
                <a:spcPts val="2800"/>
              </a:lnSpc>
            </a:pPr>
            <a:r>
              <a:rPr lang="en-US" sz="2000" b="true">
                <a:solidFill>
                  <a:srgbClr val="245095"/>
                </a:solidFill>
                <a:latin typeface="Open Sans Bold"/>
                <a:ea typeface="Open Sans Bold"/>
                <a:cs typeface="Open Sans Bold"/>
                <a:sym typeface="Open Sans Bold"/>
              </a:rPr>
              <a:t>Permintaan Tindak Lanjut Pengiriman</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7625" y="48535"/>
            <a:ext cx="1837069" cy="1865045"/>
          </a:xfrm>
          <a:custGeom>
            <a:avLst/>
            <a:gdLst/>
            <a:ahLst/>
            <a:cxnLst/>
            <a:rect r="r" b="b" t="t" l="l"/>
            <a:pathLst>
              <a:path h="1865045" w="1837069">
                <a:moveTo>
                  <a:pt x="0" y="0"/>
                </a:moveTo>
                <a:lnTo>
                  <a:pt x="1837069" y="0"/>
                </a:lnTo>
                <a:lnTo>
                  <a:pt x="1837069" y="1865044"/>
                </a:lnTo>
                <a:lnTo>
                  <a:pt x="0" y="18650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238680" y="8209105"/>
            <a:ext cx="2049320" cy="2049320"/>
          </a:xfrm>
          <a:custGeom>
            <a:avLst/>
            <a:gdLst/>
            <a:ahLst/>
            <a:cxnLst/>
            <a:rect r="r" b="b" t="t" l="l"/>
            <a:pathLst>
              <a:path h="2049320" w="2049320">
                <a:moveTo>
                  <a:pt x="0" y="0"/>
                </a:moveTo>
                <a:lnTo>
                  <a:pt x="2049320" y="0"/>
                </a:lnTo>
                <a:lnTo>
                  <a:pt x="2049320" y="2049320"/>
                </a:lnTo>
                <a:lnTo>
                  <a:pt x="0" y="204932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0">
            <a:off x="-61295" y="8078435"/>
            <a:ext cx="2179990" cy="2179990"/>
          </a:xfrm>
          <a:custGeom>
            <a:avLst/>
            <a:gdLst/>
            <a:ahLst/>
            <a:cxnLst/>
            <a:rect r="r" b="b" t="t" l="l"/>
            <a:pathLst>
              <a:path h="2179990" w="2179990">
                <a:moveTo>
                  <a:pt x="2179990" y="0"/>
                </a:moveTo>
                <a:lnTo>
                  <a:pt x="0" y="0"/>
                </a:lnTo>
                <a:lnTo>
                  <a:pt x="0" y="2179990"/>
                </a:lnTo>
                <a:lnTo>
                  <a:pt x="2179990" y="2179990"/>
                </a:lnTo>
                <a:lnTo>
                  <a:pt x="217999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6526884" y="39010"/>
            <a:ext cx="1752723" cy="1874570"/>
          </a:xfrm>
          <a:custGeom>
            <a:avLst/>
            <a:gdLst/>
            <a:ahLst/>
            <a:cxnLst/>
            <a:rect r="r" b="b" t="t" l="l"/>
            <a:pathLst>
              <a:path h="1874570" w="1752723">
                <a:moveTo>
                  <a:pt x="0" y="0"/>
                </a:moveTo>
                <a:lnTo>
                  <a:pt x="1752722" y="0"/>
                </a:lnTo>
                <a:lnTo>
                  <a:pt x="1752722" y="1874569"/>
                </a:lnTo>
                <a:lnTo>
                  <a:pt x="0" y="1874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2846463" y="7769441"/>
            <a:ext cx="12426510" cy="1714458"/>
            <a:chOff x="0" y="0"/>
            <a:chExt cx="3272826" cy="451545"/>
          </a:xfrm>
        </p:grpSpPr>
        <p:sp>
          <p:nvSpPr>
            <p:cNvPr name="Freeform 7" id="7"/>
            <p:cNvSpPr/>
            <p:nvPr/>
          </p:nvSpPr>
          <p:spPr>
            <a:xfrm flipH="false" flipV="false" rot="0">
              <a:off x="0" y="0"/>
              <a:ext cx="3272825" cy="451545"/>
            </a:xfrm>
            <a:custGeom>
              <a:avLst/>
              <a:gdLst/>
              <a:ahLst/>
              <a:cxnLst/>
              <a:rect r="r" b="b" t="t" l="l"/>
              <a:pathLst>
                <a:path h="451545" w="3272825">
                  <a:moveTo>
                    <a:pt x="16198" y="0"/>
                  </a:moveTo>
                  <a:lnTo>
                    <a:pt x="3256627" y="0"/>
                  </a:lnTo>
                  <a:cubicBezTo>
                    <a:pt x="3260923" y="0"/>
                    <a:pt x="3265043" y="1707"/>
                    <a:pt x="3268081" y="4744"/>
                  </a:cubicBezTo>
                  <a:cubicBezTo>
                    <a:pt x="3271119" y="7782"/>
                    <a:pt x="3272825" y="11902"/>
                    <a:pt x="3272825" y="16198"/>
                  </a:cubicBezTo>
                  <a:lnTo>
                    <a:pt x="3272825" y="435346"/>
                  </a:lnTo>
                  <a:cubicBezTo>
                    <a:pt x="3272825" y="444292"/>
                    <a:pt x="3265573" y="451545"/>
                    <a:pt x="3256627" y="451545"/>
                  </a:cubicBezTo>
                  <a:lnTo>
                    <a:pt x="16198" y="451545"/>
                  </a:lnTo>
                  <a:cubicBezTo>
                    <a:pt x="11902" y="451545"/>
                    <a:pt x="7782" y="449838"/>
                    <a:pt x="4744" y="446800"/>
                  </a:cubicBezTo>
                  <a:cubicBezTo>
                    <a:pt x="1707" y="443762"/>
                    <a:pt x="0" y="439642"/>
                    <a:pt x="0" y="435346"/>
                  </a:cubicBezTo>
                  <a:lnTo>
                    <a:pt x="0" y="16198"/>
                  </a:lnTo>
                  <a:cubicBezTo>
                    <a:pt x="0" y="11902"/>
                    <a:pt x="1707" y="7782"/>
                    <a:pt x="4744" y="4744"/>
                  </a:cubicBezTo>
                  <a:cubicBezTo>
                    <a:pt x="7782" y="1707"/>
                    <a:pt x="11902" y="0"/>
                    <a:pt x="16198" y="0"/>
                  </a:cubicBezTo>
                  <a:close/>
                </a:path>
              </a:pathLst>
            </a:custGeom>
            <a:solidFill>
              <a:srgbClr val="D9D9D9"/>
            </a:solidFill>
          </p:spPr>
        </p:sp>
        <p:sp>
          <p:nvSpPr>
            <p:cNvPr name="TextBox 8" id="8"/>
            <p:cNvSpPr txBox="true"/>
            <p:nvPr/>
          </p:nvSpPr>
          <p:spPr>
            <a:xfrm>
              <a:off x="0" y="-57150"/>
              <a:ext cx="3272826" cy="508695"/>
            </a:xfrm>
            <a:prstGeom prst="rect">
              <a:avLst/>
            </a:prstGeom>
          </p:spPr>
          <p:txBody>
            <a:bodyPr anchor="ctr" rtlCol="false" tIns="50800" lIns="50800" bIns="50800" rIns="50800"/>
            <a:lstStyle/>
            <a:p>
              <a:pPr algn="ctr">
                <a:lnSpc>
                  <a:spcPts val="3643"/>
                </a:lnSpc>
              </a:pPr>
            </a:p>
          </p:txBody>
        </p:sp>
      </p:grpSp>
      <p:sp>
        <p:nvSpPr>
          <p:cNvPr name="Freeform 9" id="9"/>
          <p:cNvSpPr/>
          <p:nvPr/>
        </p:nvSpPr>
        <p:spPr>
          <a:xfrm flipH="false" flipV="false" rot="0">
            <a:off x="3989385" y="3417188"/>
            <a:ext cx="2790887" cy="3598775"/>
          </a:xfrm>
          <a:custGeom>
            <a:avLst/>
            <a:gdLst/>
            <a:ahLst/>
            <a:cxnLst/>
            <a:rect r="r" b="b" t="t" l="l"/>
            <a:pathLst>
              <a:path h="3598775" w="2790887">
                <a:moveTo>
                  <a:pt x="0" y="0"/>
                </a:moveTo>
                <a:lnTo>
                  <a:pt x="2790886" y="0"/>
                </a:lnTo>
                <a:lnTo>
                  <a:pt x="2790886" y="3598775"/>
                </a:lnTo>
                <a:lnTo>
                  <a:pt x="0" y="3598775"/>
                </a:lnTo>
                <a:lnTo>
                  <a:pt x="0" y="0"/>
                </a:lnTo>
                <a:close/>
              </a:path>
            </a:pathLst>
          </a:custGeom>
          <a:blipFill>
            <a:blip r:embed="rId8"/>
            <a:stretch>
              <a:fillRect l="0" t="0" r="0" b="0"/>
            </a:stretch>
          </a:blipFill>
          <a:ln w="9525" cap="sq">
            <a:solidFill>
              <a:srgbClr val="000000"/>
            </a:solidFill>
            <a:prstDash val="solid"/>
            <a:miter/>
          </a:ln>
        </p:spPr>
      </p:sp>
      <p:sp>
        <p:nvSpPr>
          <p:cNvPr name="Freeform 10" id="10"/>
          <p:cNvSpPr/>
          <p:nvPr/>
        </p:nvSpPr>
        <p:spPr>
          <a:xfrm flipH="false" flipV="false" rot="0">
            <a:off x="880914" y="3431347"/>
            <a:ext cx="2575071" cy="3584615"/>
          </a:xfrm>
          <a:custGeom>
            <a:avLst/>
            <a:gdLst/>
            <a:ahLst/>
            <a:cxnLst/>
            <a:rect r="r" b="b" t="t" l="l"/>
            <a:pathLst>
              <a:path h="3584615" w="2575071">
                <a:moveTo>
                  <a:pt x="0" y="0"/>
                </a:moveTo>
                <a:lnTo>
                  <a:pt x="2575071" y="0"/>
                </a:lnTo>
                <a:lnTo>
                  <a:pt x="2575071" y="3584616"/>
                </a:lnTo>
                <a:lnTo>
                  <a:pt x="0" y="3584616"/>
                </a:lnTo>
                <a:lnTo>
                  <a:pt x="0" y="0"/>
                </a:lnTo>
                <a:close/>
              </a:path>
            </a:pathLst>
          </a:custGeom>
          <a:blipFill>
            <a:blip r:embed="rId9"/>
            <a:stretch>
              <a:fillRect l="0" t="0" r="0" b="0"/>
            </a:stretch>
          </a:blipFill>
          <a:ln w="9525" cap="sq">
            <a:solidFill>
              <a:srgbClr val="000000"/>
            </a:solidFill>
            <a:prstDash val="solid"/>
            <a:miter/>
          </a:ln>
        </p:spPr>
      </p:sp>
      <p:sp>
        <p:nvSpPr>
          <p:cNvPr name="Freeform 11" id="11"/>
          <p:cNvSpPr/>
          <p:nvPr/>
        </p:nvSpPr>
        <p:spPr>
          <a:xfrm flipH="false" flipV="false" rot="0">
            <a:off x="7318299" y="3437989"/>
            <a:ext cx="2662012" cy="3577973"/>
          </a:xfrm>
          <a:custGeom>
            <a:avLst/>
            <a:gdLst/>
            <a:ahLst/>
            <a:cxnLst/>
            <a:rect r="r" b="b" t="t" l="l"/>
            <a:pathLst>
              <a:path h="3577973" w="2662012">
                <a:moveTo>
                  <a:pt x="0" y="0"/>
                </a:moveTo>
                <a:lnTo>
                  <a:pt x="2662012" y="0"/>
                </a:lnTo>
                <a:lnTo>
                  <a:pt x="2662012" y="3577974"/>
                </a:lnTo>
                <a:lnTo>
                  <a:pt x="0" y="3577974"/>
                </a:lnTo>
                <a:lnTo>
                  <a:pt x="0" y="0"/>
                </a:lnTo>
                <a:close/>
              </a:path>
            </a:pathLst>
          </a:custGeom>
          <a:blipFill>
            <a:blip r:embed="rId10"/>
            <a:stretch>
              <a:fillRect l="0" t="0" r="0" b="0"/>
            </a:stretch>
          </a:blipFill>
          <a:ln w="9525" cap="sq">
            <a:solidFill>
              <a:srgbClr val="000000"/>
            </a:solidFill>
            <a:prstDash val="solid"/>
            <a:miter/>
          </a:ln>
        </p:spPr>
      </p:sp>
      <p:sp>
        <p:nvSpPr>
          <p:cNvPr name="Freeform 12" id="12"/>
          <p:cNvSpPr/>
          <p:nvPr/>
        </p:nvSpPr>
        <p:spPr>
          <a:xfrm flipH="false" flipV="false" rot="0">
            <a:off x="10696801" y="3431347"/>
            <a:ext cx="2748205" cy="3584615"/>
          </a:xfrm>
          <a:custGeom>
            <a:avLst/>
            <a:gdLst/>
            <a:ahLst/>
            <a:cxnLst/>
            <a:rect r="r" b="b" t="t" l="l"/>
            <a:pathLst>
              <a:path h="3584615" w="2748205">
                <a:moveTo>
                  <a:pt x="0" y="0"/>
                </a:moveTo>
                <a:lnTo>
                  <a:pt x="2748205" y="0"/>
                </a:lnTo>
                <a:lnTo>
                  <a:pt x="2748205" y="3584616"/>
                </a:lnTo>
                <a:lnTo>
                  <a:pt x="0" y="3584616"/>
                </a:lnTo>
                <a:lnTo>
                  <a:pt x="0" y="0"/>
                </a:lnTo>
                <a:close/>
              </a:path>
            </a:pathLst>
          </a:custGeom>
          <a:blipFill>
            <a:blip r:embed="rId11"/>
            <a:stretch>
              <a:fillRect l="0" t="0" r="0" b="0"/>
            </a:stretch>
          </a:blipFill>
          <a:ln w="9525" cap="sq">
            <a:solidFill>
              <a:srgbClr val="000000"/>
            </a:solidFill>
            <a:prstDash val="solid"/>
            <a:miter/>
          </a:ln>
        </p:spPr>
      </p:sp>
      <p:sp>
        <p:nvSpPr>
          <p:cNvPr name="Freeform 13" id="13"/>
          <p:cNvSpPr/>
          <p:nvPr/>
        </p:nvSpPr>
        <p:spPr>
          <a:xfrm flipH="false" flipV="false" rot="0">
            <a:off x="14161495" y="3431347"/>
            <a:ext cx="2858805" cy="3584615"/>
          </a:xfrm>
          <a:custGeom>
            <a:avLst/>
            <a:gdLst/>
            <a:ahLst/>
            <a:cxnLst/>
            <a:rect r="r" b="b" t="t" l="l"/>
            <a:pathLst>
              <a:path h="3584615" w="2858805">
                <a:moveTo>
                  <a:pt x="0" y="0"/>
                </a:moveTo>
                <a:lnTo>
                  <a:pt x="2858805" y="0"/>
                </a:lnTo>
                <a:lnTo>
                  <a:pt x="2858805" y="3584616"/>
                </a:lnTo>
                <a:lnTo>
                  <a:pt x="0" y="3584616"/>
                </a:lnTo>
                <a:lnTo>
                  <a:pt x="0" y="0"/>
                </a:lnTo>
                <a:close/>
              </a:path>
            </a:pathLst>
          </a:custGeom>
          <a:blipFill>
            <a:blip r:embed="rId12"/>
            <a:stretch>
              <a:fillRect l="0" t="0" r="0" b="0"/>
            </a:stretch>
          </a:blipFill>
          <a:ln w="9525" cap="sq">
            <a:solidFill>
              <a:srgbClr val="000000"/>
            </a:solidFill>
            <a:prstDash val="solid"/>
            <a:miter/>
          </a:ln>
        </p:spPr>
      </p:sp>
      <p:sp>
        <p:nvSpPr>
          <p:cNvPr name="TextBox 14" id="14"/>
          <p:cNvSpPr txBox="true"/>
          <p:nvPr/>
        </p:nvSpPr>
        <p:spPr>
          <a:xfrm rot="0">
            <a:off x="4500947" y="733407"/>
            <a:ext cx="10002242" cy="1193800"/>
          </a:xfrm>
          <a:prstGeom prst="rect">
            <a:avLst/>
          </a:prstGeom>
        </p:spPr>
        <p:txBody>
          <a:bodyPr anchor="t" rtlCol="false" tIns="0" lIns="0" bIns="0" rIns="0">
            <a:spAutoFit/>
          </a:bodyPr>
          <a:lstStyle/>
          <a:p>
            <a:pPr algn="ctr">
              <a:lnSpc>
                <a:spcPts val="9799"/>
              </a:lnSpc>
            </a:pPr>
            <a:r>
              <a:rPr lang="en-US" sz="6999" b="true">
                <a:solidFill>
                  <a:srgbClr val="245095"/>
                </a:solidFill>
                <a:latin typeface="Open Sans Bold"/>
                <a:ea typeface="Open Sans Bold"/>
                <a:cs typeface="Open Sans Bold"/>
                <a:sym typeface="Open Sans Bold"/>
              </a:rPr>
              <a:t>LDA Sentimen Negatif</a:t>
            </a:r>
          </a:p>
        </p:txBody>
      </p:sp>
      <p:sp>
        <p:nvSpPr>
          <p:cNvPr name="TextBox 15" id="15"/>
          <p:cNvSpPr txBox="true"/>
          <p:nvPr/>
        </p:nvSpPr>
        <p:spPr>
          <a:xfrm rot="0">
            <a:off x="3086474" y="7983185"/>
            <a:ext cx="11946486" cy="1054100"/>
          </a:xfrm>
          <a:prstGeom prst="rect">
            <a:avLst/>
          </a:prstGeom>
        </p:spPr>
        <p:txBody>
          <a:bodyPr anchor="t" rtlCol="false" tIns="0" lIns="0" bIns="0" rIns="0">
            <a:spAutoFit/>
          </a:bodyPr>
          <a:lstStyle/>
          <a:p>
            <a:pPr algn="ctr">
              <a:lnSpc>
                <a:spcPts val="2800"/>
              </a:lnSpc>
            </a:pPr>
            <a:r>
              <a:rPr lang="en-US" sz="2000">
                <a:solidFill>
                  <a:srgbClr val="000000"/>
                </a:solidFill>
                <a:latin typeface="Open Sans"/>
                <a:ea typeface="Open Sans"/>
                <a:cs typeface="Open Sans"/>
                <a:sym typeface="Open Sans"/>
              </a:rPr>
              <a:t>Pada sentimen negatif, topik yang muncul didominasi oleh keluhan pengguna, terutama terkait keterlambatan pengiriman, ketidaksesuaian barang, serta masalah pada sistem dan aplikasi. Hal ini menunjukkan bahwa aspek logistik dan teknis menjadi sumber utama ketidakpuasan pengguna.</a:t>
            </a:r>
          </a:p>
        </p:txBody>
      </p:sp>
      <p:sp>
        <p:nvSpPr>
          <p:cNvPr name="TextBox 16" id="16"/>
          <p:cNvSpPr txBox="true"/>
          <p:nvPr/>
        </p:nvSpPr>
        <p:spPr>
          <a:xfrm rot="0">
            <a:off x="851859" y="2511209"/>
            <a:ext cx="2980231" cy="701675"/>
          </a:xfrm>
          <a:prstGeom prst="rect">
            <a:avLst/>
          </a:prstGeom>
        </p:spPr>
        <p:txBody>
          <a:bodyPr anchor="t" rtlCol="false" tIns="0" lIns="0" bIns="0" rIns="0">
            <a:spAutoFit/>
          </a:bodyPr>
          <a:lstStyle/>
          <a:p>
            <a:pPr algn="l">
              <a:lnSpc>
                <a:spcPts val="2800"/>
              </a:lnSpc>
            </a:pPr>
            <a:r>
              <a:rPr lang="en-US" sz="2000" b="true">
                <a:solidFill>
                  <a:srgbClr val="245095"/>
                </a:solidFill>
                <a:latin typeface="Open Sans Bold"/>
                <a:ea typeface="Open Sans Bold"/>
                <a:cs typeface="Open Sans Bold"/>
                <a:sym typeface="Open Sans Bold"/>
              </a:rPr>
              <a:t>Keterlambatan Pengiriman oleh Kurir</a:t>
            </a:r>
          </a:p>
        </p:txBody>
      </p:sp>
      <p:sp>
        <p:nvSpPr>
          <p:cNvPr name="TextBox 17" id="17"/>
          <p:cNvSpPr txBox="true"/>
          <p:nvPr/>
        </p:nvSpPr>
        <p:spPr>
          <a:xfrm rot="0">
            <a:off x="3989385" y="2511209"/>
            <a:ext cx="2599497" cy="701675"/>
          </a:xfrm>
          <a:prstGeom prst="rect">
            <a:avLst/>
          </a:prstGeom>
        </p:spPr>
        <p:txBody>
          <a:bodyPr anchor="t" rtlCol="false" tIns="0" lIns="0" bIns="0" rIns="0">
            <a:spAutoFit/>
          </a:bodyPr>
          <a:lstStyle/>
          <a:p>
            <a:pPr algn="l">
              <a:lnSpc>
                <a:spcPts val="2800"/>
              </a:lnSpc>
            </a:pPr>
            <a:r>
              <a:rPr lang="en-US" sz="2000" b="true">
                <a:solidFill>
                  <a:srgbClr val="245095"/>
                </a:solidFill>
                <a:latin typeface="Open Sans Bold"/>
                <a:ea typeface="Open Sans Bold"/>
                <a:cs typeface="Open Sans Bold"/>
                <a:sym typeface="Open Sans Bold"/>
              </a:rPr>
              <a:t>Masalah layanan dan Sistem Aplikasi</a:t>
            </a:r>
          </a:p>
        </p:txBody>
      </p:sp>
      <p:sp>
        <p:nvSpPr>
          <p:cNvPr name="TextBox 18" id="18"/>
          <p:cNvSpPr txBox="true"/>
          <p:nvPr/>
        </p:nvSpPr>
        <p:spPr>
          <a:xfrm rot="0">
            <a:off x="7280199" y="2511209"/>
            <a:ext cx="3195412" cy="701675"/>
          </a:xfrm>
          <a:prstGeom prst="rect">
            <a:avLst/>
          </a:prstGeom>
        </p:spPr>
        <p:txBody>
          <a:bodyPr anchor="t" rtlCol="false" tIns="0" lIns="0" bIns="0" rIns="0">
            <a:spAutoFit/>
          </a:bodyPr>
          <a:lstStyle/>
          <a:p>
            <a:pPr algn="l">
              <a:lnSpc>
                <a:spcPts val="2800"/>
              </a:lnSpc>
            </a:pPr>
            <a:r>
              <a:rPr lang="en-US" sz="2000" b="true">
                <a:solidFill>
                  <a:srgbClr val="245095"/>
                </a:solidFill>
                <a:latin typeface="Open Sans Bold"/>
                <a:ea typeface="Open Sans Bold"/>
                <a:cs typeface="Open Sans Bold"/>
                <a:sym typeface="Open Sans Bold"/>
              </a:rPr>
              <a:t>Ketidaksesuaian Produk dan Pengiriman</a:t>
            </a:r>
          </a:p>
        </p:txBody>
      </p:sp>
      <p:sp>
        <p:nvSpPr>
          <p:cNvPr name="TextBox 19" id="19"/>
          <p:cNvSpPr txBox="true"/>
          <p:nvPr/>
        </p:nvSpPr>
        <p:spPr>
          <a:xfrm rot="0">
            <a:off x="10690207" y="2511209"/>
            <a:ext cx="3366512" cy="701675"/>
          </a:xfrm>
          <a:prstGeom prst="rect">
            <a:avLst/>
          </a:prstGeom>
        </p:spPr>
        <p:txBody>
          <a:bodyPr anchor="t" rtlCol="false" tIns="0" lIns="0" bIns="0" rIns="0">
            <a:spAutoFit/>
          </a:bodyPr>
          <a:lstStyle/>
          <a:p>
            <a:pPr algn="l">
              <a:lnSpc>
                <a:spcPts val="2800"/>
              </a:lnSpc>
            </a:pPr>
            <a:r>
              <a:rPr lang="en-US" sz="2000" b="true">
                <a:solidFill>
                  <a:srgbClr val="245095"/>
                </a:solidFill>
                <a:latin typeface="Open Sans Bold"/>
                <a:ea typeface="Open Sans Bold"/>
                <a:cs typeface="Open Sans Bold"/>
                <a:sym typeface="Open Sans Bold"/>
              </a:rPr>
              <a:t>Gangguan Sistem dan Proses Pesanan</a:t>
            </a:r>
          </a:p>
        </p:txBody>
      </p:sp>
      <p:sp>
        <p:nvSpPr>
          <p:cNvPr name="TextBox 20" id="20"/>
          <p:cNvSpPr txBox="true"/>
          <p:nvPr/>
        </p:nvSpPr>
        <p:spPr>
          <a:xfrm rot="0">
            <a:off x="14166891" y="2511209"/>
            <a:ext cx="3610888" cy="701675"/>
          </a:xfrm>
          <a:prstGeom prst="rect">
            <a:avLst/>
          </a:prstGeom>
        </p:spPr>
        <p:txBody>
          <a:bodyPr anchor="t" rtlCol="false" tIns="0" lIns="0" bIns="0" rIns="0">
            <a:spAutoFit/>
          </a:bodyPr>
          <a:lstStyle/>
          <a:p>
            <a:pPr algn="l">
              <a:lnSpc>
                <a:spcPts val="2800"/>
              </a:lnSpc>
            </a:pPr>
            <a:r>
              <a:rPr lang="en-US" sz="2000" b="true">
                <a:solidFill>
                  <a:srgbClr val="245095"/>
                </a:solidFill>
                <a:latin typeface="Open Sans Bold"/>
                <a:ea typeface="Open Sans Bold"/>
                <a:cs typeface="Open Sans Bold"/>
                <a:sym typeface="Open Sans Bold"/>
              </a:rPr>
              <a:t>Ketidakpuasan terhadap Produk dan Layanan</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0733420">
            <a:off x="14883884" y="6480542"/>
            <a:ext cx="3395188" cy="954897"/>
          </a:xfrm>
          <a:custGeom>
            <a:avLst/>
            <a:gdLst/>
            <a:ahLst/>
            <a:cxnLst/>
            <a:rect r="r" b="b" t="t" l="l"/>
            <a:pathLst>
              <a:path h="954897" w="3395188">
                <a:moveTo>
                  <a:pt x="0" y="0"/>
                </a:moveTo>
                <a:lnTo>
                  <a:pt x="3395188" y="0"/>
                </a:lnTo>
                <a:lnTo>
                  <a:pt x="3395188" y="954896"/>
                </a:lnTo>
                <a:lnTo>
                  <a:pt x="0" y="95489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69896" y="3031847"/>
            <a:ext cx="5067557" cy="3714166"/>
            <a:chOff x="0" y="0"/>
            <a:chExt cx="1232388" cy="903255"/>
          </a:xfrm>
        </p:grpSpPr>
        <p:sp>
          <p:nvSpPr>
            <p:cNvPr name="Freeform 4" id="4"/>
            <p:cNvSpPr/>
            <p:nvPr/>
          </p:nvSpPr>
          <p:spPr>
            <a:xfrm flipH="false" flipV="false" rot="0">
              <a:off x="0" y="0"/>
              <a:ext cx="1232388" cy="903255"/>
            </a:xfrm>
            <a:custGeom>
              <a:avLst/>
              <a:gdLst/>
              <a:ahLst/>
              <a:cxnLst/>
              <a:rect r="r" b="b" t="t" l="l"/>
              <a:pathLst>
                <a:path h="903255" w="1232388">
                  <a:moveTo>
                    <a:pt x="35138" y="0"/>
                  </a:moveTo>
                  <a:lnTo>
                    <a:pt x="1197250" y="0"/>
                  </a:lnTo>
                  <a:cubicBezTo>
                    <a:pt x="1206569" y="0"/>
                    <a:pt x="1215507" y="3702"/>
                    <a:pt x="1222096" y="10292"/>
                  </a:cubicBezTo>
                  <a:cubicBezTo>
                    <a:pt x="1228686" y="16881"/>
                    <a:pt x="1232388" y="25819"/>
                    <a:pt x="1232388" y="35138"/>
                  </a:cubicBezTo>
                  <a:lnTo>
                    <a:pt x="1232388" y="868117"/>
                  </a:lnTo>
                  <a:cubicBezTo>
                    <a:pt x="1232388" y="877436"/>
                    <a:pt x="1228686" y="886373"/>
                    <a:pt x="1222096" y="892963"/>
                  </a:cubicBezTo>
                  <a:cubicBezTo>
                    <a:pt x="1215507" y="899553"/>
                    <a:pt x="1206569" y="903255"/>
                    <a:pt x="1197250" y="903255"/>
                  </a:cubicBezTo>
                  <a:lnTo>
                    <a:pt x="35138" y="903255"/>
                  </a:lnTo>
                  <a:cubicBezTo>
                    <a:pt x="25819" y="903255"/>
                    <a:pt x="16881" y="899553"/>
                    <a:pt x="10292" y="892963"/>
                  </a:cubicBezTo>
                  <a:cubicBezTo>
                    <a:pt x="3702" y="886373"/>
                    <a:pt x="0" y="877436"/>
                    <a:pt x="0" y="868117"/>
                  </a:cubicBezTo>
                  <a:lnTo>
                    <a:pt x="0" y="35138"/>
                  </a:lnTo>
                  <a:cubicBezTo>
                    <a:pt x="0" y="25819"/>
                    <a:pt x="3702" y="16881"/>
                    <a:pt x="10292" y="10292"/>
                  </a:cubicBezTo>
                  <a:cubicBezTo>
                    <a:pt x="16881" y="3702"/>
                    <a:pt x="25819" y="0"/>
                    <a:pt x="35138" y="0"/>
                  </a:cubicBezTo>
                  <a:close/>
                </a:path>
              </a:pathLst>
            </a:custGeom>
            <a:blipFill>
              <a:blip r:embed="rId4"/>
              <a:stretch>
                <a:fillRect l="-388" t="0" r="-388" b="0"/>
              </a:stretch>
            </a:blipFill>
            <a:ln w="38100" cap="rnd">
              <a:solidFill>
                <a:srgbClr val="000000"/>
              </a:solidFill>
              <a:prstDash val="solid"/>
              <a:round/>
            </a:ln>
          </p:spPr>
        </p:sp>
      </p:grpSp>
      <p:sp>
        <p:nvSpPr>
          <p:cNvPr name="Freeform 5" id="5"/>
          <p:cNvSpPr/>
          <p:nvPr/>
        </p:nvSpPr>
        <p:spPr>
          <a:xfrm flipH="false" flipV="true" rot="0">
            <a:off x="6067" y="0"/>
            <a:ext cx="1884362" cy="1884362"/>
          </a:xfrm>
          <a:custGeom>
            <a:avLst/>
            <a:gdLst/>
            <a:ahLst/>
            <a:cxnLst/>
            <a:rect r="r" b="b" t="t" l="l"/>
            <a:pathLst>
              <a:path h="1884362" w="1884362">
                <a:moveTo>
                  <a:pt x="0" y="1884362"/>
                </a:moveTo>
                <a:lnTo>
                  <a:pt x="1884363" y="1884362"/>
                </a:lnTo>
                <a:lnTo>
                  <a:pt x="1884363" y="0"/>
                </a:lnTo>
                <a:lnTo>
                  <a:pt x="0" y="0"/>
                </a:lnTo>
                <a:lnTo>
                  <a:pt x="0" y="1884362"/>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6509633" y="8402638"/>
            <a:ext cx="1778367" cy="1884362"/>
          </a:xfrm>
          <a:custGeom>
            <a:avLst/>
            <a:gdLst/>
            <a:ahLst/>
            <a:cxnLst/>
            <a:rect r="r" b="b" t="t" l="l"/>
            <a:pathLst>
              <a:path h="1884362" w="1778367">
                <a:moveTo>
                  <a:pt x="0" y="0"/>
                </a:moveTo>
                <a:lnTo>
                  <a:pt x="1778367" y="0"/>
                </a:lnTo>
                <a:lnTo>
                  <a:pt x="1778367" y="1884362"/>
                </a:lnTo>
                <a:lnTo>
                  <a:pt x="0" y="188436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true" flipV="false" rot="0">
            <a:off x="13842130" y="-329184"/>
            <a:ext cx="7315200" cy="658368"/>
          </a:xfrm>
          <a:custGeom>
            <a:avLst/>
            <a:gdLst/>
            <a:ahLst/>
            <a:cxnLst/>
            <a:rect r="r" b="b" t="t" l="l"/>
            <a:pathLst>
              <a:path h="658368" w="7315200">
                <a:moveTo>
                  <a:pt x="7315200" y="0"/>
                </a:moveTo>
                <a:lnTo>
                  <a:pt x="0" y="0"/>
                </a:lnTo>
                <a:lnTo>
                  <a:pt x="0" y="658368"/>
                </a:lnTo>
                <a:lnTo>
                  <a:pt x="7315200" y="658368"/>
                </a:lnTo>
                <a:lnTo>
                  <a:pt x="7315200" y="0"/>
                </a:lnTo>
                <a:close/>
              </a:path>
            </a:pathLst>
          </a:custGeom>
          <a:blipFill>
            <a:blip r:embed="rId9">
              <a:extLst>
                <a:ext uri="{96DAC541-7B7A-43D3-8B79-37D633B846F1}">
                  <asvg:svgBlip xmlns:asvg="http://schemas.microsoft.com/office/drawing/2016/SVG/main" r:embed="rId10"/>
                </a:ext>
              </a:extLst>
            </a:blip>
            <a:stretch>
              <a:fillRect l="-10767" t="-45011" r="-34243" b="0"/>
            </a:stretch>
          </a:blipFill>
        </p:spPr>
      </p:sp>
      <p:sp>
        <p:nvSpPr>
          <p:cNvPr name="Freeform 8" id="8"/>
          <p:cNvSpPr/>
          <p:nvPr/>
        </p:nvSpPr>
        <p:spPr>
          <a:xfrm flipH="true" flipV="false" rot="0">
            <a:off x="-3299792" y="9957816"/>
            <a:ext cx="7315200" cy="658368"/>
          </a:xfrm>
          <a:custGeom>
            <a:avLst/>
            <a:gdLst/>
            <a:ahLst/>
            <a:cxnLst/>
            <a:rect r="r" b="b" t="t" l="l"/>
            <a:pathLst>
              <a:path h="658368" w="7315200">
                <a:moveTo>
                  <a:pt x="7315200" y="0"/>
                </a:moveTo>
                <a:lnTo>
                  <a:pt x="0" y="0"/>
                </a:lnTo>
                <a:lnTo>
                  <a:pt x="0" y="658368"/>
                </a:lnTo>
                <a:lnTo>
                  <a:pt x="7315200" y="658368"/>
                </a:lnTo>
                <a:lnTo>
                  <a:pt x="7315200" y="0"/>
                </a:lnTo>
                <a:close/>
              </a:path>
            </a:pathLst>
          </a:custGeom>
          <a:blipFill>
            <a:blip r:embed="rId9">
              <a:extLst>
                <a:ext uri="{96DAC541-7B7A-43D3-8B79-37D633B846F1}">
                  <asvg:svgBlip xmlns:asvg="http://schemas.microsoft.com/office/drawing/2016/SVG/main" r:embed="rId10"/>
                </a:ext>
              </a:extLst>
            </a:blip>
            <a:stretch>
              <a:fillRect l="-10767" t="-45011" r="-34243" b="0"/>
            </a:stretch>
          </a:blipFill>
        </p:spPr>
      </p:sp>
      <p:grpSp>
        <p:nvGrpSpPr>
          <p:cNvPr name="Group 9" id="9"/>
          <p:cNvGrpSpPr/>
          <p:nvPr/>
        </p:nvGrpSpPr>
        <p:grpSpPr>
          <a:xfrm rot="0">
            <a:off x="6604177" y="3031847"/>
            <a:ext cx="5082060" cy="3714166"/>
            <a:chOff x="0" y="0"/>
            <a:chExt cx="1058818" cy="773825"/>
          </a:xfrm>
        </p:grpSpPr>
        <p:sp>
          <p:nvSpPr>
            <p:cNvPr name="Freeform 10" id="10"/>
            <p:cNvSpPr/>
            <p:nvPr/>
          </p:nvSpPr>
          <p:spPr>
            <a:xfrm flipH="false" flipV="false" rot="0">
              <a:off x="0" y="0"/>
              <a:ext cx="1058818" cy="773825"/>
            </a:xfrm>
            <a:custGeom>
              <a:avLst/>
              <a:gdLst/>
              <a:ahLst/>
              <a:cxnLst/>
              <a:rect r="r" b="b" t="t" l="l"/>
              <a:pathLst>
                <a:path h="773825" w="1058818">
                  <a:moveTo>
                    <a:pt x="35038" y="0"/>
                  </a:moveTo>
                  <a:lnTo>
                    <a:pt x="1023780" y="0"/>
                  </a:lnTo>
                  <a:cubicBezTo>
                    <a:pt x="1043131" y="0"/>
                    <a:pt x="1058818" y="15687"/>
                    <a:pt x="1058818" y="35038"/>
                  </a:cubicBezTo>
                  <a:lnTo>
                    <a:pt x="1058818" y="738787"/>
                  </a:lnTo>
                  <a:cubicBezTo>
                    <a:pt x="1058818" y="758138"/>
                    <a:pt x="1043131" y="773825"/>
                    <a:pt x="1023780" y="773825"/>
                  </a:cubicBezTo>
                  <a:lnTo>
                    <a:pt x="35038" y="773825"/>
                  </a:lnTo>
                  <a:cubicBezTo>
                    <a:pt x="15687" y="773825"/>
                    <a:pt x="0" y="758138"/>
                    <a:pt x="0" y="738787"/>
                  </a:cubicBezTo>
                  <a:lnTo>
                    <a:pt x="0" y="35038"/>
                  </a:lnTo>
                  <a:cubicBezTo>
                    <a:pt x="0" y="15687"/>
                    <a:pt x="15687" y="0"/>
                    <a:pt x="35038" y="0"/>
                  </a:cubicBezTo>
                  <a:close/>
                </a:path>
              </a:pathLst>
            </a:custGeom>
            <a:blipFill>
              <a:blip r:embed="rId11"/>
              <a:stretch>
                <a:fillRect l="-245" t="0" r="-245" b="0"/>
              </a:stretch>
            </a:blipFill>
            <a:ln w="38100" cap="rnd">
              <a:solidFill>
                <a:srgbClr val="000000"/>
              </a:solidFill>
              <a:prstDash val="solid"/>
              <a:round/>
            </a:ln>
          </p:spPr>
        </p:sp>
      </p:grpSp>
      <p:grpSp>
        <p:nvGrpSpPr>
          <p:cNvPr name="Group 11" id="11"/>
          <p:cNvGrpSpPr/>
          <p:nvPr/>
        </p:nvGrpSpPr>
        <p:grpSpPr>
          <a:xfrm rot="0">
            <a:off x="12152962" y="3031847"/>
            <a:ext cx="5082060" cy="3714166"/>
            <a:chOff x="0" y="0"/>
            <a:chExt cx="1058818" cy="773825"/>
          </a:xfrm>
        </p:grpSpPr>
        <p:sp>
          <p:nvSpPr>
            <p:cNvPr name="Freeform 12" id="12"/>
            <p:cNvSpPr/>
            <p:nvPr/>
          </p:nvSpPr>
          <p:spPr>
            <a:xfrm flipH="false" flipV="false" rot="0">
              <a:off x="0" y="0"/>
              <a:ext cx="1058818" cy="773825"/>
            </a:xfrm>
            <a:custGeom>
              <a:avLst/>
              <a:gdLst/>
              <a:ahLst/>
              <a:cxnLst/>
              <a:rect r="r" b="b" t="t" l="l"/>
              <a:pathLst>
                <a:path h="773825" w="1058818">
                  <a:moveTo>
                    <a:pt x="35038" y="0"/>
                  </a:moveTo>
                  <a:lnTo>
                    <a:pt x="1023780" y="0"/>
                  </a:lnTo>
                  <a:cubicBezTo>
                    <a:pt x="1043131" y="0"/>
                    <a:pt x="1058818" y="15687"/>
                    <a:pt x="1058818" y="35038"/>
                  </a:cubicBezTo>
                  <a:lnTo>
                    <a:pt x="1058818" y="738787"/>
                  </a:lnTo>
                  <a:cubicBezTo>
                    <a:pt x="1058818" y="758138"/>
                    <a:pt x="1043131" y="773825"/>
                    <a:pt x="1023780" y="773825"/>
                  </a:cubicBezTo>
                  <a:lnTo>
                    <a:pt x="35038" y="773825"/>
                  </a:lnTo>
                  <a:cubicBezTo>
                    <a:pt x="15687" y="773825"/>
                    <a:pt x="0" y="758138"/>
                    <a:pt x="0" y="738787"/>
                  </a:cubicBezTo>
                  <a:lnTo>
                    <a:pt x="0" y="35038"/>
                  </a:lnTo>
                  <a:cubicBezTo>
                    <a:pt x="0" y="15687"/>
                    <a:pt x="15687" y="0"/>
                    <a:pt x="35038" y="0"/>
                  </a:cubicBezTo>
                  <a:close/>
                </a:path>
              </a:pathLst>
            </a:custGeom>
            <a:blipFill>
              <a:blip r:embed="rId12"/>
              <a:stretch>
                <a:fillRect l="-245" t="0" r="-245" b="0"/>
              </a:stretch>
            </a:blipFill>
            <a:ln w="38100" cap="rnd">
              <a:solidFill>
                <a:srgbClr val="000000"/>
              </a:solidFill>
              <a:prstDash val="solid"/>
              <a:round/>
            </a:ln>
          </p:spPr>
        </p:sp>
      </p:grpSp>
      <p:grpSp>
        <p:nvGrpSpPr>
          <p:cNvPr name="Group 13" id="13"/>
          <p:cNvGrpSpPr/>
          <p:nvPr/>
        </p:nvGrpSpPr>
        <p:grpSpPr>
          <a:xfrm rot="0">
            <a:off x="3896784" y="7496799"/>
            <a:ext cx="11287238" cy="1947145"/>
            <a:chOff x="0" y="0"/>
            <a:chExt cx="2972771" cy="512828"/>
          </a:xfrm>
        </p:grpSpPr>
        <p:sp>
          <p:nvSpPr>
            <p:cNvPr name="Freeform 14" id="14"/>
            <p:cNvSpPr/>
            <p:nvPr/>
          </p:nvSpPr>
          <p:spPr>
            <a:xfrm flipH="false" flipV="false" rot="0">
              <a:off x="0" y="0"/>
              <a:ext cx="2972770" cy="512828"/>
            </a:xfrm>
            <a:custGeom>
              <a:avLst/>
              <a:gdLst/>
              <a:ahLst/>
              <a:cxnLst/>
              <a:rect r="r" b="b" t="t" l="l"/>
              <a:pathLst>
                <a:path h="512828" w="2972770">
                  <a:moveTo>
                    <a:pt x="34981" y="0"/>
                  </a:moveTo>
                  <a:lnTo>
                    <a:pt x="2937790" y="0"/>
                  </a:lnTo>
                  <a:cubicBezTo>
                    <a:pt x="2947067" y="0"/>
                    <a:pt x="2955965" y="3685"/>
                    <a:pt x="2962525" y="10246"/>
                  </a:cubicBezTo>
                  <a:cubicBezTo>
                    <a:pt x="2969085" y="16806"/>
                    <a:pt x="2972770" y="25703"/>
                    <a:pt x="2972770" y="34981"/>
                  </a:cubicBezTo>
                  <a:lnTo>
                    <a:pt x="2972770" y="477847"/>
                  </a:lnTo>
                  <a:cubicBezTo>
                    <a:pt x="2972770" y="487125"/>
                    <a:pt x="2969085" y="496023"/>
                    <a:pt x="2962525" y="502583"/>
                  </a:cubicBezTo>
                  <a:cubicBezTo>
                    <a:pt x="2955965" y="509143"/>
                    <a:pt x="2947067" y="512828"/>
                    <a:pt x="2937790" y="512828"/>
                  </a:cubicBezTo>
                  <a:lnTo>
                    <a:pt x="34981" y="512828"/>
                  </a:lnTo>
                  <a:cubicBezTo>
                    <a:pt x="15661" y="512828"/>
                    <a:pt x="0" y="497167"/>
                    <a:pt x="0" y="477847"/>
                  </a:cubicBezTo>
                  <a:lnTo>
                    <a:pt x="0" y="34981"/>
                  </a:lnTo>
                  <a:cubicBezTo>
                    <a:pt x="0" y="25703"/>
                    <a:pt x="3685" y="16806"/>
                    <a:pt x="10246" y="10246"/>
                  </a:cubicBezTo>
                  <a:cubicBezTo>
                    <a:pt x="16806" y="3685"/>
                    <a:pt x="25703" y="0"/>
                    <a:pt x="34981" y="0"/>
                  </a:cubicBezTo>
                  <a:close/>
                </a:path>
              </a:pathLst>
            </a:custGeom>
            <a:solidFill>
              <a:srgbClr val="FFFFFF"/>
            </a:solidFill>
            <a:ln w="19050" cap="rnd">
              <a:solidFill>
                <a:srgbClr val="1F4B91"/>
              </a:solidFill>
              <a:prstDash val="solid"/>
              <a:round/>
            </a:ln>
          </p:spPr>
        </p:sp>
        <p:sp>
          <p:nvSpPr>
            <p:cNvPr name="TextBox 15" id="15"/>
            <p:cNvSpPr txBox="true"/>
            <p:nvPr/>
          </p:nvSpPr>
          <p:spPr>
            <a:xfrm>
              <a:off x="0" y="-47625"/>
              <a:ext cx="2972771" cy="560453"/>
            </a:xfrm>
            <a:prstGeom prst="rect">
              <a:avLst/>
            </a:prstGeom>
          </p:spPr>
          <p:txBody>
            <a:bodyPr anchor="ctr" rtlCol="false" tIns="50800" lIns="50800" bIns="50800" rIns="50800"/>
            <a:lstStyle/>
            <a:p>
              <a:pPr algn="ctr">
                <a:lnSpc>
                  <a:spcPts val="2800"/>
                </a:lnSpc>
              </a:pPr>
            </a:p>
          </p:txBody>
        </p:sp>
      </p:grpSp>
      <p:sp>
        <p:nvSpPr>
          <p:cNvPr name="TextBox 16" id="16"/>
          <p:cNvSpPr txBox="true"/>
          <p:nvPr/>
        </p:nvSpPr>
        <p:spPr>
          <a:xfrm rot="0">
            <a:off x="2204189" y="808831"/>
            <a:ext cx="10781557" cy="1193800"/>
          </a:xfrm>
          <a:prstGeom prst="rect">
            <a:avLst/>
          </a:prstGeom>
        </p:spPr>
        <p:txBody>
          <a:bodyPr anchor="t" rtlCol="false" tIns="0" lIns="0" bIns="0" rIns="0">
            <a:spAutoFit/>
          </a:bodyPr>
          <a:lstStyle/>
          <a:p>
            <a:pPr algn="l">
              <a:lnSpc>
                <a:spcPts val="9799"/>
              </a:lnSpc>
            </a:pPr>
            <a:r>
              <a:rPr lang="en-US" sz="6999" b="true">
                <a:solidFill>
                  <a:srgbClr val="245095"/>
                </a:solidFill>
                <a:latin typeface="Open Sans Bold"/>
                <a:ea typeface="Open Sans Bold"/>
                <a:cs typeface="Open Sans Bold"/>
                <a:sym typeface="Open Sans Bold"/>
              </a:rPr>
              <a:t>Visualisasi Word Cloud</a:t>
            </a:r>
          </a:p>
        </p:txBody>
      </p:sp>
      <p:sp>
        <p:nvSpPr>
          <p:cNvPr name="TextBox 17" id="17"/>
          <p:cNvSpPr txBox="true"/>
          <p:nvPr/>
        </p:nvSpPr>
        <p:spPr>
          <a:xfrm rot="0">
            <a:off x="4335087" y="7567085"/>
            <a:ext cx="10410632" cy="1758950"/>
          </a:xfrm>
          <a:prstGeom prst="rect">
            <a:avLst/>
          </a:prstGeom>
        </p:spPr>
        <p:txBody>
          <a:bodyPr anchor="t" rtlCol="false" tIns="0" lIns="0" bIns="0" rIns="0">
            <a:spAutoFit/>
          </a:bodyPr>
          <a:lstStyle/>
          <a:p>
            <a:pPr algn="ctr">
              <a:lnSpc>
                <a:spcPts val="2800"/>
              </a:lnSpc>
            </a:pPr>
            <a:r>
              <a:rPr lang="en-US" sz="2000">
                <a:solidFill>
                  <a:srgbClr val="000000"/>
                </a:solidFill>
                <a:latin typeface="Open Sans"/>
                <a:ea typeface="Open Sans"/>
                <a:cs typeface="Open Sans"/>
                <a:sym typeface="Open Sans"/>
              </a:rPr>
              <a:t>Wordcloud menunjukkan perbedaan karakteristik topik pada setiap sentimen. Sentimen positif didominasi kata kepuasan seperti bagus, mudah, bantu, sentimen netral berisi kata informatif seperti kirim dan hari, sedangkan sentimen negatif didominasi kata keluhan seperti lambat, kurir, dan paket. Visualisasi ini membantu memahami fokus tiap topik secara cepat dan intuitif.</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20054" y="2920580"/>
            <a:ext cx="5336564" cy="3444151"/>
            <a:chOff x="0" y="0"/>
            <a:chExt cx="1508258" cy="973411"/>
          </a:xfrm>
        </p:grpSpPr>
        <p:sp>
          <p:nvSpPr>
            <p:cNvPr name="Freeform 3" id="3"/>
            <p:cNvSpPr/>
            <p:nvPr/>
          </p:nvSpPr>
          <p:spPr>
            <a:xfrm flipH="false" flipV="false" rot="0">
              <a:off x="0" y="0"/>
              <a:ext cx="1508258" cy="973411"/>
            </a:xfrm>
            <a:custGeom>
              <a:avLst/>
              <a:gdLst/>
              <a:ahLst/>
              <a:cxnLst/>
              <a:rect r="r" b="b" t="t" l="l"/>
              <a:pathLst>
                <a:path h="973411" w="1508258">
                  <a:moveTo>
                    <a:pt x="33367" y="0"/>
                  </a:moveTo>
                  <a:lnTo>
                    <a:pt x="1474891" y="0"/>
                  </a:lnTo>
                  <a:cubicBezTo>
                    <a:pt x="1483741" y="0"/>
                    <a:pt x="1492228" y="3515"/>
                    <a:pt x="1498485" y="9773"/>
                  </a:cubicBezTo>
                  <a:cubicBezTo>
                    <a:pt x="1504743" y="16030"/>
                    <a:pt x="1508258" y="24517"/>
                    <a:pt x="1508258" y="33367"/>
                  </a:cubicBezTo>
                  <a:lnTo>
                    <a:pt x="1508258" y="940044"/>
                  </a:lnTo>
                  <a:cubicBezTo>
                    <a:pt x="1508258" y="958472"/>
                    <a:pt x="1493320" y="973411"/>
                    <a:pt x="1474891" y="973411"/>
                  </a:cubicBezTo>
                  <a:lnTo>
                    <a:pt x="33367" y="973411"/>
                  </a:lnTo>
                  <a:cubicBezTo>
                    <a:pt x="24517" y="973411"/>
                    <a:pt x="16030" y="969895"/>
                    <a:pt x="9773" y="963638"/>
                  </a:cubicBezTo>
                  <a:cubicBezTo>
                    <a:pt x="3515" y="957380"/>
                    <a:pt x="0" y="948893"/>
                    <a:pt x="0" y="940044"/>
                  </a:cubicBezTo>
                  <a:lnTo>
                    <a:pt x="0" y="33367"/>
                  </a:lnTo>
                  <a:cubicBezTo>
                    <a:pt x="0" y="14939"/>
                    <a:pt x="14939" y="0"/>
                    <a:pt x="33367" y="0"/>
                  </a:cubicBezTo>
                  <a:close/>
                </a:path>
              </a:pathLst>
            </a:custGeom>
            <a:blipFill>
              <a:blip r:embed="rId2"/>
              <a:stretch>
                <a:fillRect l="-326" t="0" r="-326" b="0"/>
              </a:stretch>
            </a:blipFill>
            <a:ln w="28575" cap="rnd">
              <a:solidFill>
                <a:srgbClr val="000000"/>
              </a:solidFill>
              <a:prstDash val="solid"/>
              <a:round/>
            </a:ln>
          </p:spPr>
        </p:sp>
      </p:grpSp>
      <p:sp>
        <p:nvSpPr>
          <p:cNvPr name="Freeform 4" id="4"/>
          <p:cNvSpPr/>
          <p:nvPr/>
        </p:nvSpPr>
        <p:spPr>
          <a:xfrm flipH="false" flipV="false" rot="0">
            <a:off x="0" y="8052368"/>
            <a:ext cx="2066799" cy="2164188"/>
          </a:xfrm>
          <a:custGeom>
            <a:avLst/>
            <a:gdLst/>
            <a:ahLst/>
            <a:cxnLst/>
            <a:rect r="r" b="b" t="t" l="l"/>
            <a:pathLst>
              <a:path h="2164188" w="2066799">
                <a:moveTo>
                  <a:pt x="0" y="0"/>
                </a:moveTo>
                <a:lnTo>
                  <a:pt x="2066799" y="0"/>
                </a:lnTo>
                <a:lnTo>
                  <a:pt x="2066799" y="2164188"/>
                </a:lnTo>
                <a:lnTo>
                  <a:pt x="0" y="216418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6067547" y="0"/>
            <a:ext cx="2220453" cy="2173269"/>
          </a:xfrm>
          <a:custGeom>
            <a:avLst/>
            <a:gdLst/>
            <a:ahLst/>
            <a:cxnLst/>
            <a:rect r="r" b="b" t="t" l="l"/>
            <a:pathLst>
              <a:path h="2173269" w="2220453">
                <a:moveTo>
                  <a:pt x="0" y="0"/>
                </a:moveTo>
                <a:lnTo>
                  <a:pt x="2220453" y="0"/>
                </a:lnTo>
                <a:lnTo>
                  <a:pt x="2220453" y="2173269"/>
                </a:lnTo>
                <a:lnTo>
                  <a:pt x="0" y="217326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false" rot="0">
            <a:off x="11750972" y="9915947"/>
            <a:ext cx="7315200" cy="658368"/>
          </a:xfrm>
          <a:custGeom>
            <a:avLst/>
            <a:gdLst/>
            <a:ahLst/>
            <a:cxnLst/>
            <a:rect r="r" b="b" t="t" l="l"/>
            <a:pathLst>
              <a:path h="658368" w="7315200">
                <a:moveTo>
                  <a:pt x="7315200" y="0"/>
                </a:moveTo>
                <a:lnTo>
                  <a:pt x="0" y="0"/>
                </a:lnTo>
                <a:lnTo>
                  <a:pt x="0" y="658368"/>
                </a:lnTo>
                <a:lnTo>
                  <a:pt x="7315200" y="658368"/>
                </a:lnTo>
                <a:lnTo>
                  <a:pt x="731520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7" id="7"/>
          <p:cNvGrpSpPr/>
          <p:nvPr/>
        </p:nvGrpSpPr>
        <p:grpSpPr>
          <a:xfrm rot="0">
            <a:off x="142875" y="-28575"/>
            <a:ext cx="1152688" cy="1510291"/>
            <a:chOff x="0" y="0"/>
            <a:chExt cx="1536917" cy="2013722"/>
          </a:xfrm>
        </p:grpSpPr>
        <p:sp>
          <p:nvSpPr>
            <p:cNvPr name="Freeform 8" id="8"/>
            <p:cNvSpPr/>
            <p:nvPr/>
          </p:nvSpPr>
          <p:spPr>
            <a:xfrm flipH="false" flipV="false" rot="0">
              <a:off x="0" y="907915"/>
              <a:ext cx="1536917" cy="1105807"/>
            </a:xfrm>
            <a:custGeom>
              <a:avLst/>
              <a:gdLst/>
              <a:ahLst/>
              <a:cxnLst/>
              <a:rect r="r" b="b" t="t" l="l"/>
              <a:pathLst>
                <a:path h="1105807" w="1536917">
                  <a:moveTo>
                    <a:pt x="0" y="0"/>
                  </a:moveTo>
                  <a:lnTo>
                    <a:pt x="1536917" y="0"/>
                  </a:lnTo>
                  <a:lnTo>
                    <a:pt x="1536917" y="1105807"/>
                  </a:lnTo>
                  <a:lnTo>
                    <a:pt x="0" y="1105807"/>
                  </a:lnTo>
                  <a:lnTo>
                    <a:pt x="0" y="0"/>
                  </a:lnTo>
                  <a:close/>
                </a:path>
              </a:pathLst>
            </a:custGeom>
            <a:blipFill>
              <a:blip r:embed="rId9">
                <a:extLst>
                  <a:ext uri="{96DAC541-7B7A-43D3-8B79-37D633B846F1}">
                    <asvg:svgBlip xmlns:asvg="http://schemas.microsoft.com/office/drawing/2016/SVG/main" r:embed="rId10"/>
                  </a:ext>
                </a:extLst>
              </a:blip>
              <a:stretch>
                <a:fillRect l="0" t="-62625" r="-57890" b="-56820"/>
              </a:stretch>
            </a:blipFill>
          </p:spPr>
        </p:sp>
        <p:sp>
          <p:nvSpPr>
            <p:cNvPr name="Freeform 9" id="9"/>
            <p:cNvSpPr/>
            <p:nvPr/>
          </p:nvSpPr>
          <p:spPr>
            <a:xfrm flipH="false" flipV="false" rot="0">
              <a:off x="0" y="0"/>
              <a:ext cx="1536917" cy="1105807"/>
            </a:xfrm>
            <a:custGeom>
              <a:avLst/>
              <a:gdLst/>
              <a:ahLst/>
              <a:cxnLst/>
              <a:rect r="r" b="b" t="t" l="l"/>
              <a:pathLst>
                <a:path h="1105807" w="1536917">
                  <a:moveTo>
                    <a:pt x="0" y="0"/>
                  </a:moveTo>
                  <a:lnTo>
                    <a:pt x="1536917" y="0"/>
                  </a:lnTo>
                  <a:lnTo>
                    <a:pt x="1536917" y="1105807"/>
                  </a:lnTo>
                  <a:lnTo>
                    <a:pt x="0" y="1105807"/>
                  </a:lnTo>
                  <a:lnTo>
                    <a:pt x="0" y="0"/>
                  </a:lnTo>
                  <a:close/>
                </a:path>
              </a:pathLst>
            </a:custGeom>
            <a:blipFill>
              <a:blip r:embed="rId9">
                <a:extLst>
                  <a:ext uri="{96DAC541-7B7A-43D3-8B79-37D633B846F1}">
                    <asvg:svgBlip xmlns:asvg="http://schemas.microsoft.com/office/drawing/2016/SVG/main" r:embed="rId10"/>
                  </a:ext>
                </a:extLst>
              </a:blip>
              <a:stretch>
                <a:fillRect l="0" t="-62625" r="-57890" b="-56820"/>
              </a:stretch>
            </a:blipFill>
          </p:spPr>
        </p:sp>
      </p:grpSp>
      <p:sp>
        <p:nvSpPr>
          <p:cNvPr name="TextBox 10" id="10"/>
          <p:cNvSpPr txBox="true"/>
          <p:nvPr/>
        </p:nvSpPr>
        <p:spPr>
          <a:xfrm rot="0">
            <a:off x="1576957" y="818141"/>
            <a:ext cx="9054717" cy="1193800"/>
          </a:xfrm>
          <a:prstGeom prst="rect">
            <a:avLst/>
          </a:prstGeom>
        </p:spPr>
        <p:txBody>
          <a:bodyPr anchor="t" rtlCol="false" tIns="0" lIns="0" bIns="0" rIns="0">
            <a:spAutoFit/>
          </a:bodyPr>
          <a:lstStyle/>
          <a:p>
            <a:pPr algn="l">
              <a:lnSpc>
                <a:spcPts val="9799"/>
              </a:lnSpc>
            </a:pPr>
            <a:r>
              <a:rPr lang="en-US" sz="6999" b="true">
                <a:solidFill>
                  <a:srgbClr val="245095"/>
                </a:solidFill>
                <a:latin typeface="Open Sans Bold"/>
                <a:ea typeface="Open Sans Bold"/>
                <a:cs typeface="Open Sans Bold"/>
                <a:sym typeface="Open Sans Bold"/>
              </a:rPr>
              <a:t>Visualisasi Barplot</a:t>
            </a:r>
          </a:p>
        </p:txBody>
      </p:sp>
      <p:grpSp>
        <p:nvGrpSpPr>
          <p:cNvPr name="Group 11" id="11"/>
          <p:cNvGrpSpPr/>
          <p:nvPr/>
        </p:nvGrpSpPr>
        <p:grpSpPr>
          <a:xfrm rot="0">
            <a:off x="6476553" y="2920580"/>
            <a:ext cx="5336564" cy="3444151"/>
            <a:chOff x="0" y="0"/>
            <a:chExt cx="1508258" cy="973411"/>
          </a:xfrm>
        </p:grpSpPr>
        <p:sp>
          <p:nvSpPr>
            <p:cNvPr name="Freeform 12" id="12"/>
            <p:cNvSpPr/>
            <p:nvPr/>
          </p:nvSpPr>
          <p:spPr>
            <a:xfrm flipH="false" flipV="false" rot="0">
              <a:off x="0" y="0"/>
              <a:ext cx="1508258" cy="973411"/>
            </a:xfrm>
            <a:custGeom>
              <a:avLst/>
              <a:gdLst/>
              <a:ahLst/>
              <a:cxnLst/>
              <a:rect r="r" b="b" t="t" l="l"/>
              <a:pathLst>
                <a:path h="973411" w="1508258">
                  <a:moveTo>
                    <a:pt x="33367" y="0"/>
                  </a:moveTo>
                  <a:lnTo>
                    <a:pt x="1474891" y="0"/>
                  </a:lnTo>
                  <a:cubicBezTo>
                    <a:pt x="1483741" y="0"/>
                    <a:pt x="1492228" y="3515"/>
                    <a:pt x="1498485" y="9773"/>
                  </a:cubicBezTo>
                  <a:cubicBezTo>
                    <a:pt x="1504743" y="16030"/>
                    <a:pt x="1508258" y="24517"/>
                    <a:pt x="1508258" y="33367"/>
                  </a:cubicBezTo>
                  <a:lnTo>
                    <a:pt x="1508258" y="940044"/>
                  </a:lnTo>
                  <a:cubicBezTo>
                    <a:pt x="1508258" y="958472"/>
                    <a:pt x="1493320" y="973411"/>
                    <a:pt x="1474891" y="973411"/>
                  </a:cubicBezTo>
                  <a:lnTo>
                    <a:pt x="33367" y="973411"/>
                  </a:lnTo>
                  <a:cubicBezTo>
                    <a:pt x="24517" y="973411"/>
                    <a:pt x="16030" y="969895"/>
                    <a:pt x="9773" y="963638"/>
                  </a:cubicBezTo>
                  <a:cubicBezTo>
                    <a:pt x="3515" y="957380"/>
                    <a:pt x="0" y="948893"/>
                    <a:pt x="0" y="940044"/>
                  </a:cubicBezTo>
                  <a:lnTo>
                    <a:pt x="0" y="33367"/>
                  </a:lnTo>
                  <a:cubicBezTo>
                    <a:pt x="0" y="14939"/>
                    <a:pt x="14939" y="0"/>
                    <a:pt x="33367" y="0"/>
                  </a:cubicBezTo>
                  <a:close/>
                </a:path>
              </a:pathLst>
            </a:custGeom>
            <a:blipFill>
              <a:blip r:embed="rId11"/>
              <a:stretch>
                <a:fillRect l="0" t="-642" r="0" b="-642"/>
              </a:stretch>
            </a:blipFill>
            <a:ln w="28575" cap="rnd">
              <a:solidFill>
                <a:srgbClr val="000000"/>
              </a:solidFill>
              <a:prstDash val="solid"/>
              <a:round/>
            </a:ln>
          </p:spPr>
        </p:sp>
      </p:grpSp>
      <p:grpSp>
        <p:nvGrpSpPr>
          <p:cNvPr name="Group 13" id="13"/>
          <p:cNvGrpSpPr/>
          <p:nvPr/>
        </p:nvGrpSpPr>
        <p:grpSpPr>
          <a:xfrm rot="0">
            <a:off x="12232217" y="2917693"/>
            <a:ext cx="5336564" cy="3444151"/>
            <a:chOff x="0" y="0"/>
            <a:chExt cx="1508258" cy="973411"/>
          </a:xfrm>
        </p:grpSpPr>
        <p:sp>
          <p:nvSpPr>
            <p:cNvPr name="Freeform 14" id="14"/>
            <p:cNvSpPr/>
            <p:nvPr/>
          </p:nvSpPr>
          <p:spPr>
            <a:xfrm flipH="false" flipV="false" rot="0">
              <a:off x="0" y="0"/>
              <a:ext cx="1508258" cy="973411"/>
            </a:xfrm>
            <a:custGeom>
              <a:avLst/>
              <a:gdLst/>
              <a:ahLst/>
              <a:cxnLst/>
              <a:rect r="r" b="b" t="t" l="l"/>
              <a:pathLst>
                <a:path h="973411" w="1508258">
                  <a:moveTo>
                    <a:pt x="33367" y="0"/>
                  </a:moveTo>
                  <a:lnTo>
                    <a:pt x="1474891" y="0"/>
                  </a:lnTo>
                  <a:cubicBezTo>
                    <a:pt x="1483741" y="0"/>
                    <a:pt x="1492228" y="3515"/>
                    <a:pt x="1498485" y="9773"/>
                  </a:cubicBezTo>
                  <a:cubicBezTo>
                    <a:pt x="1504743" y="16030"/>
                    <a:pt x="1508258" y="24517"/>
                    <a:pt x="1508258" y="33367"/>
                  </a:cubicBezTo>
                  <a:lnTo>
                    <a:pt x="1508258" y="940044"/>
                  </a:lnTo>
                  <a:cubicBezTo>
                    <a:pt x="1508258" y="958472"/>
                    <a:pt x="1493320" y="973411"/>
                    <a:pt x="1474891" y="973411"/>
                  </a:cubicBezTo>
                  <a:lnTo>
                    <a:pt x="33367" y="973411"/>
                  </a:lnTo>
                  <a:cubicBezTo>
                    <a:pt x="24517" y="973411"/>
                    <a:pt x="16030" y="969895"/>
                    <a:pt x="9773" y="963638"/>
                  </a:cubicBezTo>
                  <a:cubicBezTo>
                    <a:pt x="3515" y="957380"/>
                    <a:pt x="0" y="948893"/>
                    <a:pt x="0" y="940044"/>
                  </a:cubicBezTo>
                  <a:lnTo>
                    <a:pt x="0" y="33367"/>
                  </a:lnTo>
                  <a:cubicBezTo>
                    <a:pt x="0" y="14939"/>
                    <a:pt x="14939" y="0"/>
                    <a:pt x="33367" y="0"/>
                  </a:cubicBezTo>
                  <a:close/>
                </a:path>
              </a:pathLst>
            </a:custGeom>
            <a:blipFill>
              <a:blip r:embed="rId12"/>
              <a:stretch>
                <a:fillRect l="0" t="-432" r="0" b="-432"/>
              </a:stretch>
            </a:blipFill>
            <a:ln w="28575" cap="rnd">
              <a:solidFill>
                <a:srgbClr val="000000"/>
              </a:solidFill>
              <a:prstDash val="solid"/>
              <a:round/>
            </a:ln>
          </p:spPr>
        </p:sp>
      </p:grpSp>
      <p:grpSp>
        <p:nvGrpSpPr>
          <p:cNvPr name="Group 15" id="15"/>
          <p:cNvGrpSpPr/>
          <p:nvPr/>
        </p:nvGrpSpPr>
        <p:grpSpPr>
          <a:xfrm rot="0">
            <a:off x="6104316" y="6998385"/>
            <a:ext cx="6079369" cy="2283906"/>
            <a:chOff x="0" y="0"/>
            <a:chExt cx="1601151" cy="601523"/>
          </a:xfrm>
        </p:grpSpPr>
        <p:sp>
          <p:nvSpPr>
            <p:cNvPr name="Freeform 16" id="16"/>
            <p:cNvSpPr/>
            <p:nvPr/>
          </p:nvSpPr>
          <p:spPr>
            <a:xfrm flipH="false" flipV="false" rot="0">
              <a:off x="0" y="0"/>
              <a:ext cx="1601151" cy="601523"/>
            </a:xfrm>
            <a:custGeom>
              <a:avLst/>
              <a:gdLst/>
              <a:ahLst/>
              <a:cxnLst/>
              <a:rect r="r" b="b" t="t" l="l"/>
              <a:pathLst>
                <a:path h="601523" w="1601151">
                  <a:moveTo>
                    <a:pt x="64947" y="0"/>
                  </a:moveTo>
                  <a:lnTo>
                    <a:pt x="1536204" y="0"/>
                  </a:lnTo>
                  <a:cubicBezTo>
                    <a:pt x="1572073" y="0"/>
                    <a:pt x="1601151" y="29078"/>
                    <a:pt x="1601151" y="64947"/>
                  </a:cubicBezTo>
                  <a:lnTo>
                    <a:pt x="1601151" y="536575"/>
                  </a:lnTo>
                  <a:cubicBezTo>
                    <a:pt x="1601151" y="572445"/>
                    <a:pt x="1572073" y="601523"/>
                    <a:pt x="1536204" y="601523"/>
                  </a:cubicBezTo>
                  <a:lnTo>
                    <a:pt x="64947" y="601523"/>
                  </a:lnTo>
                  <a:cubicBezTo>
                    <a:pt x="29078" y="601523"/>
                    <a:pt x="0" y="572445"/>
                    <a:pt x="0" y="536575"/>
                  </a:cubicBezTo>
                  <a:lnTo>
                    <a:pt x="0" y="64947"/>
                  </a:lnTo>
                  <a:cubicBezTo>
                    <a:pt x="0" y="29078"/>
                    <a:pt x="29078" y="0"/>
                    <a:pt x="64947" y="0"/>
                  </a:cubicBezTo>
                  <a:close/>
                </a:path>
              </a:pathLst>
            </a:custGeom>
            <a:solidFill>
              <a:srgbClr val="FFFFFF"/>
            </a:solidFill>
            <a:ln w="19050" cap="rnd">
              <a:solidFill>
                <a:srgbClr val="1F4B91"/>
              </a:solidFill>
              <a:prstDash val="solid"/>
              <a:round/>
            </a:ln>
          </p:spPr>
        </p:sp>
        <p:sp>
          <p:nvSpPr>
            <p:cNvPr name="TextBox 17" id="17"/>
            <p:cNvSpPr txBox="true"/>
            <p:nvPr/>
          </p:nvSpPr>
          <p:spPr>
            <a:xfrm>
              <a:off x="0" y="-47625"/>
              <a:ext cx="1601151" cy="649148"/>
            </a:xfrm>
            <a:prstGeom prst="rect">
              <a:avLst/>
            </a:prstGeom>
          </p:spPr>
          <p:txBody>
            <a:bodyPr anchor="ctr" rtlCol="false" tIns="50800" lIns="50800" bIns="50800" rIns="50800"/>
            <a:lstStyle/>
            <a:p>
              <a:pPr algn="ctr">
                <a:lnSpc>
                  <a:spcPts val="2800"/>
                </a:lnSpc>
              </a:pPr>
            </a:p>
          </p:txBody>
        </p:sp>
      </p:grpSp>
      <p:sp>
        <p:nvSpPr>
          <p:cNvPr name="TextBox 18" id="18"/>
          <p:cNvSpPr txBox="true"/>
          <p:nvPr/>
        </p:nvSpPr>
        <p:spPr>
          <a:xfrm rot="0">
            <a:off x="6337382" y="7237051"/>
            <a:ext cx="5613236" cy="1758950"/>
          </a:xfrm>
          <a:prstGeom prst="rect">
            <a:avLst/>
          </a:prstGeom>
        </p:spPr>
        <p:txBody>
          <a:bodyPr anchor="t" rtlCol="false" tIns="0" lIns="0" bIns="0" rIns="0">
            <a:spAutoFit/>
          </a:bodyPr>
          <a:lstStyle/>
          <a:p>
            <a:pPr algn="ctr">
              <a:lnSpc>
                <a:spcPts val="2800"/>
              </a:lnSpc>
            </a:pPr>
            <a:r>
              <a:rPr lang="en-US" sz="2000">
                <a:solidFill>
                  <a:srgbClr val="000000"/>
                </a:solidFill>
                <a:latin typeface="Open Sans"/>
                <a:ea typeface="Open Sans"/>
                <a:cs typeface="Open Sans"/>
                <a:sym typeface="Open Sans"/>
              </a:rPr>
              <a:t>Kemunculan kata umum seperti shopee dan tidak muncul di beberapa topik, menandakan keterkaitan konteks pembahasan antar topik, terutama terkait pengalaman penggunaan aplikasi dan layanan pengiriman.</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05486" y="2706699"/>
            <a:ext cx="7857689" cy="6551601"/>
            <a:chOff x="0" y="0"/>
            <a:chExt cx="1384960" cy="1154754"/>
          </a:xfrm>
        </p:grpSpPr>
        <p:sp>
          <p:nvSpPr>
            <p:cNvPr name="Freeform 3" id="3"/>
            <p:cNvSpPr/>
            <p:nvPr/>
          </p:nvSpPr>
          <p:spPr>
            <a:xfrm flipH="false" flipV="false" rot="0">
              <a:off x="0" y="0"/>
              <a:ext cx="1384960" cy="1154754"/>
            </a:xfrm>
            <a:custGeom>
              <a:avLst/>
              <a:gdLst/>
              <a:ahLst/>
              <a:cxnLst/>
              <a:rect r="r" b="b" t="t" l="l"/>
              <a:pathLst>
                <a:path h="1154754" w="1384960">
                  <a:moveTo>
                    <a:pt x="40396" y="0"/>
                  </a:moveTo>
                  <a:lnTo>
                    <a:pt x="1344564" y="0"/>
                  </a:lnTo>
                  <a:cubicBezTo>
                    <a:pt x="1355277" y="0"/>
                    <a:pt x="1365552" y="4256"/>
                    <a:pt x="1373128" y="11832"/>
                  </a:cubicBezTo>
                  <a:cubicBezTo>
                    <a:pt x="1380704" y="19407"/>
                    <a:pt x="1384960" y="29682"/>
                    <a:pt x="1384960" y="40396"/>
                  </a:cubicBezTo>
                  <a:lnTo>
                    <a:pt x="1384960" y="1114358"/>
                  </a:lnTo>
                  <a:cubicBezTo>
                    <a:pt x="1384960" y="1125072"/>
                    <a:pt x="1380704" y="1135347"/>
                    <a:pt x="1373128" y="1142923"/>
                  </a:cubicBezTo>
                  <a:cubicBezTo>
                    <a:pt x="1365552" y="1150498"/>
                    <a:pt x="1355277" y="1154754"/>
                    <a:pt x="1344564" y="1154754"/>
                  </a:cubicBezTo>
                  <a:lnTo>
                    <a:pt x="40396" y="1154754"/>
                  </a:lnTo>
                  <a:cubicBezTo>
                    <a:pt x="29682" y="1154754"/>
                    <a:pt x="19407" y="1150498"/>
                    <a:pt x="11832" y="1142923"/>
                  </a:cubicBezTo>
                  <a:cubicBezTo>
                    <a:pt x="4256" y="1135347"/>
                    <a:pt x="0" y="1125072"/>
                    <a:pt x="0" y="1114358"/>
                  </a:cubicBezTo>
                  <a:lnTo>
                    <a:pt x="0" y="40396"/>
                  </a:lnTo>
                  <a:cubicBezTo>
                    <a:pt x="0" y="29682"/>
                    <a:pt x="4256" y="19407"/>
                    <a:pt x="11832" y="11832"/>
                  </a:cubicBezTo>
                  <a:cubicBezTo>
                    <a:pt x="19407" y="4256"/>
                    <a:pt x="29682" y="0"/>
                    <a:pt x="40396" y="0"/>
                  </a:cubicBezTo>
                  <a:close/>
                </a:path>
              </a:pathLst>
            </a:custGeom>
            <a:blipFill>
              <a:blip r:embed="rId2"/>
              <a:stretch>
                <a:fillRect l="0" t="-283" r="0" b="-283"/>
              </a:stretch>
            </a:blipFill>
          </p:spPr>
        </p:sp>
      </p:grpSp>
      <p:sp>
        <p:nvSpPr>
          <p:cNvPr name="Freeform 4" id="4"/>
          <p:cNvSpPr/>
          <p:nvPr/>
        </p:nvSpPr>
        <p:spPr>
          <a:xfrm flipH="false" flipV="false" rot="0">
            <a:off x="0" y="0"/>
            <a:ext cx="1923359" cy="2356336"/>
          </a:xfrm>
          <a:custGeom>
            <a:avLst/>
            <a:gdLst/>
            <a:ahLst/>
            <a:cxnLst/>
            <a:rect r="r" b="b" t="t" l="l"/>
            <a:pathLst>
              <a:path h="2356336" w="1923359">
                <a:moveTo>
                  <a:pt x="0" y="0"/>
                </a:moveTo>
                <a:lnTo>
                  <a:pt x="1923359" y="0"/>
                </a:lnTo>
                <a:lnTo>
                  <a:pt x="1923359" y="2356336"/>
                </a:lnTo>
                <a:lnTo>
                  <a:pt x="0" y="235633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6364641" y="0"/>
            <a:ext cx="4278914" cy="871829"/>
          </a:xfrm>
          <a:custGeom>
            <a:avLst/>
            <a:gdLst/>
            <a:ahLst/>
            <a:cxnLst/>
            <a:rect r="r" b="b" t="t" l="l"/>
            <a:pathLst>
              <a:path h="871829" w="4278914">
                <a:moveTo>
                  <a:pt x="0" y="0"/>
                </a:moveTo>
                <a:lnTo>
                  <a:pt x="4278914" y="0"/>
                </a:lnTo>
                <a:lnTo>
                  <a:pt x="4278914" y="871829"/>
                </a:lnTo>
                <a:lnTo>
                  <a:pt x="0" y="871829"/>
                </a:lnTo>
                <a:lnTo>
                  <a:pt x="0" y="0"/>
                </a:lnTo>
                <a:close/>
              </a:path>
            </a:pathLst>
          </a:custGeom>
          <a:blipFill>
            <a:blip r:embed="rId5">
              <a:alphaModFix amt="63000"/>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9795914" y="826483"/>
            <a:ext cx="999699" cy="1009797"/>
          </a:xfrm>
          <a:custGeom>
            <a:avLst/>
            <a:gdLst/>
            <a:ahLst/>
            <a:cxnLst/>
            <a:rect r="r" b="b" t="t" l="l"/>
            <a:pathLst>
              <a:path h="1009797" w="999699">
                <a:moveTo>
                  <a:pt x="0" y="0"/>
                </a:moveTo>
                <a:lnTo>
                  <a:pt x="999699" y="0"/>
                </a:lnTo>
                <a:lnTo>
                  <a:pt x="999699" y="1009797"/>
                </a:lnTo>
                <a:lnTo>
                  <a:pt x="0" y="100979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952885" y="9207987"/>
            <a:ext cx="1953010" cy="1953010"/>
          </a:xfrm>
          <a:custGeom>
            <a:avLst/>
            <a:gdLst/>
            <a:ahLst/>
            <a:cxnLst/>
            <a:rect r="r" b="b" t="t" l="l"/>
            <a:pathLst>
              <a:path h="1953010" w="1953010">
                <a:moveTo>
                  <a:pt x="0" y="0"/>
                </a:moveTo>
                <a:lnTo>
                  <a:pt x="1953010" y="0"/>
                </a:lnTo>
                <a:lnTo>
                  <a:pt x="1953010" y="1953009"/>
                </a:lnTo>
                <a:lnTo>
                  <a:pt x="0" y="195300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8" id="8"/>
          <p:cNvSpPr txBox="true"/>
          <p:nvPr/>
        </p:nvSpPr>
        <p:spPr>
          <a:xfrm rot="0">
            <a:off x="10295763" y="2689225"/>
            <a:ext cx="6513480" cy="2757393"/>
          </a:xfrm>
          <a:prstGeom prst="rect">
            <a:avLst/>
          </a:prstGeom>
        </p:spPr>
        <p:txBody>
          <a:bodyPr anchor="t" rtlCol="false" tIns="0" lIns="0" bIns="0" rIns="0">
            <a:spAutoFit/>
          </a:bodyPr>
          <a:lstStyle/>
          <a:p>
            <a:pPr algn="l">
              <a:lnSpc>
                <a:spcPts val="3151"/>
              </a:lnSpc>
            </a:pPr>
            <a:r>
              <a:rPr lang="en-US" sz="2250">
                <a:solidFill>
                  <a:srgbClr val="000000"/>
                </a:solidFill>
                <a:latin typeface="Open Sans"/>
                <a:ea typeface="Open Sans"/>
                <a:cs typeface="Open Sans"/>
                <a:sym typeface="Open Sans"/>
              </a:rPr>
              <a:t>Heatmap sentimen positif menunjukkan bahwa kata-kata seperti mudah, murah, mantap, puas, dan cepat memiliki bobot tinggi pada beberapa topik. Hal ini mengindikasikan bahwa kepuasan pengguna Shopee terutama dipengaruhi oleh kemudahan penggunaan, harga yang terjangkau, dan kecepatan layanan.</a:t>
            </a:r>
          </a:p>
        </p:txBody>
      </p:sp>
      <p:sp>
        <p:nvSpPr>
          <p:cNvPr name="TextBox 9" id="9"/>
          <p:cNvSpPr txBox="true"/>
          <p:nvPr/>
        </p:nvSpPr>
        <p:spPr>
          <a:xfrm rot="0">
            <a:off x="2438455" y="895350"/>
            <a:ext cx="10334416" cy="1193800"/>
          </a:xfrm>
          <a:prstGeom prst="rect">
            <a:avLst/>
          </a:prstGeom>
        </p:spPr>
        <p:txBody>
          <a:bodyPr anchor="t" rtlCol="false" tIns="0" lIns="0" bIns="0" rIns="0">
            <a:spAutoFit/>
          </a:bodyPr>
          <a:lstStyle/>
          <a:p>
            <a:pPr algn="l">
              <a:lnSpc>
                <a:spcPts val="9799"/>
              </a:lnSpc>
            </a:pPr>
            <a:r>
              <a:rPr lang="en-US" sz="6999" b="true">
                <a:solidFill>
                  <a:srgbClr val="245095"/>
                </a:solidFill>
                <a:latin typeface="Open Sans Bold"/>
                <a:ea typeface="Open Sans Bold"/>
                <a:cs typeface="Open Sans Bold"/>
                <a:sym typeface="Open Sans Bold"/>
              </a:rPr>
              <a:t>Visualisasi Heatmap</a:t>
            </a:r>
          </a:p>
        </p:txBody>
      </p:sp>
      <p:grpSp>
        <p:nvGrpSpPr>
          <p:cNvPr name="Group 10" id="10"/>
          <p:cNvGrpSpPr/>
          <p:nvPr/>
        </p:nvGrpSpPr>
        <p:grpSpPr>
          <a:xfrm rot="0">
            <a:off x="14565535" y="7325502"/>
            <a:ext cx="4487417" cy="3865595"/>
            <a:chOff x="0" y="0"/>
            <a:chExt cx="5983223" cy="5154127"/>
          </a:xfrm>
        </p:grpSpPr>
        <p:sp>
          <p:nvSpPr>
            <p:cNvPr name="Freeform 11" id="11"/>
            <p:cNvSpPr/>
            <p:nvPr/>
          </p:nvSpPr>
          <p:spPr>
            <a:xfrm flipH="true" flipV="true" rot="0">
              <a:off x="0" y="149029"/>
              <a:ext cx="4011548" cy="4319298"/>
            </a:xfrm>
            <a:custGeom>
              <a:avLst/>
              <a:gdLst/>
              <a:ahLst/>
              <a:cxnLst/>
              <a:rect r="r" b="b" t="t" l="l"/>
              <a:pathLst>
                <a:path h="4319298" w="4011548">
                  <a:moveTo>
                    <a:pt x="4011548" y="4319298"/>
                  </a:moveTo>
                  <a:lnTo>
                    <a:pt x="0" y="4319298"/>
                  </a:lnTo>
                  <a:lnTo>
                    <a:pt x="0" y="0"/>
                  </a:lnTo>
                  <a:lnTo>
                    <a:pt x="4011548" y="0"/>
                  </a:lnTo>
                  <a:lnTo>
                    <a:pt x="4011548" y="4319298"/>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12" id="12"/>
            <p:cNvGrpSpPr/>
            <p:nvPr/>
          </p:nvGrpSpPr>
          <p:grpSpPr>
            <a:xfrm rot="-10800000">
              <a:off x="2639948" y="0"/>
              <a:ext cx="3343275" cy="5154127"/>
              <a:chOff x="0" y="0"/>
              <a:chExt cx="660400" cy="1018099"/>
            </a:xfrm>
          </p:grpSpPr>
          <p:sp>
            <p:nvSpPr>
              <p:cNvPr name="Freeform 13" id="13"/>
              <p:cNvSpPr/>
              <p:nvPr/>
            </p:nvSpPr>
            <p:spPr>
              <a:xfrm flipH="false" flipV="false" rot="0">
                <a:off x="0" y="0"/>
                <a:ext cx="660400" cy="1018099"/>
              </a:xfrm>
              <a:custGeom>
                <a:avLst/>
                <a:gdLst/>
                <a:ahLst/>
                <a:cxnLst/>
                <a:rect r="r" b="b" t="t" l="l"/>
                <a:pathLst>
                  <a:path h="1018099" w="660400">
                    <a:moveTo>
                      <a:pt x="220252" y="999030"/>
                    </a:moveTo>
                    <a:cubicBezTo>
                      <a:pt x="254109" y="1010544"/>
                      <a:pt x="292600" y="1018099"/>
                      <a:pt x="330378" y="1018099"/>
                    </a:cubicBezTo>
                    <a:cubicBezTo>
                      <a:pt x="368157" y="1018099"/>
                      <a:pt x="404509" y="1011622"/>
                      <a:pt x="438009" y="1000108"/>
                    </a:cubicBezTo>
                    <a:cubicBezTo>
                      <a:pt x="438723" y="999749"/>
                      <a:pt x="439435" y="999749"/>
                      <a:pt x="440148" y="999389"/>
                    </a:cubicBezTo>
                    <a:cubicBezTo>
                      <a:pt x="565955" y="953334"/>
                      <a:pt x="658618" y="831720"/>
                      <a:pt x="660400" y="685037"/>
                    </a:cubicBezTo>
                    <a:lnTo>
                      <a:pt x="660400" y="0"/>
                    </a:lnTo>
                    <a:lnTo>
                      <a:pt x="0" y="0"/>
                    </a:lnTo>
                    <a:lnTo>
                      <a:pt x="0" y="684528"/>
                    </a:lnTo>
                    <a:cubicBezTo>
                      <a:pt x="1782" y="832439"/>
                      <a:pt x="93019" y="954054"/>
                      <a:pt x="220252" y="999030"/>
                    </a:cubicBezTo>
                    <a:close/>
                  </a:path>
                </a:pathLst>
              </a:custGeom>
              <a:solidFill>
                <a:srgbClr val="000000">
                  <a:alpha val="0"/>
                </a:srgbClr>
              </a:solidFill>
              <a:ln w="428625" cap="sq">
                <a:solidFill>
                  <a:srgbClr val="0F3460">
                    <a:alpha val="75686"/>
                  </a:srgbClr>
                </a:solidFill>
                <a:prstDash val="solid"/>
                <a:miter/>
              </a:ln>
            </p:spPr>
          </p:sp>
          <p:sp>
            <p:nvSpPr>
              <p:cNvPr name="TextBox 14" id="14"/>
              <p:cNvSpPr txBox="true"/>
              <p:nvPr/>
            </p:nvSpPr>
            <p:spPr>
              <a:xfrm>
                <a:off x="0" y="-57150"/>
                <a:ext cx="660400" cy="948249"/>
              </a:xfrm>
              <a:prstGeom prst="rect">
                <a:avLst/>
              </a:prstGeom>
            </p:spPr>
            <p:txBody>
              <a:bodyPr anchor="ctr" rtlCol="false" tIns="50800" lIns="50800" bIns="50800" rIns="50800"/>
              <a:lstStyle/>
              <a:p>
                <a:pPr algn="ctr">
                  <a:lnSpc>
                    <a:spcPts val="3643"/>
                  </a:lnSpc>
                </a:pPr>
              </a:p>
            </p:txBody>
          </p:sp>
        </p:grpSp>
      </p:gr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05486" y="2706699"/>
            <a:ext cx="7857689" cy="6551601"/>
            <a:chOff x="0" y="0"/>
            <a:chExt cx="1384960" cy="1154754"/>
          </a:xfrm>
        </p:grpSpPr>
        <p:sp>
          <p:nvSpPr>
            <p:cNvPr name="Freeform 3" id="3"/>
            <p:cNvSpPr/>
            <p:nvPr/>
          </p:nvSpPr>
          <p:spPr>
            <a:xfrm flipH="false" flipV="false" rot="0">
              <a:off x="0" y="0"/>
              <a:ext cx="1384960" cy="1154754"/>
            </a:xfrm>
            <a:custGeom>
              <a:avLst/>
              <a:gdLst/>
              <a:ahLst/>
              <a:cxnLst/>
              <a:rect r="r" b="b" t="t" l="l"/>
              <a:pathLst>
                <a:path h="1154754" w="1384960">
                  <a:moveTo>
                    <a:pt x="40396" y="0"/>
                  </a:moveTo>
                  <a:lnTo>
                    <a:pt x="1344564" y="0"/>
                  </a:lnTo>
                  <a:cubicBezTo>
                    <a:pt x="1355277" y="0"/>
                    <a:pt x="1365552" y="4256"/>
                    <a:pt x="1373128" y="11832"/>
                  </a:cubicBezTo>
                  <a:cubicBezTo>
                    <a:pt x="1380704" y="19407"/>
                    <a:pt x="1384960" y="29682"/>
                    <a:pt x="1384960" y="40396"/>
                  </a:cubicBezTo>
                  <a:lnTo>
                    <a:pt x="1384960" y="1114358"/>
                  </a:lnTo>
                  <a:cubicBezTo>
                    <a:pt x="1384960" y="1125072"/>
                    <a:pt x="1380704" y="1135347"/>
                    <a:pt x="1373128" y="1142923"/>
                  </a:cubicBezTo>
                  <a:cubicBezTo>
                    <a:pt x="1365552" y="1150498"/>
                    <a:pt x="1355277" y="1154754"/>
                    <a:pt x="1344564" y="1154754"/>
                  </a:cubicBezTo>
                  <a:lnTo>
                    <a:pt x="40396" y="1154754"/>
                  </a:lnTo>
                  <a:cubicBezTo>
                    <a:pt x="29682" y="1154754"/>
                    <a:pt x="19407" y="1150498"/>
                    <a:pt x="11832" y="1142923"/>
                  </a:cubicBezTo>
                  <a:cubicBezTo>
                    <a:pt x="4256" y="1135347"/>
                    <a:pt x="0" y="1125072"/>
                    <a:pt x="0" y="1114358"/>
                  </a:cubicBezTo>
                  <a:lnTo>
                    <a:pt x="0" y="40396"/>
                  </a:lnTo>
                  <a:cubicBezTo>
                    <a:pt x="0" y="29682"/>
                    <a:pt x="4256" y="19407"/>
                    <a:pt x="11832" y="11832"/>
                  </a:cubicBezTo>
                  <a:cubicBezTo>
                    <a:pt x="19407" y="4256"/>
                    <a:pt x="29682" y="0"/>
                    <a:pt x="40396" y="0"/>
                  </a:cubicBezTo>
                  <a:close/>
                </a:path>
              </a:pathLst>
            </a:custGeom>
            <a:blipFill>
              <a:blip r:embed="rId2"/>
              <a:stretch>
                <a:fillRect l="0" t="-597" r="0" b="-597"/>
              </a:stretch>
            </a:blipFill>
          </p:spPr>
        </p:sp>
      </p:grpSp>
      <p:sp>
        <p:nvSpPr>
          <p:cNvPr name="Freeform 4" id="4"/>
          <p:cNvSpPr/>
          <p:nvPr/>
        </p:nvSpPr>
        <p:spPr>
          <a:xfrm flipH="false" flipV="false" rot="0">
            <a:off x="0" y="0"/>
            <a:ext cx="1923359" cy="2356336"/>
          </a:xfrm>
          <a:custGeom>
            <a:avLst/>
            <a:gdLst/>
            <a:ahLst/>
            <a:cxnLst/>
            <a:rect r="r" b="b" t="t" l="l"/>
            <a:pathLst>
              <a:path h="2356336" w="1923359">
                <a:moveTo>
                  <a:pt x="0" y="0"/>
                </a:moveTo>
                <a:lnTo>
                  <a:pt x="1923359" y="0"/>
                </a:lnTo>
                <a:lnTo>
                  <a:pt x="1923359" y="2356336"/>
                </a:lnTo>
                <a:lnTo>
                  <a:pt x="0" y="235633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6364641" y="0"/>
            <a:ext cx="4278914" cy="871829"/>
          </a:xfrm>
          <a:custGeom>
            <a:avLst/>
            <a:gdLst/>
            <a:ahLst/>
            <a:cxnLst/>
            <a:rect r="r" b="b" t="t" l="l"/>
            <a:pathLst>
              <a:path h="871829" w="4278914">
                <a:moveTo>
                  <a:pt x="0" y="0"/>
                </a:moveTo>
                <a:lnTo>
                  <a:pt x="4278914" y="0"/>
                </a:lnTo>
                <a:lnTo>
                  <a:pt x="4278914" y="871829"/>
                </a:lnTo>
                <a:lnTo>
                  <a:pt x="0" y="871829"/>
                </a:lnTo>
                <a:lnTo>
                  <a:pt x="0" y="0"/>
                </a:lnTo>
                <a:close/>
              </a:path>
            </a:pathLst>
          </a:custGeom>
          <a:blipFill>
            <a:blip r:embed="rId5">
              <a:alphaModFix amt="63000"/>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9795914" y="826483"/>
            <a:ext cx="999699" cy="1009797"/>
          </a:xfrm>
          <a:custGeom>
            <a:avLst/>
            <a:gdLst/>
            <a:ahLst/>
            <a:cxnLst/>
            <a:rect r="r" b="b" t="t" l="l"/>
            <a:pathLst>
              <a:path h="1009797" w="999699">
                <a:moveTo>
                  <a:pt x="0" y="0"/>
                </a:moveTo>
                <a:lnTo>
                  <a:pt x="999699" y="0"/>
                </a:lnTo>
                <a:lnTo>
                  <a:pt x="999699" y="1009797"/>
                </a:lnTo>
                <a:lnTo>
                  <a:pt x="0" y="100979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952885" y="9207987"/>
            <a:ext cx="1953010" cy="1953010"/>
          </a:xfrm>
          <a:custGeom>
            <a:avLst/>
            <a:gdLst/>
            <a:ahLst/>
            <a:cxnLst/>
            <a:rect r="r" b="b" t="t" l="l"/>
            <a:pathLst>
              <a:path h="1953010" w="1953010">
                <a:moveTo>
                  <a:pt x="0" y="0"/>
                </a:moveTo>
                <a:lnTo>
                  <a:pt x="1953010" y="0"/>
                </a:lnTo>
                <a:lnTo>
                  <a:pt x="1953010" y="1953009"/>
                </a:lnTo>
                <a:lnTo>
                  <a:pt x="0" y="195300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8" id="8"/>
          <p:cNvSpPr txBox="true"/>
          <p:nvPr/>
        </p:nvSpPr>
        <p:spPr>
          <a:xfrm rot="0">
            <a:off x="10569603" y="2668599"/>
            <a:ext cx="6187315" cy="3181350"/>
          </a:xfrm>
          <a:prstGeom prst="rect">
            <a:avLst/>
          </a:prstGeom>
        </p:spPr>
        <p:txBody>
          <a:bodyPr anchor="t" rtlCol="false" tIns="0" lIns="0" bIns="0" rIns="0">
            <a:spAutoFit/>
          </a:bodyPr>
          <a:lstStyle/>
          <a:p>
            <a:pPr algn="l">
              <a:lnSpc>
                <a:spcPts val="3149"/>
              </a:lnSpc>
            </a:pPr>
            <a:r>
              <a:rPr lang="en-US" sz="2250">
                <a:solidFill>
                  <a:srgbClr val="000000"/>
                </a:solidFill>
                <a:latin typeface="Open Sans"/>
                <a:ea typeface="Open Sans"/>
                <a:cs typeface="Open Sans"/>
                <a:sym typeface="Open Sans"/>
              </a:rPr>
              <a:t>Visualisasi heatmap menunjukkan bahwa sentimen netral didominasi oleh kata-kata informatif seperti kirim, hari, pesan, dan barang. Pola ini mengindikasikan bahwa ulasan netral bersifat deskriptif dan berfokus pada penyampaian informasi terkait proses transaksi dan pengiriman tanpa ekspresi kepuasan atau kekecewaan yang kuat.</a:t>
            </a:r>
          </a:p>
        </p:txBody>
      </p:sp>
      <p:sp>
        <p:nvSpPr>
          <p:cNvPr name="TextBox 9" id="9"/>
          <p:cNvSpPr txBox="true"/>
          <p:nvPr/>
        </p:nvSpPr>
        <p:spPr>
          <a:xfrm rot="0">
            <a:off x="2438455" y="895350"/>
            <a:ext cx="13037174" cy="1193800"/>
          </a:xfrm>
          <a:prstGeom prst="rect">
            <a:avLst/>
          </a:prstGeom>
        </p:spPr>
        <p:txBody>
          <a:bodyPr anchor="t" rtlCol="false" tIns="0" lIns="0" bIns="0" rIns="0">
            <a:spAutoFit/>
          </a:bodyPr>
          <a:lstStyle/>
          <a:p>
            <a:pPr algn="l">
              <a:lnSpc>
                <a:spcPts val="9799"/>
              </a:lnSpc>
            </a:pPr>
            <a:r>
              <a:rPr lang="en-US" sz="6999" b="true">
                <a:solidFill>
                  <a:srgbClr val="245095"/>
                </a:solidFill>
                <a:latin typeface="Open Sans Bold"/>
                <a:ea typeface="Open Sans Bold"/>
                <a:cs typeface="Open Sans Bold"/>
                <a:sym typeface="Open Sans Bold"/>
              </a:rPr>
              <a:t>Visualisasi Heatmap</a:t>
            </a:r>
          </a:p>
        </p:txBody>
      </p:sp>
      <p:grpSp>
        <p:nvGrpSpPr>
          <p:cNvPr name="Group 10" id="10"/>
          <p:cNvGrpSpPr/>
          <p:nvPr/>
        </p:nvGrpSpPr>
        <p:grpSpPr>
          <a:xfrm rot="0">
            <a:off x="14717935" y="7477902"/>
            <a:ext cx="4487417" cy="3865595"/>
            <a:chOff x="0" y="0"/>
            <a:chExt cx="5983223" cy="5154127"/>
          </a:xfrm>
        </p:grpSpPr>
        <p:sp>
          <p:nvSpPr>
            <p:cNvPr name="Freeform 11" id="11"/>
            <p:cNvSpPr/>
            <p:nvPr/>
          </p:nvSpPr>
          <p:spPr>
            <a:xfrm flipH="true" flipV="true" rot="0">
              <a:off x="0" y="149029"/>
              <a:ext cx="4011548" cy="4319298"/>
            </a:xfrm>
            <a:custGeom>
              <a:avLst/>
              <a:gdLst/>
              <a:ahLst/>
              <a:cxnLst/>
              <a:rect r="r" b="b" t="t" l="l"/>
              <a:pathLst>
                <a:path h="4319298" w="4011548">
                  <a:moveTo>
                    <a:pt x="4011548" y="4319298"/>
                  </a:moveTo>
                  <a:lnTo>
                    <a:pt x="0" y="4319298"/>
                  </a:lnTo>
                  <a:lnTo>
                    <a:pt x="0" y="0"/>
                  </a:lnTo>
                  <a:lnTo>
                    <a:pt x="4011548" y="0"/>
                  </a:lnTo>
                  <a:lnTo>
                    <a:pt x="4011548" y="4319298"/>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12" id="12"/>
            <p:cNvGrpSpPr/>
            <p:nvPr/>
          </p:nvGrpSpPr>
          <p:grpSpPr>
            <a:xfrm rot="-10800000">
              <a:off x="2639948" y="0"/>
              <a:ext cx="3343275" cy="5154127"/>
              <a:chOff x="0" y="0"/>
              <a:chExt cx="660400" cy="1018099"/>
            </a:xfrm>
          </p:grpSpPr>
          <p:sp>
            <p:nvSpPr>
              <p:cNvPr name="Freeform 13" id="13"/>
              <p:cNvSpPr/>
              <p:nvPr/>
            </p:nvSpPr>
            <p:spPr>
              <a:xfrm flipH="false" flipV="false" rot="0">
                <a:off x="0" y="0"/>
                <a:ext cx="660400" cy="1018099"/>
              </a:xfrm>
              <a:custGeom>
                <a:avLst/>
                <a:gdLst/>
                <a:ahLst/>
                <a:cxnLst/>
                <a:rect r="r" b="b" t="t" l="l"/>
                <a:pathLst>
                  <a:path h="1018099" w="660400">
                    <a:moveTo>
                      <a:pt x="220252" y="999030"/>
                    </a:moveTo>
                    <a:cubicBezTo>
                      <a:pt x="254109" y="1010544"/>
                      <a:pt x="292600" y="1018099"/>
                      <a:pt x="330378" y="1018099"/>
                    </a:cubicBezTo>
                    <a:cubicBezTo>
                      <a:pt x="368157" y="1018099"/>
                      <a:pt x="404509" y="1011622"/>
                      <a:pt x="438009" y="1000108"/>
                    </a:cubicBezTo>
                    <a:cubicBezTo>
                      <a:pt x="438723" y="999749"/>
                      <a:pt x="439435" y="999749"/>
                      <a:pt x="440148" y="999389"/>
                    </a:cubicBezTo>
                    <a:cubicBezTo>
                      <a:pt x="565955" y="953334"/>
                      <a:pt x="658618" y="831720"/>
                      <a:pt x="660400" y="685037"/>
                    </a:cubicBezTo>
                    <a:lnTo>
                      <a:pt x="660400" y="0"/>
                    </a:lnTo>
                    <a:lnTo>
                      <a:pt x="0" y="0"/>
                    </a:lnTo>
                    <a:lnTo>
                      <a:pt x="0" y="684528"/>
                    </a:lnTo>
                    <a:cubicBezTo>
                      <a:pt x="1782" y="832439"/>
                      <a:pt x="93019" y="954054"/>
                      <a:pt x="220252" y="999030"/>
                    </a:cubicBezTo>
                    <a:close/>
                  </a:path>
                </a:pathLst>
              </a:custGeom>
              <a:solidFill>
                <a:srgbClr val="000000">
                  <a:alpha val="0"/>
                </a:srgbClr>
              </a:solidFill>
              <a:ln w="428625" cap="sq">
                <a:solidFill>
                  <a:srgbClr val="0F3460">
                    <a:alpha val="75686"/>
                  </a:srgbClr>
                </a:solidFill>
                <a:prstDash val="solid"/>
                <a:miter/>
              </a:ln>
            </p:spPr>
          </p:sp>
          <p:sp>
            <p:nvSpPr>
              <p:cNvPr name="TextBox 14" id="14"/>
              <p:cNvSpPr txBox="true"/>
              <p:nvPr/>
            </p:nvSpPr>
            <p:spPr>
              <a:xfrm>
                <a:off x="0" y="-57150"/>
                <a:ext cx="660400" cy="948249"/>
              </a:xfrm>
              <a:prstGeom prst="rect">
                <a:avLst/>
              </a:prstGeom>
            </p:spPr>
            <p:txBody>
              <a:bodyPr anchor="ctr" rtlCol="false" tIns="50800" lIns="50800" bIns="50800" rIns="50800"/>
              <a:lstStyle/>
              <a:p>
                <a:pPr algn="ctr">
                  <a:lnSpc>
                    <a:spcPts val="3643"/>
                  </a:lnSpc>
                </a:pPr>
              </a:p>
            </p:txBody>
          </p:sp>
        </p:grpSp>
      </p:gr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05486" y="2706699"/>
            <a:ext cx="7857689" cy="6551601"/>
            <a:chOff x="0" y="0"/>
            <a:chExt cx="1384960" cy="1154754"/>
          </a:xfrm>
        </p:grpSpPr>
        <p:sp>
          <p:nvSpPr>
            <p:cNvPr name="Freeform 3" id="3"/>
            <p:cNvSpPr/>
            <p:nvPr/>
          </p:nvSpPr>
          <p:spPr>
            <a:xfrm flipH="false" flipV="false" rot="0">
              <a:off x="0" y="0"/>
              <a:ext cx="1384960" cy="1154754"/>
            </a:xfrm>
            <a:custGeom>
              <a:avLst/>
              <a:gdLst/>
              <a:ahLst/>
              <a:cxnLst/>
              <a:rect r="r" b="b" t="t" l="l"/>
              <a:pathLst>
                <a:path h="1154754" w="1384960">
                  <a:moveTo>
                    <a:pt x="40396" y="0"/>
                  </a:moveTo>
                  <a:lnTo>
                    <a:pt x="1344564" y="0"/>
                  </a:lnTo>
                  <a:cubicBezTo>
                    <a:pt x="1355277" y="0"/>
                    <a:pt x="1365552" y="4256"/>
                    <a:pt x="1373128" y="11832"/>
                  </a:cubicBezTo>
                  <a:cubicBezTo>
                    <a:pt x="1380704" y="19407"/>
                    <a:pt x="1384960" y="29682"/>
                    <a:pt x="1384960" y="40396"/>
                  </a:cubicBezTo>
                  <a:lnTo>
                    <a:pt x="1384960" y="1114358"/>
                  </a:lnTo>
                  <a:cubicBezTo>
                    <a:pt x="1384960" y="1125072"/>
                    <a:pt x="1380704" y="1135347"/>
                    <a:pt x="1373128" y="1142923"/>
                  </a:cubicBezTo>
                  <a:cubicBezTo>
                    <a:pt x="1365552" y="1150498"/>
                    <a:pt x="1355277" y="1154754"/>
                    <a:pt x="1344564" y="1154754"/>
                  </a:cubicBezTo>
                  <a:lnTo>
                    <a:pt x="40396" y="1154754"/>
                  </a:lnTo>
                  <a:cubicBezTo>
                    <a:pt x="29682" y="1154754"/>
                    <a:pt x="19407" y="1150498"/>
                    <a:pt x="11832" y="1142923"/>
                  </a:cubicBezTo>
                  <a:cubicBezTo>
                    <a:pt x="4256" y="1135347"/>
                    <a:pt x="0" y="1125072"/>
                    <a:pt x="0" y="1114358"/>
                  </a:cubicBezTo>
                  <a:lnTo>
                    <a:pt x="0" y="40396"/>
                  </a:lnTo>
                  <a:cubicBezTo>
                    <a:pt x="0" y="29682"/>
                    <a:pt x="4256" y="19407"/>
                    <a:pt x="11832" y="11832"/>
                  </a:cubicBezTo>
                  <a:cubicBezTo>
                    <a:pt x="19407" y="4256"/>
                    <a:pt x="29682" y="0"/>
                    <a:pt x="40396" y="0"/>
                  </a:cubicBezTo>
                  <a:close/>
                </a:path>
              </a:pathLst>
            </a:custGeom>
            <a:blipFill>
              <a:blip r:embed="rId2"/>
              <a:stretch>
                <a:fillRect l="0" t="-522" r="0" b="-522"/>
              </a:stretch>
            </a:blipFill>
          </p:spPr>
        </p:sp>
      </p:grpSp>
      <p:sp>
        <p:nvSpPr>
          <p:cNvPr name="Freeform 4" id="4"/>
          <p:cNvSpPr/>
          <p:nvPr/>
        </p:nvSpPr>
        <p:spPr>
          <a:xfrm flipH="false" flipV="false" rot="0">
            <a:off x="0" y="0"/>
            <a:ext cx="1923359" cy="2356336"/>
          </a:xfrm>
          <a:custGeom>
            <a:avLst/>
            <a:gdLst/>
            <a:ahLst/>
            <a:cxnLst/>
            <a:rect r="r" b="b" t="t" l="l"/>
            <a:pathLst>
              <a:path h="2356336" w="1923359">
                <a:moveTo>
                  <a:pt x="0" y="0"/>
                </a:moveTo>
                <a:lnTo>
                  <a:pt x="1923359" y="0"/>
                </a:lnTo>
                <a:lnTo>
                  <a:pt x="1923359" y="2356336"/>
                </a:lnTo>
                <a:lnTo>
                  <a:pt x="0" y="235633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6364641" y="0"/>
            <a:ext cx="4278914" cy="871829"/>
          </a:xfrm>
          <a:custGeom>
            <a:avLst/>
            <a:gdLst/>
            <a:ahLst/>
            <a:cxnLst/>
            <a:rect r="r" b="b" t="t" l="l"/>
            <a:pathLst>
              <a:path h="871829" w="4278914">
                <a:moveTo>
                  <a:pt x="0" y="0"/>
                </a:moveTo>
                <a:lnTo>
                  <a:pt x="4278914" y="0"/>
                </a:lnTo>
                <a:lnTo>
                  <a:pt x="4278914" y="871829"/>
                </a:lnTo>
                <a:lnTo>
                  <a:pt x="0" y="871829"/>
                </a:lnTo>
                <a:lnTo>
                  <a:pt x="0" y="0"/>
                </a:lnTo>
                <a:close/>
              </a:path>
            </a:pathLst>
          </a:custGeom>
          <a:blipFill>
            <a:blip r:embed="rId5">
              <a:alphaModFix amt="63000"/>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9795914" y="826483"/>
            <a:ext cx="999699" cy="1009797"/>
          </a:xfrm>
          <a:custGeom>
            <a:avLst/>
            <a:gdLst/>
            <a:ahLst/>
            <a:cxnLst/>
            <a:rect r="r" b="b" t="t" l="l"/>
            <a:pathLst>
              <a:path h="1009797" w="999699">
                <a:moveTo>
                  <a:pt x="0" y="0"/>
                </a:moveTo>
                <a:lnTo>
                  <a:pt x="999699" y="0"/>
                </a:lnTo>
                <a:lnTo>
                  <a:pt x="999699" y="1009797"/>
                </a:lnTo>
                <a:lnTo>
                  <a:pt x="0" y="100979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952885" y="9207987"/>
            <a:ext cx="1953010" cy="1953010"/>
          </a:xfrm>
          <a:custGeom>
            <a:avLst/>
            <a:gdLst/>
            <a:ahLst/>
            <a:cxnLst/>
            <a:rect r="r" b="b" t="t" l="l"/>
            <a:pathLst>
              <a:path h="1953010" w="1953010">
                <a:moveTo>
                  <a:pt x="0" y="0"/>
                </a:moveTo>
                <a:lnTo>
                  <a:pt x="1953010" y="0"/>
                </a:lnTo>
                <a:lnTo>
                  <a:pt x="1953010" y="1953009"/>
                </a:lnTo>
                <a:lnTo>
                  <a:pt x="0" y="195300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8" id="8"/>
          <p:cNvSpPr txBox="true"/>
          <p:nvPr/>
        </p:nvSpPr>
        <p:spPr>
          <a:xfrm rot="0">
            <a:off x="10508750" y="2706699"/>
            <a:ext cx="6187315" cy="3581400"/>
          </a:xfrm>
          <a:prstGeom prst="rect">
            <a:avLst/>
          </a:prstGeom>
        </p:spPr>
        <p:txBody>
          <a:bodyPr anchor="t" rtlCol="false" tIns="0" lIns="0" bIns="0" rIns="0">
            <a:spAutoFit/>
          </a:bodyPr>
          <a:lstStyle/>
          <a:p>
            <a:pPr algn="l">
              <a:lnSpc>
                <a:spcPts val="3149"/>
              </a:lnSpc>
            </a:pPr>
            <a:r>
              <a:rPr lang="en-US" sz="2250">
                <a:solidFill>
                  <a:srgbClr val="000000"/>
                </a:solidFill>
                <a:latin typeface="Open Sans"/>
                <a:ea typeface="Open Sans"/>
                <a:cs typeface="Open Sans"/>
                <a:sym typeface="Open Sans"/>
              </a:rPr>
              <a:t>Pada sentimen negatif, heatmap memperlihatkan dominasi kata-kata seperti lambat, kurir, tidak, barang, dan paket. Hal ini menunjukkan bahwa ulasan negatif banyak berkaitan dengan keluhan pengguna, khususnya mengenai keterlambatan pengiriman dan permasalahan layanan, yang menjadi aspek penting untuk perbaikan kualitas layanan Shopee.</a:t>
            </a:r>
          </a:p>
        </p:txBody>
      </p:sp>
      <p:sp>
        <p:nvSpPr>
          <p:cNvPr name="TextBox 9" id="9"/>
          <p:cNvSpPr txBox="true"/>
          <p:nvPr/>
        </p:nvSpPr>
        <p:spPr>
          <a:xfrm rot="0">
            <a:off x="2438455" y="895350"/>
            <a:ext cx="9128546" cy="1193800"/>
          </a:xfrm>
          <a:prstGeom prst="rect">
            <a:avLst/>
          </a:prstGeom>
        </p:spPr>
        <p:txBody>
          <a:bodyPr anchor="t" rtlCol="false" tIns="0" lIns="0" bIns="0" rIns="0">
            <a:spAutoFit/>
          </a:bodyPr>
          <a:lstStyle/>
          <a:p>
            <a:pPr algn="l">
              <a:lnSpc>
                <a:spcPts val="9799"/>
              </a:lnSpc>
            </a:pPr>
            <a:r>
              <a:rPr lang="en-US" sz="6999" b="true">
                <a:solidFill>
                  <a:srgbClr val="245095"/>
                </a:solidFill>
                <a:latin typeface="Open Sans Bold"/>
                <a:ea typeface="Open Sans Bold"/>
                <a:cs typeface="Open Sans Bold"/>
                <a:sym typeface="Open Sans Bold"/>
              </a:rPr>
              <a:t>Visualisasi Heatmap</a:t>
            </a:r>
          </a:p>
        </p:txBody>
      </p:sp>
      <p:grpSp>
        <p:nvGrpSpPr>
          <p:cNvPr name="Group 10" id="10"/>
          <p:cNvGrpSpPr/>
          <p:nvPr/>
        </p:nvGrpSpPr>
        <p:grpSpPr>
          <a:xfrm rot="0">
            <a:off x="14870335" y="7630302"/>
            <a:ext cx="4487417" cy="3865595"/>
            <a:chOff x="0" y="0"/>
            <a:chExt cx="5983223" cy="5154127"/>
          </a:xfrm>
        </p:grpSpPr>
        <p:sp>
          <p:nvSpPr>
            <p:cNvPr name="Freeform 11" id="11"/>
            <p:cNvSpPr/>
            <p:nvPr/>
          </p:nvSpPr>
          <p:spPr>
            <a:xfrm flipH="true" flipV="true" rot="0">
              <a:off x="0" y="149029"/>
              <a:ext cx="4011548" cy="4319298"/>
            </a:xfrm>
            <a:custGeom>
              <a:avLst/>
              <a:gdLst/>
              <a:ahLst/>
              <a:cxnLst/>
              <a:rect r="r" b="b" t="t" l="l"/>
              <a:pathLst>
                <a:path h="4319298" w="4011548">
                  <a:moveTo>
                    <a:pt x="4011548" y="4319298"/>
                  </a:moveTo>
                  <a:lnTo>
                    <a:pt x="0" y="4319298"/>
                  </a:lnTo>
                  <a:lnTo>
                    <a:pt x="0" y="0"/>
                  </a:lnTo>
                  <a:lnTo>
                    <a:pt x="4011548" y="0"/>
                  </a:lnTo>
                  <a:lnTo>
                    <a:pt x="4011548" y="4319298"/>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12" id="12"/>
            <p:cNvGrpSpPr/>
            <p:nvPr/>
          </p:nvGrpSpPr>
          <p:grpSpPr>
            <a:xfrm rot="-10800000">
              <a:off x="2639948" y="0"/>
              <a:ext cx="3343275" cy="5154127"/>
              <a:chOff x="0" y="0"/>
              <a:chExt cx="660400" cy="1018099"/>
            </a:xfrm>
          </p:grpSpPr>
          <p:sp>
            <p:nvSpPr>
              <p:cNvPr name="Freeform 13" id="13"/>
              <p:cNvSpPr/>
              <p:nvPr/>
            </p:nvSpPr>
            <p:spPr>
              <a:xfrm flipH="false" flipV="false" rot="0">
                <a:off x="0" y="0"/>
                <a:ext cx="660400" cy="1018099"/>
              </a:xfrm>
              <a:custGeom>
                <a:avLst/>
                <a:gdLst/>
                <a:ahLst/>
                <a:cxnLst/>
                <a:rect r="r" b="b" t="t" l="l"/>
                <a:pathLst>
                  <a:path h="1018099" w="660400">
                    <a:moveTo>
                      <a:pt x="220252" y="999030"/>
                    </a:moveTo>
                    <a:cubicBezTo>
                      <a:pt x="254109" y="1010544"/>
                      <a:pt x="292600" y="1018099"/>
                      <a:pt x="330378" y="1018099"/>
                    </a:cubicBezTo>
                    <a:cubicBezTo>
                      <a:pt x="368157" y="1018099"/>
                      <a:pt x="404509" y="1011622"/>
                      <a:pt x="438009" y="1000108"/>
                    </a:cubicBezTo>
                    <a:cubicBezTo>
                      <a:pt x="438723" y="999749"/>
                      <a:pt x="439435" y="999749"/>
                      <a:pt x="440148" y="999389"/>
                    </a:cubicBezTo>
                    <a:cubicBezTo>
                      <a:pt x="565955" y="953334"/>
                      <a:pt x="658618" y="831720"/>
                      <a:pt x="660400" y="685037"/>
                    </a:cubicBezTo>
                    <a:lnTo>
                      <a:pt x="660400" y="0"/>
                    </a:lnTo>
                    <a:lnTo>
                      <a:pt x="0" y="0"/>
                    </a:lnTo>
                    <a:lnTo>
                      <a:pt x="0" y="684528"/>
                    </a:lnTo>
                    <a:cubicBezTo>
                      <a:pt x="1782" y="832439"/>
                      <a:pt x="93019" y="954054"/>
                      <a:pt x="220252" y="999030"/>
                    </a:cubicBezTo>
                    <a:close/>
                  </a:path>
                </a:pathLst>
              </a:custGeom>
              <a:solidFill>
                <a:srgbClr val="000000">
                  <a:alpha val="0"/>
                </a:srgbClr>
              </a:solidFill>
              <a:ln w="428625" cap="sq">
                <a:solidFill>
                  <a:srgbClr val="0F3460">
                    <a:alpha val="75686"/>
                  </a:srgbClr>
                </a:solidFill>
                <a:prstDash val="solid"/>
                <a:miter/>
              </a:ln>
            </p:spPr>
          </p:sp>
          <p:sp>
            <p:nvSpPr>
              <p:cNvPr name="TextBox 14" id="14"/>
              <p:cNvSpPr txBox="true"/>
              <p:nvPr/>
            </p:nvSpPr>
            <p:spPr>
              <a:xfrm>
                <a:off x="0" y="-57150"/>
                <a:ext cx="660400" cy="948249"/>
              </a:xfrm>
              <a:prstGeom prst="rect">
                <a:avLst/>
              </a:prstGeom>
            </p:spPr>
            <p:txBody>
              <a:bodyPr anchor="ctr" rtlCol="false" tIns="50800" lIns="50800" bIns="50800" rIns="50800"/>
              <a:lstStyle/>
              <a:p>
                <a:pPr algn="ctr">
                  <a:lnSpc>
                    <a:spcPts val="3643"/>
                  </a:lnSpc>
                </a:pPr>
              </a:p>
            </p:txBody>
          </p:sp>
        </p:grpSp>
      </p:gr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17043" y="2161932"/>
            <a:ext cx="10996637" cy="7096368"/>
            <a:chOff x="0" y="0"/>
            <a:chExt cx="1595268" cy="1029461"/>
          </a:xfrm>
        </p:grpSpPr>
        <p:sp>
          <p:nvSpPr>
            <p:cNvPr name="Freeform 3" id="3"/>
            <p:cNvSpPr/>
            <p:nvPr/>
          </p:nvSpPr>
          <p:spPr>
            <a:xfrm flipH="false" flipV="false" rot="0">
              <a:off x="0" y="0"/>
              <a:ext cx="1595268" cy="1029461"/>
            </a:xfrm>
            <a:custGeom>
              <a:avLst/>
              <a:gdLst/>
              <a:ahLst/>
              <a:cxnLst/>
              <a:rect r="r" b="b" t="t" l="l"/>
              <a:pathLst>
                <a:path h="1029461" w="1595268">
                  <a:moveTo>
                    <a:pt x="10560" y="0"/>
                  </a:moveTo>
                  <a:lnTo>
                    <a:pt x="1584708" y="0"/>
                  </a:lnTo>
                  <a:cubicBezTo>
                    <a:pt x="1587509" y="0"/>
                    <a:pt x="1590195" y="1113"/>
                    <a:pt x="1592175" y="3093"/>
                  </a:cubicBezTo>
                  <a:cubicBezTo>
                    <a:pt x="1594156" y="5074"/>
                    <a:pt x="1595268" y="7760"/>
                    <a:pt x="1595268" y="10560"/>
                  </a:cubicBezTo>
                  <a:lnTo>
                    <a:pt x="1595268" y="1018901"/>
                  </a:lnTo>
                  <a:cubicBezTo>
                    <a:pt x="1595268" y="1024733"/>
                    <a:pt x="1590540" y="1029461"/>
                    <a:pt x="1584708" y="1029461"/>
                  </a:cubicBezTo>
                  <a:lnTo>
                    <a:pt x="10560" y="1029461"/>
                  </a:lnTo>
                  <a:cubicBezTo>
                    <a:pt x="7760" y="1029461"/>
                    <a:pt x="5074" y="1028348"/>
                    <a:pt x="3093" y="1026368"/>
                  </a:cubicBezTo>
                  <a:cubicBezTo>
                    <a:pt x="1113" y="1024388"/>
                    <a:pt x="0" y="1021701"/>
                    <a:pt x="0" y="1018901"/>
                  </a:cubicBezTo>
                  <a:lnTo>
                    <a:pt x="0" y="10560"/>
                  </a:lnTo>
                  <a:cubicBezTo>
                    <a:pt x="0" y="7760"/>
                    <a:pt x="1113" y="5074"/>
                    <a:pt x="3093" y="3093"/>
                  </a:cubicBezTo>
                  <a:cubicBezTo>
                    <a:pt x="5074" y="1113"/>
                    <a:pt x="7760" y="0"/>
                    <a:pt x="10560" y="0"/>
                  </a:cubicBezTo>
                  <a:close/>
                </a:path>
              </a:pathLst>
            </a:custGeom>
            <a:blipFill>
              <a:blip r:embed="rId2"/>
              <a:stretch>
                <a:fillRect l="0" t="-71" r="0" b="-71"/>
              </a:stretch>
            </a:blipFill>
            <a:ln w="19050" cap="sq">
              <a:solidFill>
                <a:srgbClr val="000000"/>
              </a:solidFill>
              <a:prstDash val="solid"/>
              <a:miter/>
            </a:ln>
          </p:spPr>
        </p:sp>
      </p:grpSp>
      <p:sp>
        <p:nvSpPr>
          <p:cNvPr name="Freeform 4" id="4"/>
          <p:cNvSpPr/>
          <p:nvPr/>
        </p:nvSpPr>
        <p:spPr>
          <a:xfrm flipH="false" flipV="false" rot="0">
            <a:off x="15767043" y="77110"/>
            <a:ext cx="2520957" cy="2520957"/>
          </a:xfrm>
          <a:custGeom>
            <a:avLst/>
            <a:gdLst/>
            <a:ahLst/>
            <a:cxnLst/>
            <a:rect r="r" b="b" t="t" l="l"/>
            <a:pathLst>
              <a:path h="2520957" w="2520957">
                <a:moveTo>
                  <a:pt x="0" y="0"/>
                </a:moveTo>
                <a:lnTo>
                  <a:pt x="2520957" y="0"/>
                </a:lnTo>
                <a:lnTo>
                  <a:pt x="2520957" y="2520957"/>
                </a:lnTo>
                <a:lnTo>
                  <a:pt x="0" y="252095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5400000">
            <a:off x="17270954" y="9119166"/>
            <a:ext cx="896962" cy="1175230"/>
            <a:chOff x="0" y="0"/>
            <a:chExt cx="1195949" cy="1566974"/>
          </a:xfrm>
        </p:grpSpPr>
        <p:sp>
          <p:nvSpPr>
            <p:cNvPr name="Freeform 6" id="6"/>
            <p:cNvSpPr/>
            <p:nvPr/>
          </p:nvSpPr>
          <p:spPr>
            <a:xfrm flipH="false" flipV="false" rot="0">
              <a:off x="0" y="706492"/>
              <a:ext cx="1195949" cy="860481"/>
            </a:xfrm>
            <a:custGeom>
              <a:avLst/>
              <a:gdLst/>
              <a:ahLst/>
              <a:cxnLst/>
              <a:rect r="r" b="b" t="t" l="l"/>
              <a:pathLst>
                <a:path h="860481" w="1195949">
                  <a:moveTo>
                    <a:pt x="0" y="0"/>
                  </a:moveTo>
                  <a:lnTo>
                    <a:pt x="1195949" y="0"/>
                  </a:lnTo>
                  <a:lnTo>
                    <a:pt x="1195949" y="860482"/>
                  </a:lnTo>
                  <a:lnTo>
                    <a:pt x="0" y="860482"/>
                  </a:lnTo>
                  <a:lnTo>
                    <a:pt x="0" y="0"/>
                  </a:lnTo>
                  <a:close/>
                </a:path>
              </a:pathLst>
            </a:custGeom>
            <a:blipFill>
              <a:blip r:embed="rId5">
                <a:extLst>
                  <a:ext uri="{96DAC541-7B7A-43D3-8B79-37D633B846F1}">
                    <asvg:svgBlip xmlns:asvg="http://schemas.microsoft.com/office/drawing/2016/SVG/main" r:embed="rId6"/>
                  </a:ext>
                </a:extLst>
              </a:blip>
              <a:stretch>
                <a:fillRect l="0" t="-62625" r="-57890" b="-56820"/>
              </a:stretch>
            </a:blipFill>
          </p:spPr>
        </p:sp>
        <p:sp>
          <p:nvSpPr>
            <p:cNvPr name="Freeform 7" id="7"/>
            <p:cNvSpPr/>
            <p:nvPr/>
          </p:nvSpPr>
          <p:spPr>
            <a:xfrm flipH="false" flipV="false" rot="0">
              <a:off x="0" y="0"/>
              <a:ext cx="1195949" cy="860481"/>
            </a:xfrm>
            <a:custGeom>
              <a:avLst/>
              <a:gdLst/>
              <a:ahLst/>
              <a:cxnLst/>
              <a:rect r="r" b="b" t="t" l="l"/>
              <a:pathLst>
                <a:path h="860481" w="1195949">
                  <a:moveTo>
                    <a:pt x="0" y="0"/>
                  </a:moveTo>
                  <a:lnTo>
                    <a:pt x="1195949" y="0"/>
                  </a:lnTo>
                  <a:lnTo>
                    <a:pt x="1195949" y="860481"/>
                  </a:lnTo>
                  <a:lnTo>
                    <a:pt x="0" y="860481"/>
                  </a:lnTo>
                  <a:lnTo>
                    <a:pt x="0" y="0"/>
                  </a:lnTo>
                  <a:close/>
                </a:path>
              </a:pathLst>
            </a:custGeom>
            <a:blipFill>
              <a:blip r:embed="rId5">
                <a:extLst>
                  <a:ext uri="{96DAC541-7B7A-43D3-8B79-37D633B846F1}">
                    <asvg:svgBlip xmlns:asvg="http://schemas.microsoft.com/office/drawing/2016/SVG/main" r:embed="rId6"/>
                  </a:ext>
                </a:extLst>
              </a:blip>
              <a:stretch>
                <a:fillRect l="0" t="-62625" r="-57890" b="-56820"/>
              </a:stretch>
            </a:blipFill>
          </p:spPr>
        </p:sp>
      </p:grpSp>
      <p:sp>
        <p:nvSpPr>
          <p:cNvPr name="Freeform 8" id="8"/>
          <p:cNvSpPr/>
          <p:nvPr/>
        </p:nvSpPr>
        <p:spPr>
          <a:xfrm flipH="true" flipV="false" rot="0">
            <a:off x="-3448881" y="-329184"/>
            <a:ext cx="7315200" cy="658368"/>
          </a:xfrm>
          <a:custGeom>
            <a:avLst/>
            <a:gdLst/>
            <a:ahLst/>
            <a:cxnLst/>
            <a:rect r="r" b="b" t="t" l="l"/>
            <a:pathLst>
              <a:path h="658368" w="7315200">
                <a:moveTo>
                  <a:pt x="7315200" y="0"/>
                </a:moveTo>
                <a:lnTo>
                  <a:pt x="0" y="0"/>
                </a:lnTo>
                <a:lnTo>
                  <a:pt x="0" y="658368"/>
                </a:lnTo>
                <a:lnTo>
                  <a:pt x="7315200" y="658368"/>
                </a:lnTo>
                <a:lnTo>
                  <a:pt x="7315200" y="0"/>
                </a:lnTo>
                <a:close/>
              </a:path>
            </a:pathLst>
          </a:custGeom>
          <a:blipFill>
            <a:blip r:embed="rId7">
              <a:extLst>
                <a:ext uri="{96DAC541-7B7A-43D3-8B79-37D633B846F1}">
                  <asvg:svgBlip xmlns:asvg="http://schemas.microsoft.com/office/drawing/2016/SVG/main" r:embed="rId8"/>
                </a:ext>
              </a:extLst>
            </a:blip>
            <a:stretch>
              <a:fillRect l="-10767" t="-45011" r="-34243" b="0"/>
            </a:stretch>
          </a:blipFill>
        </p:spPr>
      </p:sp>
      <p:sp>
        <p:nvSpPr>
          <p:cNvPr name="TextBox 9" id="9"/>
          <p:cNvSpPr txBox="true"/>
          <p:nvPr/>
        </p:nvSpPr>
        <p:spPr>
          <a:xfrm rot="0">
            <a:off x="1260479" y="674013"/>
            <a:ext cx="9335390" cy="1193800"/>
          </a:xfrm>
          <a:prstGeom prst="rect">
            <a:avLst/>
          </a:prstGeom>
        </p:spPr>
        <p:txBody>
          <a:bodyPr anchor="t" rtlCol="false" tIns="0" lIns="0" bIns="0" rIns="0">
            <a:spAutoFit/>
          </a:bodyPr>
          <a:lstStyle/>
          <a:p>
            <a:pPr algn="l">
              <a:lnSpc>
                <a:spcPts val="9799"/>
              </a:lnSpc>
            </a:pPr>
            <a:r>
              <a:rPr lang="en-US" sz="6999" b="true">
                <a:solidFill>
                  <a:srgbClr val="245095"/>
                </a:solidFill>
                <a:latin typeface="Open Sans Bold"/>
                <a:ea typeface="Open Sans Bold"/>
                <a:cs typeface="Open Sans Bold"/>
                <a:sym typeface="Open Sans Bold"/>
              </a:rPr>
              <a:t>Visualisasi pyLDAvis</a:t>
            </a:r>
          </a:p>
        </p:txBody>
      </p:sp>
      <p:grpSp>
        <p:nvGrpSpPr>
          <p:cNvPr name="Group 10" id="10"/>
          <p:cNvGrpSpPr/>
          <p:nvPr/>
        </p:nvGrpSpPr>
        <p:grpSpPr>
          <a:xfrm rot="0">
            <a:off x="11988557" y="3610808"/>
            <a:ext cx="5878535" cy="4198616"/>
            <a:chOff x="0" y="0"/>
            <a:chExt cx="1548256" cy="1105808"/>
          </a:xfrm>
        </p:grpSpPr>
        <p:sp>
          <p:nvSpPr>
            <p:cNvPr name="Freeform 11" id="11"/>
            <p:cNvSpPr/>
            <p:nvPr/>
          </p:nvSpPr>
          <p:spPr>
            <a:xfrm flipH="false" flipV="false" rot="0">
              <a:off x="0" y="0"/>
              <a:ext cx="1548256" cy="1105808"/>
            </a:xfrm>
            <a:custGeom>
              <a:avLst/>
              <a:gdLst/>
              <a:ahLst/>
              <a:cxnLst/>
              <a:rect r="r" b="b" t="t" l="l"/>
              <a:pathLst>
                <a:path h="1105808" w="1548256">
                  <a:moveTo>
                    <a:pt x="67166" y="0"/>
                  </a:moveTo>
                  <a:lnTo>
                    <a:pt x="1481090" y="0"/>
                  </a:lnTo>
                  <a:cubicBezTo>
                    <a:pt x="1498904" y="0"/>
                    <a:pt x="1515988" y="7076"/>
                    <a:pt x="1528584" y="19672"/>
                  </a:cubicBezTo>
                  <a:cubicBezTo>
                    <a:pt x="1541180" y="32269"/>
                    <a:pt x="1548256" y="49352"/>
                    <a:pt x="1548256" y="67166"/>
                  </a:cubicBezTo>
                  <a:lnTo>
                    <a:pt x="1548256" y="1038642"/>
                  </a:lnTo>
                  <a:cubicBezTo>
                    <a:pt x="1548256" y="1075737"/>
                    <a:pt x="1518185" y="1105808"/>
                    <a:pt x="1481090" y="1105808"/>
                  </a:cubicBezTo>
                  <a:lnTo>
                    <a:pt x="67166" y="1105808"/>
                  </a:lnTo>
                  <a:cubicBezTo>
                    <a:pt x="49352" y="1105808"/>
                    <a:pt x="32269" y="1098732"/>
                    <a:pt x="19672" y="1086136"/>
                  </a:cubicBezTo>
                  <a:cubicBezTo>
                    <a:pt x="7076" y="1073540"/>
                    <a:pt x="0" y="1056456"/>
                    <a:pt x="0" y="1038642"/>
                  </a:cubicBezTo>
                  <a:lnTo>
                    <a:pt x="0" y="67166"/>
                  </a:lnTo>
                  <a:cubicBezTo>
                    <a:pt x="0" y="49352"/>
                    <a:pt x="7076" y="32269"/>
                    <a:pt x="19672" y="19672"/>
                  </a:cubicBezTo>
                  <a:cubicBezTo>
                    <a:pt x="32269" y="7076"/>
                    <a:pt x="49352" y="0"/>
                    <a:pt x="67166" y="0"/>
                  </a:cubicBezTo>
                  <a:close/>
                </a:path>
              </a:pathLst>
            </a:custGeom>
            <a:solidFill>
              <a:srgbClr val="FFFFFF"/>
            </a:solidFill>
            <a:ln w="19050" cap="rnd">
              <a:solidFill>
                <a:srgbClr val="1F4B91"/>
              </a:solidFill>
              <a:prstDash val="solid"/>
              <a:round/>
            </a:ln>
          </p:spPr>
        </p:sp>
        <p:sp>
          <p:nvSpPr>
            <p:cNvPr name="TextBox 12" id="12"/>
            <p:cNvSpPr txBox="true"/>
            <p:nvPr/>
          </p:nvSpPr>
          <p:spPr>
            <a:xfrm>
              <a:off x="0" y="-47625"/>
              <a:ext cx="1548256" cy="1153433"/>
            </a:xfrm>
            <a:prstGeom prst="rect">
              <a:avLst/>
            </a:prstGeom>
          </p:spPr>
          <p:txBody>
            <a:bodyPr anchor="ctr" rtlCol="false" tIns="50800" lIns="50800" bIns="50800" rIns="50800"/>
            <a:lstStyle/>
            <a:p>
              <a:pPr algn="ctr">
                <a:lnSpc>
                  <a:spcPts val="2800"/>
                </a:lnSpc>
              </a:pPr>
            </a:p>
          </p:txBody>
        </p:sp>
      </p:grpSp>
      <p:sp>
        <p:nvSpPr>
          <p:cNvPr name="TextBox 13" id="13"/>
          <p:cNvSpPr txBox="true"/>
          <p:nvPr/>
        </p:nvSpPr>
        <p:spPr>
          <a:xfrm rot="0">
            <a:off x="12121207" y="3749554"/>
            <a:ext cx="5613236" cy="3873500"/>
          </a:xfrm>
          <a:prstGeom prst="rect">
            <a:avLst/>
          </a:prstGeom>
        </p:spPr>
        <p:txBody>
          <a:bodyPr anchor="t" rtlCol="false" tIns="0" lIns="0" bIns="0" rIns="0">
            <a:spAutoFit/>
          </a:bodyPr>
          <a:lstStyle/>
          <a:p>
            <a:pPr algn="ctr">
              <a:lnSpc>
                <a:spcPts val="2800"/>
              </a:lnSpc>
            </a:pPr>
            <a:r>
              <a:rPr lang="en-US" sz="2000">
                <a:solidFill>
                  <a:srgbClr val="000000"/>
                </a:solidFill>
                <a:latin typeface="Open Sans"/>
                <a:ea typeface="Open Sans"/>
                <a:cs typeface="Open Sans"/>
                <a:sym typeface="Open Sans"/>
              </a:rPr>
              <a:t>Visualisasi sentimen positif menunjukkan terbentuknya 5 topik, dengan topik 2 sebagai topik dominan karena memiliki proporsi terbesar. Kedekatan antar beberapa topik mengindikasikan kemiripan tema, sementara topik yang berjauhan menunjukkan perbedaan pembahasan. Kata-kata dominan seperti mantap, oke, bagus, dan mudah menegaskan bahwa ulasan positif terutama berkaitan dengan kemudahan penggunaan aplikasi dan kualitas layanan Shopee.</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17043" y="2161932"/>
            <a:ext cx="10996637" cy="7096368"/>
            <a:chOff x="0" y="0"/>
            <a:chExt cx="1595268" cy="1029461"/>
          </a:xfrm>
        </p:grpSpPr>
        <p:sp>
          <p:nvSpPr>
            <p:cNvPr name="Freeform 3" id="3"/>
            <p:cNvSpPr/>
            <p:nvPr/>
          </p:nvSpPr>
          <p:spPr>
            <a:xfrm flipH="false" flipV="false" rot="0">
              <a:off x="0" y="0"/>
              <a:ext cx="1595268" cy="1029461"/>
            </a:xfrm>
            <a:custGeom>
              <a:avLst/>
              <a:gdLst/>
              <a:ahLst/>
              <a:cxnLst/>
              <a:rect r="r" b="b" t="t" l="l"/>
              <a:pathLst>
                <a:path h="1029461" w="1595268">
                  <a:moveTo>
                    <a:pt x="10560" y="0"/>
                  </a:moveTo>
                  <a:lnTo>
                    <a:pt x="1584708" y="0"/>
                  </a:lnTo>
                  <a:cubicBezTo>
                    <a:pt x="1587509" y="0"/>
                    <a:pt x="1590195" y="1113"/>
                    <a:pt x="1592175" y="3093"/>
                  </a:cubicBezTo>
                  <a:cubicBezTo>
                    <a:pt x="1594156" y="5074"/>
                    <a:pt x="1595268" y="7760"/>
                    <a:pt x="1595268" y="10560"/>
                  </a:cubicBezTo>
                  <a:lnTo>
                    <a:pt x="1595268" y="1018901"/>
                  </a:lnTo>
                  <a:cubicBezTo>
                    <a:pt x="1595268" y="1024733"/>
                    <a:pt x="1590540" y="1029461"/>
                    <a:pt x="1584708" y="1029461"/>
                  </a:cubicBezTo>
                  <a:lnTo>
                    <a:pt x="10560" y="1029461"/>
                  </a:lnTo>
                  <a:cubicBezTo>
                    <a:pt x="7760" y="1029461"/>
                    <a:pt x="5074" y="1028348"/>
                    <a:pt x="3093" y="1026368"/>
                  </a:cubicBezTo>
                  <a:cubicBezTo>
                    <a:pt x="1113" y="1024388"/>
                    <a:pt x="0" y="1021701"/>
                    <a:pt x="0" y="1018901"/>
                  </a:cubicBezTo>
                  <a:lnTo>
                    <a:pt x="0" y="10560"/>
                  </a:lnTo>
                  <a:cubicBezTo>
                    <a:pt x="0" y="7760"/>
                    <a:pt x="1113" y="5074"/>
                    <a:pt x="3093" y="3093"/>
                  </a:cubicBezTo>
                  <a:cubicBezTo>
                    <a:pt x="5074" y="1113"/>
                    <a:pt x="7760" y="0"/>
                    <a:pt x="10560" y="0"/>
                  </a:cubicBezTo>
                  <a:close/>
                </a:path>
              </a:pathLst>
            </a:custGeom>
            <a:blipFill>
              <a:blip r:embed="rId2"/>
              <a:stretch>
                <a:fillRect l="0" t="-298" r="0" b="-298"/>
              </a:stretch>
            </a:blipFill>
            <a:ln w="19050" cap="sq">
              <a:solidFill>
                <a:srgbClr val="000000"/>
              </a:solidFill>
              <a:prstDash val="solid"/>
              <a:miter/>
            </a:ln>
          </p:spPr>
        </p:sp>
      </p:grpSp>
      <p:sp>
        <p:nvSpPr>
          <p:cNvPr name="Freeform 4" id="4"/>
          <p:cNvSpPr/>
          <p:nvPr/>
        </p:nvSpPr>
        <p:spPr>
          <a:xfrm flipH="false" flipV="false" rot="0">
            <a:off x="15767043" y="77110"/>
            <a:ext cx="2520957" cy="2520957"/>
          </a:xfrm>
          <a:custGeom>
            <a:avLst/>
            <a:gdLst/>
            <a:ahLst/>
            <a:cxnLst/>
            <a:rect r="r" b="b" t="t" l="l"/>
            <a:pathLst>
              <a:path h="2520957" w="2520957">
                <a:moveTo>
                  <a:pt x="0" y="0"/>
                </a:moveTo>
                <a:lnTo>
                  <a:pt x="2520957" y="0"/>
                </a:lnTo>
                <a:lnTo>
                  <a:pt x="2520957" y="2520957"/>
                </a:lnTo>
                <a:lnTo>
                  <a:pt x="0" y="252095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5400000">
            <a:off x="17270954" y="9119166"/>
            <a:ext cx="896962" cy="1175230"/>
            <a:chOff x="0" y="0"/>
            <a:chExt cx="1195949" cy="1566974"/>
          </a:xfrm>
        </p:grpSpPr>
        <p:sp>
          <p:nvSpPr>
            <p:cNvPr name="Freeform 6" id="6"/>
            <p:cNvSpPr/>
            <p:nvPr/>
          </p:nvSpPr>
          <p:spPr>
            <a:xfrm flipH="false" flipV="false" rot="0">
              <a:off x="0" y="706492"/>
              <a:ext cx="1195949" cy="860481"/>
            </a:xfrm>
            <a:custGeom>
              <a:avLst/>
              <a:gdLst/>
              <a:ahLst/>
              <a:cxnLst/>
              <a:rect r="r" b="b" t="t" l="l"/>
              <a:pathLst>
                <a:path h="860481" w="1195949">
                  <a:moveTo>
                    <a:pt x="0" y="0"/>
                  </a:moveTo>
                  <a:lnTo>
                    <a:pt x="1195949" y="0"/>
                  </a:lnTo>
                  <a:lnTo>
                    <a:pt x="1195949" y="860482"/>
                  </a:lnTo>
                  <a:lnTo>
                    <a:pt x="0" y="860482"/>
                  </a:lnTo>
                  <a:lnTo>
                    <a:pt x="0" y="0"/>
                  </a:lnTo>
                  <a:close/>
                </a:path>
              </a:pathLst>
            </a:custGeom>
            <a:blipFill>
              <a:blip r:embed="rId5">
                <a:extLst>
                  <a:ext uri="{96DAC541-7B7A-43D3-8B79-37D633B846F1}">
                    <asvg:svgBlip xmlns:asvg="http://schemas.microsoft.com/office/drawing/2016/SVG/main" r:embed="rId6"/>
                  </a:ext>
                </a:extLst>
              </a:blip>
              <a:stretch>
                <a:fillRect l="0" t="-62625" r="-57890" b="-56820"/>
              </a:stretch>
            </a:blipFill>
          </p:spPr>
        </p:sp>
        <p:sp>
          <p:nvSpPr>
            <p:cNvPr name="Freeform 7" id="7"/>
            <p:cNvSpPr/>
            <p:nvPr/>
          </p:nvSpPr>
          <p:spPr>
            <a:xfrm flipH="false" flipV="false" rot="0">
              <a:off x="0" y="0"/>
              <a:ext cx="1195949" cy="860481"/>
            </a:xfrm>
            <a:custGeom>
              <a:avLst/>
              <a:gdLst/>
              <a:ahLst/>
              <a:cxnLst/>
              <a:rect r="r" b="b" t="t" l="l"/>
              <a:pathLst>
                <a:path h="860481" w="1195949">
                  <a:moveTo>
                    <a:pt x="0" y="0"/>
                  </a:moveTo>
                  <a:lnTo>
                    <a:pt x="1195949" y="0"/>
                  </a:lnTo>
                  <a:lnTo>
                    <a:pt x="1195949" y="860481"/>
                  </a:lnTo>
                  <a:lnTo>
                    <a:pt x="0" y="860481"/>
                  </a:lnTo>
                  <a:lnTo>
                    <a:pt x="0" y="0"/>
                  </a:lnTo>
                  <a:close/>
                </a:path>
              </a:pathLst>
            </a:custGeom>
            <a:blipFill>
              <a:blip r:embed="rId5">
                <a:extLst>
                  <a:ext uri="{96DAC541-7B7A-43D3-8B79-37D633B846F1}">
                    <asvg:svgBlip xmlns:asvg="http://schemas.microsoft.com/office/drawing/2016/SVG/main" r:embed="rId6"/>
                  </a:ext>
                </a:extLst>
              </a:blip>
              <a:stretch>
                <a:fillRect l="0" t="-62625" r="-57890" b="-56820"/>
              </a:stretch>
            </a:blipFill>
          </p:spPr>
        </p:sp>
      </p:grpSp>
      <p:sp>
        <p:nvSpPr>
          <p:cNvPr name="Freeform 8" id="8"/>
          <p:cNvSpPr/>
          <p:nvPr/>
        </p:nvSpPr>
        <p:spPr>
          <a:xfrm flipH="true" flipV="false" rot="0">
            <a:off x="-3448881" y="-329184"/>
            <a:ext cx="7315200" cy="658368"/>
          </a:xfrm>
          <a:custGeom>
            <a:avLst/>
            <a:gdLst/>
            <a:ahLst/>
            <a:cxnLst/>
            <a:rect r="r" b="b" t="t" l="l"/>
            <a:pathLst>
              <a:path h="658368" w="7315200">
                <a:moveTo>
                  <a:pt x="7315200" y="0"/>
                </a:moveTo>
                <a:lnTo>
                  <a:pt x="0" y="0"/>
                </a:lnTo>
                <a:lnTo>
                  <a:pt x="0" y="658368"/>
                </a:lnTo>
                <a:lnTo>
                  <a:pt x="7315200" y="658368"/>
                </a:lnTo>
                <a:lnTo>
                  <a:pt x="7315200" y="0"/>
                </a:lnTo>
                <a:close/>
              </a:path>
            </a:pathLst>
          </a:custGeom>
          <a:blipFill>
            <a:blip r:embed="rId7">
              <a:extLst>
                <a:ext uri="{96DAC541-7B7A-43D3-8B79-37D633B846F1}">
                  <asvg:svgBlip xmlns:asvg="http://schemas.microsoft.com/office/drawing/2016/SVG/main" r:embed="rId8"/>
                </a:ext>
              </a:extLst>
            </a:blip>
            <a:stretch>
              <a:fillRect l="-10767" t="-45011" r="-34243" b="0"/>
            </a:stretch>
          </a:blipFill>
        </p:spPr>
      </p:sp>
      <p:grpSp>
        <p:nvGrpSpPr>
          <p:cNvPr name="Group 9" id="9"/>
          <p:cNvGrpSpPr/>
          <p:nvPr/>
        </p:nvGrpSpPr>
        <p:grpSpPr>
          <a:xfrm rot="0">
            <a:off x="11988557" y="3770770"/>
            <a:ext cx="5878535" cy="3878691"/>
            <a:chOff x="0" y="0"/>
            <a:chExt cx="1548256" cy="1021548"/>
          </a:xfrm>
        </p:grpSpPr>
        <p:sp>
          <p:nvSpPr>
            <p:cNvPr name="Freeform 10" id="10"/>
            <p:cNvSpPr/>
            <p:nvPr/>
          </p:nvSpPr>
          <p:spPr>
            <a:xfrm flipH="false" flipV="false" rot="0">
              <a:off x="0" y="0"/>
              <a:ext cx="1548256" cy="1021548"/>
            </a:xfrm>
            <a:custGeom>
              <a:avLst/>
              <a:gdLst/>
              <a:ahLst/>
              <a:cxnLst/>
              <a:rect r="r" b="b" t="t" l="l"/>
              <a:pathLst>
                <a:path h="1021548" w="1548256">
                  <a:moveTo>
                    <a:pt x="67166" y="0"/>
                  </a:moveTo>
                  <a:lnTo>
                    <a:pt x="1481090" y="0"/>
                  </a:lnTo>
                  <a:cubicBezTo>
                    <a:pt x="1498904" y="0"/>
                    <a:pt x="1515988" y="7076"/>
                    <a:pt x="1528584" y="19672"/>
                  </a:cubicBezTo>
                  <a:cubicBezTo>
                    <a:pt x="1541180" y="32269"/>
                    <a:pt x="1548256" y="49352"/>
                    <a:pt x="1548256" y="67166"/>
                  </a:cubicBezTo>
                  <a:lnTo>
                    <a:pt x="1548256" y="954382"/>
                  </a:lnTo>
                  <a:cubicBezTo>
                    <a:pt x="1548256" y="972196"/>
                    <a:pt x="1541180" y="989280"/>
                    <a:pt x="1528584" y="1001876"/>
                  </a:cubicBezTo>
                  <a:cubicBezTo>
                    <a:pt x="1515988" y="1014472"/>
                    <a:pt x="1498904" y="1021548"/>
                    <a:pt x="1481090" y="1021548"/>
                  </a:cubicBezTo>
                  <a:lnTo>
                    <a:pt x="67166" y="1021548"/>
                  </a:lnTo>
                  <a:cubicBezTo>
                    <a:pt x="49352" y="1021548"/>
                    <a:pt x="32269" y="1014472"/>
                    <a:pt x="19672" y="1001876"/>
                  </a:cubicBezTo>
                  <a:cubicBezTo>
                    <a:pt x="7076" y="989280"/>
                    <a:pt x="0" y="972196"/>
                    <a:pt x="0" y="954382"/>
                  </a:cubicBezTo>
                  <a:lnTo>
                    <a:pt x="0" y="67166"/>
                  </a:lnTo>
                  <a:cubicBezTo>
                    <a:pt x="0" y="49352"/>
                    <a:pt x="7076" y="32269"/>
                    <a:pt x="19672" y="19672"/>
                  </a:cubicBezTo>
                  <a:cubicBezTo>
                    <a:pt x="32269" y="7076"/>
                    <a:pt x="49352" y="0"/>
                    <a:pt x="67166" y="0"/>
                  </a:cubicBezTo>
                  <a:close/>
                </a:path>
              </a:pathLst>
            </a:custGeom>
            <a:solidFill>
              <a:srgbClr val="FFFFFF"/>
            </a:solidFill>
            <a:ln w="19050" cap="rnd">
              <a:solidFill>
                <a:srgbClr val="1F4B91"/>
              </a:solidFill>
              <a:prstDash val="solid"/>
              <a:round/>
            </a:ln>
          </p:spPr>
        </p:sp>
        <p:sp>
          <p:nvSpPr>
            <p:cNvPr name="TextBox 11" id="11"/>
            <p:cNvSpPr txBox="true"/>
            <p:nvPr/>
          </p:nvSpPr>
          <p:spPr>
            <a:xfrm>
              <a:off x="0" y="-47625"/>
              <a:ext cx="1548256" cy="1069173"/>
            </a:xfrm>
            <a:prstGeom prst="rect">
              <a:avLst/>
            </a:prstGeom>
          </p:spPr>
          <p:txBody>
            <a:bodyPr anchor="ctr" rtlCol="false" tIns="50800" lIns="50800" bIns="50800" rIns="50800"/>
            <a:lstStyle/>
            <a:p>
              <a:pPr algn="ctr">
                <a:lnSpc>
                  <a:spcPts val="2800"/>
                </a:lnSpc>
              </a:pPr>
            </a:p>
          </p:txBody>
        </p:sp>
      </p:grpSp>
      <p:sp>
        <p:nvSpPr>
          <p:cNvPr name="TextBox 12" id="12"/>
          <p:cNvSpPr txBox="true"/>
          <p:nvPr/>
        </p:nvSpPr>
        <p:spPr>
          <a:xfrm rot="0">
            <a:off x="1260479" y="674013"/>
            <a:ext cx="9286171" cy="1193800"/>
          </a:xfrm>
          <a:prstGeom prst="rect">
            <a:avLst/>
          </a:prstGeom>
        </p:spPr>
        <p:txBody>
          <a:bodyPr anchor="t" rtlCol="false" tIns="0" lIns="0" bIns="0" rIns="0">
            <a:spAutoFit/>
          </a:bodyPr>
          <a:lstStyle/>
          <a:p>
            <a:pPr algn="l">
              <a:lnSpc>
                <a:spcPts val="9799"/>
              </a:lnSpc>
            </a:pPr>
            <a:r>
              <a:rPr lang="en-US" sz="6999" b="true">
                <a:solidFill>
                  <a:srgbClr val="245095"/>
                </a:solidFill>
                <a:latin typeface="Open Sans Bold"/>
                <a:ea typeface="Open Sans Bold"/>
                <a:cs typeface="Open Sans Bold"/>
                <a:sym typeface="Open Sans Bold"/>
              </a:rPr>
              <a:t>Visualisasi pyLDAvis</a:t>
            </a:r>
          </a:p>
        </p:txBody>
      </p:sp>
      <p:sp>
        <p:nvSpPr>
          <p:cNvPr name="TextBox 13" id="13"/>
          <p:cNvSpPr txBox="true"/>
          <p:nvPr/>
        </p:nvSpPr>
        <p:spPr>
          <a:xfrm rot="0">
            <a:off x="12121207" y="3925766"/>
            <a:ext cx="5613236" cy="3521075"/>
          </a:xfrm>
          <a:prstGeom prst="rect">
            <a:avLst/>
          </a:prstGeom>
        </p:spPr>
        <p:txBody>
          <a:bodyPr anchor="t" rtlCol="false" tIns="0" lIns="0" bIns="0" rIns="0">
            <a:spAutoFit/>
          </a:bodyPr>
          <a:lstStyle/>
          <a:p>
            <a:pPr algn="ctr">
              <a:lnSpc>
                <a:spcPts val="2800"/>
              </a:lnSpc>
            </a:pPr>
            <a:r>
              <a:rPr lang="en-US" sz="2000">
                <a:solidFill>
                  <a:srgbClr val="000000"/>
                </a:solidFill>
                <a:latin typeface="Open Sans"/>
                <a:ea typeface="Open Sans"/>
                <a:cs typeface="Open Sans"/>
                <a:sym typeface="Open Sans"/>
              </a:rPr>
              <a:t>Pada sentimen netral terbentuk 5 topik dengan distribusi yang relatif seimbang, menunjukkan bahwa ulasan tidak terfokus pada satu tema dominan. Jarak antar topik yang cukup berjauhan menandakan variasi isi ulasan yang lebih beragam. Kata-kata seperti kirim, paket, pesan, dan datang menunjukkan bahwa sentimen netral didominasi oleh ulasan yang bersifat informatif dan deskriptif terkait proses pengiriman, tanpa ekspresi emosi yang kuat.</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17043" y="2161932"/>
            <a:ext cx="10996637" cy="7096368"/>
            <a:chOff x="0" y="0"/>
            <a:chExt cx="1595268" cy="1029461"/>
          </a:xfrm>
        </p:grpSpPr>
        <p:sp>
          <p:nvSpPr>
            <p:cNvPr name="Freeform 3" id="3"/>
            <p:cNvSpPr/>
            <p:nvPr/>
          </p:nvSpPr>
          <p:spPr>
            <a:xfrm flipH="false" flipV="false" rot="0">
              <a:off x="0" y="0"/>
              <a:ext cx="1595268" cy="1029461"/>
            </a:xfrm>
            <a:custGeom>
              <a:avLst/>
              <a:gdLst/>
              <a:ahLst/>
              <a:cxnLst/>
              <a:rect r="r" b="b" t="t" l="l"/>
              <a:pathLst>
                <a:path h="1029461" w="1595268">
                  <a:moveTo>
                    <a:pt x="10560" y="0"/>
                  </a:moveTo>
                  <a:lnTo>
                    <a:pt x="1584708" y="0"/>
                  </a:lnTo>
                  <a:cubicBezTo>
                    <a:pt x="1587509" y="0"/>
                    <a:pt x="1590195" y="1113"/>
                    <a:pt x="1592175" y="3093"/>
                  </a:cubicBezTo>
                  <a:cubicBezTo>
                    <a:pt x="1594156" y="5074"/>
                    <a:pt x="1595268" y="7760"/>
                    <a:pt x="1595268" y="10560"/>
                  </a:cubicBezTo>
                  <a:lnTo>
                    <a:pt x="1595268" y="1018901"/>
                  </a:lnTo>
                  <a:cubicBezTo>
                    <a:pt x="1595268" y="1024733"/>
                    <a:pt x="1590540" y="1029461"/>
                    <a:pt x="1584708" y="1029461"/>
                  </a:cubicBezTo>
                  <a:lnTo>
                    <a:pt x="10560" y="1029461"/>
                  </a:lnTo>
                  <a:cubicBezTo>
                    <a:pt x="7760" y="1029461"/>
                    <a:pt x="5074" y="1028348"/>
                    <a:pt x="3093" y="1026368"/>
                  </a:cubicBezTo>
                  <a:cubicBezTo>
                    <a:pt x="1113" y="1024388"/>
                    <a:pt x="0" y="1021701"/>
                    <a:pt x="0" y="1018901"/>
                  </a:cubicBezTo>
                  <a:lnTo>
                    <a:pt x="0" y="10560"/>
                  </a:lnTo>
                  <a:cubicBezTo>
                    <a:pt x="0" y="7760"/>
                    <a:pt x="1113" y="5074"/>
                    <a:pt x="3093" y="3093"/>
                  </a:cubicBezTo>
                  <a:cubicBezTo>
                    <a:pt x="5074" y="1113"/>
                    <a:pt x="7760" y="0"/>
                    <a:pt x="10560" y="0"/>
                  </a:cubicBezTo>
                  <a:close/>
                </a:path>
              </a:pathLst>
            </a:custGeom>
            <a:blipFill>
              <a:blip r:embed="rId2"/>
              <a:stretch>
                <a:fillRect l="0" t="-846" r="0" b="-846"/>
              </a:stretch>
            </a:blipFill>
            <a:ln w="19050" cap="sq">
              <a:solidFill>
                <a:srgbClr val="000000"/>
              </a:solidFill>
              <a:prstDash val="solid"/>
              <a:miter/>
            </a:ln>
          </p:spPr>
        </p:sp>
      </p:grpSp>
      <p:sp>
        <p:nvSpPr>
          <p:cNvPr name="Freeform 4" id="4"/>
          <p:cNvSpPr/>
          <p:nvPr/>
        </p:nvSpPr>
        <p:spPr>
          <a:xfrm flipH="false" flipV="false" rot="0">
            <a:off x="15767043" y="77110"/>
            <a:ext cx="2520957" cy="2520957"/>
          </a:xfrm>
          <a:custGeom>
            <a:avLst/>
            <a:gdLst/>
            <a:ahLst/>
            <a:cxnLst/>
            <a:rect r="r" b="b" t="t" l="l"/>
            <a:pathLst>
              <a:path h="2520957" w="2520957">
                <a:moveTo>
                  <a:pt x="0" y="0"/>
                </a:moveTo>
                <a:lnTo>
                  <a:pt x="2520957" y="0"/>
                </a:lnTo>
                <a:lnTo>
                  <a:pt x="2520957" y="2520957"/>
                </a:lnTo>
                <a:lnTo>
                  <a:pt x="0" y="252095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5400000">
            <a:off x="17270954" y="9119166"/>
            <a:ext cx="896962" cy="1175230"/>
            <a:chOff x="0" y="0"/>
            <a:chExt cx="1195949" cy="1566974"/>
          </a:xfrm>
        </p:grpSpPr>
        <p:sp>
          <p:nvSpPr>
            <p:cNvPr name="Freeform 6" id="6"/>
            <p:cNvSpPr/>
            <p:nvPr/>
          </p:nvSpPr>
          <p:spPr>
            <a:xfrm flipH="false" flipV="false" rot="0">
              <a:off x="0" y="706492"/>
              <a:ext cx="1195949" cy="860481"/>
            </a:xfrm>
            <a:custGeom>
              <a:avLst/>
              <a:gdLst/>
              <a:ahLst/>
              <a:cxnLst/>
              <a:rect r="r" b="b" t="t" l="l"/>
              <a:pathLst>
                <a:path h="860481" w="1195949">
                  <a:moveTo>
                    <a:pt x="0" y="0"/>
                  </a:moveTo>
                  <a:lnTo>
                    <a:pt x="1195949" y="0"/>
                  </a:lnTo>
                  <a:lnTo>
                    <a:pt x="1195949" y="860482"/>
                  </a:lnTo>
                  <a:lnTo>
                    <a:pt x="0" y="860482"/>
                  </a:lnTo>
                  <a:lnTo>
                    <a:pt x="0" y="0"/>
                  </a:lnTo>
                  <a:close/>
                </a:path>
              </a:pathLst>
            </a:custGeom>
            <a:blipFill>
              <a:blip r:embed="rId5">
                <a:extLst>
                  <a:ext uri="{96DAC541-7B7A-43D3-8B79-37D633B846F1}">
                    <asvg:svgBlip xmlns:asvg="http://schemas.microsoft.com/office/drawing/2016/SVG/main" r:embed="rId6"/>
                  </a:ext>
                </a:extLst>
              </a:blip>
              <a:stretch>
                <a:fillRect l="0" t="-62625" r="-57890" b="-56820"/>
              </a:stretch>
            </a:blipFill>
          </p:spPr>
        </p:sp>
        <p:sp>
          <p:nvSpPr>
            <p:cNvPr name="Freeform 7" id="7"/>
            <p:cNvSpPr/>
            <p:nvPr/>
          </p:nvSpPr>
          <p:spPr>
            <a:xfrm flipH="false" flipV="false" rot="0">
              <a:off x="0" y="0"/>
              <a:ext cx="1195949" cy="860481"/>
            </a:xfrm>
            <a:custGeom>
              <a:avLst/>
              <a:gdLst/>
              <a:ahLst/>
              <a:cxnLst/>
              <a:rect r="r" b="b" t="t" l="l"/>
              <a:pathLst>
                <a:path h="860481" w="1195949">
                  <a:moveTo>
                    <a:pt x="0" y="0"/>
                  </a:moveTo>
                  <a:lnTo>
                    <a:pt x="1195949" y="0"/>
                  </a:lnTo>
                  <a:lnTo>
                    <a:pt x="1195949" y="860481"/>
                  </a:lnTo>
                  <a:lnTo>
                    <a:pt x="0" y="860481"/>
                  </a:lnTo>
                  <a:lnTo>
                    <a:pt x="0" y="0"/>
                  </a:lnTo>
                  <a:close/>
                </a:path>
              </a:pathLst>
            </a:custGeom>
            <a:blipFill>
              <a:blip r:embed="rId5">
                <a:extLst>
                  <a:ext uri="{96DAC541-7B7A-43D3-8B79-37D633B846F1}">
                    <asvg:svgBlip xmlns:asvg="http://schemas.microsoft.com/office/drawing/2016/SVG/main" r:embed="rId6"/>
                  </a:ext>
                </a:extLst>
              </a:blip>
              <a:stretch>
                <a:fillRect l="0" t="-62625" r="-57890" b="-56820"/>
              </a:stretch>
            </a:blipFill>
          </p:spPr>
        </p:sp>
      </p:grpSp>
      <p:sp>
        <p:nvSpPr>
          <p:cNvPr name="Freeform 8" id="8"/>
          <p:cNvSpPr/>
          <p:nvPr/>
        </p:nvSpPr>
        <p:spPr>
          <a:xfrm flipH="true" flipV="false" rot="0">
            <a:off x="-3448881" y="-329184"/>
            <a:ext cx="7315200" cy="658368"/>
          </a:xfrm>
          <a:custGeom>
            <a:avLst/>
            <a:gdLst/>
            <a:ahLst/>
            <a:cxnLst/>
            <a:rect r="r" b="b" t="t" l="l"/>
            <a:pathLst>
              <a:path h="658368" w="7315200">
                <a:moveTo>
                  <a:pt x="7315200" y="0"/>
                </a:moveTo>
                <a:lnTo>
                  <a:pt x="0" y="0"/>
                </a:lnTo>
                <a:lnTo>
                  <a:pt x="0" y="658368"/>
                </a:lnTo>
                <a:lnTo>
                  <a:pt x="7315200" y="658368"/>
                </a:lnTo>
                <a:lnTo>
                  <a:pt x="7315200" y="0"/>
                </a:lnTo>
                <a:close/>
              </a:path>
            </a:pathLst>
          </a:custGeom>
          <a:blipFill>
            <a:blip r:embed="rId7">
              <a:extLst>
                <a:ext uri="{96DAC541-7B7A-43D3-8B79-37D633B846F1}">
                  <asvg:svgBlip xmlns:asvg="http://schemas.microsoft.com/office/drawing/2016/SVG/main" r:embed="rId8"/>
                </a:ext>
              </a:extLst>
            </a:blip>
            <a:stretch>
              <a:fillRect l="-10767" t="-45011" r="-34243" b="0"/>
            </a:stretch>
          </a:blipFill>
        </p:spPr>
      </p:sp>
      <p:grpSp>
        <p:nvGrpSpPr>
          <p:cNvPr name="Group 9" id="9"/>
          <p:cNvGrpSpPr/>
          <p:nvPr/>
        </p:nvGrpSpPr>
        <p:grpSpPr>
          <a:xfrm rot="0">
            <a:off x="11988557" y="3696942"/>
            <a:ext cx="5878535" cy="4026349"/>
            <a:chOff x="0" y="0"/>
            <a:chExt cx="1548256" cy="1060438"/>
          </a:xfrm>
        </p:grpSpPr>
        <p:sp>
          <p:nvSpPr>
            <p:cNvPr name="Freeform 10" id="10"/>
            <p:cNvSpPr/>
            <p:nvPr/>
          </p:nvSpPr>
          <p:spPr>
            <a:xfrm flipH="false" flipV="false" rot="0">
              <a:off x="0" y="0"/>
              <a:ext cx="1548256" cy="1060438"/>
            </a:xfrm>
            <a:custGeom>
              <a:avLst/>
              <a:gdLst/>
              <a:ahLst/>
              <a:cxnLst/>
              <a:rect r="r" b="b" t="t" l="l"/>
              <a:pathLst>
                <a:path h="1060438" w="1548256">
                  <a:moveTo>
                    <a:pt x="67166" y="0"/>
                  </a:moveTo>
                  <a:lnTo>
                    <a:pt x="1481090" y="0"/>
                  </a:lnTo>
                  <a:cubicBezTo>
                    <a:pt x="1498904" y="0"/>
                    <a:pt x="1515988" y="7076"/>
                    <a:pt x="1528584" y="19672"/>
                  </a:cubicBezTo>
                  <a:cubicBezTo>
                    <a:pt x="1541180" y="32269"/>
                    <a:pt x="1548256" y="49352"/>
                    <a:pt x="1548256" y="67166"/>
                  </a:cubicBezTo>
                  <a:lnTo>
                    <a:pt x="1548256" y="993271"/>
                  </a:lnTo>
                  <a:cubicBezTo>
                    <a:pt x="1548256" y="1011085"/>
                    <a:pt x="1541180" y="1028169"/>
                    <a:pt x="1528584" y="1040765"/>
                  </a:cubicBezTo>
                  <a:cubicBezTo>
                    <a:pt x="1515988" y="1053361"/>
                    <a:pt x="1498904" y="1060438"/>
                    <a:pt x="1481090" y="1060438"/>
                  </a:cubicBezTo>
                  <a:lnTo>
                    <a:pt x="67166" y="1060438"/>
                  </a:lnTo>
                  <a:cubicBezTo>
                    <a:pt x="49352" y="1060438"/>
                    <a:pt x="32269" y="1053361"/>
                    <a:pt x="19672" y="1040765"/>
                  </a:cubicBezTo>
                  <a:cubicBezTo>
                    <a:pt x="7076" y="1028169"/>
                    <a:pt x="0" y="1011085"/>
                    <a:pt x="0" y="993271"/>
                  </a:cubicBezTo>
                  <a:lnTo>
                    <a:pt x="0" y="67166"/>
                  </a:lnTo>
                  <a:cubicBezTo>
                    <a:pt x="0" y="49352"/>
                    <a:pt x="7076" y="32269"/>
                    <a:pt x="19672" y="19672"/>
                  </a:cubicBezTo>
                  <a:cubicBezTo>
                    <a:pt x="32269" y="7076"/>
                    <a:pt x="49352" y="0"/>
                    <a:pt x="67166" y="0"/>
                  </a:cubicBezTo>
                  <a:close/>
                </a:path>
              </a:pathLst>
            </a:custGeom>
            <a:solidFill>
              <a:srgbClr val="FFFFFF"/>
            </a:solidFill>
            <a:ln w="19050" cap="rnd">
              <a:solidFill>
                <a:srgbClr val="1F4B91"/>
              </a:solidFill>
              <a:prstDash val="solid"/>
              <a:round/>
            </a:ln>
          </p:spPr>
        </p:sp>
        <p:sp>
          <p:nvSpPr>
            <p:cNvPr name="TextBox 11" id="11"/>
            <p:cNvSpPr txBox="true"/>
            <p:nvPr/>
          </p:nvSpPr>
          <p:spPr>
            <a:xfrm>
              <a:off x="0" y="-47625"/>
              <a:ext cx="1548256" cy="1108063"/>
            </a:xfrm>
            <a:prstGeom prst="rect">
              <a:avLst/>
            </a:prstGeom>
          </p:spPr>
          <p:txBody>
            <a:bodyPr anchor="ctr" rtlCol="false" tIns="50800" lIns="50800" bIns="50800" rIns="50800"/>
            <a:lstStyle/>
            <a:p>
              <a:pPr algn="ctr">
                <a:lnSpc>
                  <a:spcPts val="2800"/>
                </a:lnSpc>
              </a:pPr>
            </a:p>
          </p:txBody>
        </p:sp>
      </p:grpSp>
      <p:sp>
        <p:nvSpPr>
          <p:cNvPr name="TextBox 12" id="12"/>
          <p:cNvSpPr txBox="true"/>
          <p:nvPr/>
        </p:nvSpPr>
        <p:spPr>
          <a:xfrm rot="0">
            <a:off x="1260479" y="674013"/>
            <a:ext cx="9409219" cy="1193800"/>
          </a:xfrm>
          <a:prstGeom prst="rect">
            <a:avLst/>
          </a:prstGeom>
        </p:spPr>
        <p:txBody>
          <a:bodyPr anchor="t" rtlCol="false" tIns="0" lIns="0" bIns="0" rIns="0">
            <a:spAutoFit/>
          </a:bodyPr>
          <a:lstStyle/>
          <a:p>
            <a:pPr algn="l">
              <a:lnSpc>
                <a:spcPts val="9799"/>
              </a:lnSpc>
            </a:pPr>
            <a:r>
              <a:rPr lang="en-US" sz="6999" b="true">
                <a:solidFill>
                  <a:srgbClr val="245095"/>
                </a:solidFill>
                <a:latin typeface="Open Sans Bold"/>
                <a:ea typeface="Open Sans Bold"/>
                <a:cs typeface="Open Sans Bold"/>
                <a:sym typeface="Open Sans Bold"/>
              </a:rPr>
              <a:t>Visualisasi pyLDAvis</a:t>
            </a:r>
          </a:p>
        </p:txBody>
      </p:sp>
      <p:sp>
        <p:nvSpPr>
          <p:cNvPr name="TextBox 13" id="13"/>
          <p:cNvSpPr txBox="true"/>
          <p:nvPr/>
        </p:nvSpPr>
        <p:spPr>
          <a:xfrm rot="0">
            <a:off x="12121207" y="3749554"/>
            <a:ext cx="5613236" cy="3873500"/>
          </a:xfrm>
          <a:prstGeom prst="rect">
            <a:avLst/>
          </a:prstGeom>
        </p:spPr>
        <p:txBody>
          <a:bodyPr anchor="t" rtlCol="false" tIns="0" lIns="0" bIns="0" rIns="0">
            <a:spAutoFit/>
          </a:bodyPr>
          <a:lstStyle/>
          <a:p>
            <a:pPr algn="ctr">
              <a:lnSpc>
                <a:spcPts val="2800"/>
              </a:lnSpc>
            </a:pPr>
            <a:r>
              <a:rPr lang="en-US" sz="2000">
                <a:solidFill>
                  <a:srgbClr val="000000"/>
                </a:solidFill>
                <a:latin typeface="Open Sans"/>
                <a:ea typeface="Open Sans"/>
                <a:cs typeface="Open Sans"/>
                <a:sym typeface="Open Sans"/>
              </a:rPr>
              <a:t>Pada sentimen negatif terbentuk 5 topik dengan Topik 2 sebagai topik dominan. Jarak antar topik yang cukup berjauhan menunjukkan bahwa keluhan pengguna bersifat beragam dan mencakup berbagai aspek. Kata-kata seperti lambat, barang, kecewa, klaim, dan layanan mengindikasikan bahwa sentimen negatif didominasi oleh permasalahan pengiriman serta ketidakpuasan terhadap kualitas layanan, yang menjadi area penting untuk perbaikan Shopee.</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2522080"/>
            <a:ext cx="7396010" cy="3796556"/>
            <a:chOff x="0" y="0"/>
            <a:chExt cx="1358271" cy="697234"/>
          </a:xfrm>
        </p:grpSpPr>
        <p:sp>
          <p:nvSpPr>
            <p:cNvPr name="Freeform 3" id="3"/>
            <p:cNvSpPr/>
            <p:nvPr/>
          </p:nvSpPr>
          <p:spPr>
            <a:xfrm flipH="false" flipV="false" rot="0">
              <a:off x="0" y="0"/>
              <a:ext cx="1358271" cy="697234"/>
            </a:xfrm>
            <a:custGeom>
              <a:avLst/>
              <a:gdLst/>
              <a:ahLst/>
              <a:cxnLst/>
              <a:rect r="r" b="b" t="t" l="l"/>
              <a:pathLst>
                <a:path h="697234" w="1358271">
                  <a:moveTo>
                    <a:pt x="42918" y="0"/>
                  </a:moveTo>
                  <a:lnTo>
                    <a:pt x="1315353" y="0"/>
                  </a:lnTo>
                  <a:cubicBezTo>
                    <a:pt x="1326736" y="0"/>
                    <a:pt x="1337652" y="4522"/>
                    <a:pt x="1345701" y="12570"/>
                  </a:cubicBezTo>
                  <a:cubicBezTo>
                    <a:pt x="1353749" y="20619"/>
                    <a:pt x="1358271" y="31535"/>
                    <a:pt x="1358271" y="42918"/>
                  </a:cubicBezTo>
                  <a:lnTo>
                    <a:pt x="1358271" y="654317"/>
                  </a:lnTo>
                  <a:cubicBezTo>
                    <a:pt x="1358271" y="665699"/>
                    <a:pt x="1353749" y="676615"/>
                    <a:pt x="1345701" y="684664"/>
                  </a:cubicBezTo>
                  <a:cubicBezTo>
                    <a:pt x="1337652" y="692712"/>
                    <a:pt x="1326736" y="697234"/>
                    <a:pt x="1315353" y="697234"/>
                  </a:cubicBezTo>
                  <a:lnTo>
                    <a:pt x="42918" y="697234"/>
                  </a:lnTo>
                  <a:cubicBezTo>
                    <a:pt x="31535" y="697234"/>
                    <a:pt x="20619" y="692712"/>
                    <a:pt x="12570" y="684664"/>
                  </a:cubicBezTo>
                  <a:cubicBezTo>
                    <a:pt x="4522" y="676615"/>
                    <a:pt x="0" y="665699"/>
                    <a:pt x="0" y="654317"/>
                  </a:cubicBezTo>
                  <a:lnTo>
                    <a:pt x="0" y="42918"/>
                  </a:lnTo>
                  <a:cubicBezTo>
                    <a:pt x="0" y="31535"/>
                    <a:pt x="4522" y="20619"/>
                    <a:pt x="12570" y="12570"/>
                  </a:cubicBezTo>
                  <a:cubicBezTo>
                    <a:pt x="20619" y="4522"/>
                    <a:pt x="31535" y="0"/>
                    <a:pt x="42918" y="0"/>
                  </a:cubicBezTo>
                  <a:close/>
                </a:path>
              </a:pathLst>
            </a:custGeom>
            <a:blipFill>
              <a:blip r:embed="rId2"/>
              <a:stretch>
                <a:fillRect l="0" t="-12907" r="0" b="-16883"/>
              </a:stretch>
            </a:blipFill>
          </p:spPr>
        </p:sp>
      </p:grpSp>
      <p:sp>
        <p:nvSpPr>
          <p:cNvPr name="Freeform 4" id="4"/>
          <p:cNvSpPr/>
          <p:nvPr/>
        </p:nvSpPr>
        <p:spPr>
          <a:xfrm flipH="false" flipV="false" rot="0">
            <a:off x="0" y="0"/>
            <a:ext cx="1923359" cy="2356336"/>
          </a:xfrm>
          <a:custGeom>
            <a:avLst/>
            <a:gdLst/>
            <a:ahLst/>
            <a:cxnLst/>
            <a:rect r="r" b="b" t="t" l="l"/>
            <a:pathLst>
              <a:path h="2356336" w="1923359">
                <a:moveTo>
                  <a:pt x="0" y="0"/>
                </a:moveTo>
                <a:lnTo>
                  <a:pt x="1923359" y="0"/>
                </a:lnTo>
                <a:lnTo>
                  <a:pt x="1923359" y="2356336"/>
                </a:lnTo>
                <a:lnTo>
                  <a:pt x="0" y="235633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6364641" y="8212023"/>
            <a:ext cx="1923359" cy="2068128"/>
          </a:xfrm>
          <a:custGeom>
            <a:avLst/>
            <a:gdLst/>
            <a:ahLst/>
            <a:cxnLst/>
            <a:rect r="r" b="b" t="t" l="l"/>
            <a:pathLst>
              <a:path h="2068128" w="1923359">
                <a:moveTo>
                  <a:pt x="0" y="0"/>
                </a:moveTo>
                <a:lnTo>
                  <a:pt x="1923359" y="0"/>
                </a:lnTo>
                <a:lnTo>
                  <a:pt x="1923359" y="2068128"/>
                </a:lnTo>
                <a:lnTo>
                  <a:pt x="0" y="206812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6364641" y="0"/>
            <a:ext cx="4278914" cy="871829"/>
          </a:xfrm>
          <a:custGeom>
            <a:avLst/>
            <a:gdLst/>
            <a:ahLst/>
            <a:cxnLst/>
            <a:rect r="r" b="b" t="t" l="l"/>
            <a:pathLst>
              <a:path h="871829" w="4278914">
                <a:moveTo>
                  <a:pt x="0" y="0"/>
                </a:moveTo>
                <a:lnTo>
                  <a:pt x="4278914" y="0"/>
                </a:lnTo>
                <a:lnTo>
                  <a:pt x="4278914" y="871829"/>
                </a:lnTo>
                <a:lnTo>
                  <a:pt x="0" y="871829"/>
                </a:lnTo>
                <a:lnTo>
                  <a:pt x="0" y="0"/>
                </a:lnTo>
                <a:close/>
              </a:path>
            </a:pathLst>
          </a:custGeom>
          <a:blipFill>
            <a:blip r:embed="rId7">
              <a:alphaModFix amt="63000"/>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9795914" y="826483"/>
            <a:ext cx="999699" cy="1009797"/>
          </a:xfrm>
          <a:custGeom>
            <a:avLst/>
            <a:gdLst/>
            <a:ahLst/>
            <a:cxnLst/>
            <a:rect r="r" b="b" t="t" l="l"/>
            <a:pathLst>
              <a:path h="1009797" w="999699">
                <a:moveTo>
                  <a:pt x="0" y="0"/>
                </a:moveTo>
                <a:lnTo>
                  <a:pt x="999699" y="0"/>
                </a:lnTo>
                <a:lnTo>
                  <a:pt x="999699" y="1009797"/>
                </a:lnTo>
                <a:lnTo>
                  <a:pt x="0" y="100979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8" id="8"/>
          <p:cNvSpPr/>
          <p:nvPr/>
        </p:nvSpPr>
        <p:spPr>
          <a:xfrm flipH="false" flipV="false" rot="0">
            <a:off x="-952885" y="9207987"/>
            <a:ext cx="1953010" cy="1953010"/>
          </a:xfrm>
          <a:custGeom>
            <a:avLst/>
            <a:gdLst/>
            <a:ahLst/>
            <a:cxnLst/>
            <a:rect r="r" b="b" t="t" l="l"/>
            <a:pathLst>
              <a:path h="1953010" w="1953010">
                <a:moveTo>
                  <a:pt x="0" y="0"/>
                </a:moveTo>
                <a:lnTo>
                  <a:pt x="1953010" y="0"/>
                </a:lnTo>
                <a:lnTo>
                  <a:pt x="1953010" y="1953009"/>
                </a:lnTo>
                <a:lnTo>
                  <a:pt x="0" y="195300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9" id="9"/>
          <p:cNvSpPr txBox="true"/>
          <p:nvPr/>
        </p:nvSpPr>
        <p:spPr>
          <a:xfrm rot="0">
            <a:off x="9144000" y="1702930"/>
            <a:ext cx="4954883" cy="1193800"/>
          </a:xfrm>
          <a:prstGeom prst="rect">
            <a:avLst/>
          </a:prstGeom>
        </p:spPr>
        <p:txBody>
          <a:bodyPr anchor="t" rtlCol="false" tIns="0" lIns="0" bIns="0" rIns="0">
            <a:spAutoFit/>
          </a:bodyPr>
          <a:lstStyle/>
          <a:p>
            <a:pPr algn="l">
              <a:lnSpc>
                <a:spcPts val="9799"/>
              </a:lnSpc>
            </a:pPr>
            <a:r>
              <a:rPr lang="en-US" sz="6999" b="true">
                <a:solidFill>
                  <a:srgbClr val="245095"/>
                </a:solidFill>
                <a:latin typeface="Open Sans Bold"/>
                <a:ea typeface="Open Sans Bold"/>
                <a:cs typeface="Open Sans Bold"/>
                <a:sym typeface="Open Sans Bold"/>
              </a:rPr>
              <a:t>Kendala</a:t>
            </a:r>
          </a:p>
        </p:txBody>
      </p:sp>
      <p:sp>
        <p:nvSpPr>
          <p:cNvPr name="TextBox 10" id="10"/>
          <p:cNvSpPr txBox="true"/>
          <p:nvPr/>
        </p:nvSpPr>
        <p:spPr>
          <a:xfrm rot="0">
            <a:off x="9144000" y="3079635"/>
            <a:ext cx="7220641" cy="4930775"/>
          </a:xfrm>
          <a:prstGeom prst="rect">
            <a:avLst/>
          </a:prstGeom>
        </p:spPr>
        <p:txBody>
          <a:bodyPr anchor="t" rtlCol="false" tIns="0" lIns="0" bIns="0" rIns="0">
            <a:spAutoFit/>
          </a:bodyPr>
          <a:lstStyle/>
          <a:p>
            <a:pPr algn="l" marL="431802" indent="-215901" lvl="1">
              <a:lnSpc>
                <a:spcPts val="2800"/>
              </a:lnSpc>
              <a:buAutoNum type="arabicPeriod" startAt="1"/>
            </a:pPr>
            <a:r>
              <a:rPr lang="en-US" sz="2000">
                <a:solidFill>
                  <a:srgbClr val="000000"/>
                </a:solidFill>
                <a:latin typeface="Open Sans"/>
                <a:ea typeface="Open Sans"/>
                <a:cs typeface="Open Sans"/>
                <a:sym typeface="Open Sans"/>
              </a:rPr>
              <a:t>Tahap Pre-Processing harus diulang beberapa kali, dikarenakan data belum sepenuhnya bersih</a:t>
            </a:r>
          </a:p>
          <a:p>
            <a:pPr algn="l" marL="431802" indent="-215901" lvl="1">
              <a:lnSpc>
                <a:spcPts val="2800"/>
              </a:lnSpc>
              <a:buAutoNum type="arabicPeriod" startAt="1"/>
            </a:pPr>
            <a:r>
              <a:rPr lang="en-US" sz="2000">
                <a:solidFill>
                  <a:srgbClr val="000000"/>
                </a:solidFill>
                <a:latin typeface="Open Sans"/>
                <a:ea typeface="Open Sans"/>
                <a:cs typeface="Open Sans"/>
                <a:sym typeface="Open Sans"/>
              </a:rPr>
              <a:t>Awalnya stopwords belum optimal karena menggunakan stopwords bawaan nltk, masih terdapat kata-kata yang tetap muncul, dan ada beberapa kata yang seharusnya tidak terhapus. Sehingga, diperlukan kamus stopwords yang didapat dari kaggle</a:t>
            </a:r>
          </a:p>
          <a:p>
            <a:pPr algn="l" marL="431802" indent="-215901" lvl="1">
              <a:lnSpc>
                <a:spcPts val="2800"/>
              </a:lnSpc>
              <a:buAutoNum type="arabicPeriod" startAt="1"/>
            </a:pPr>
            <a:r>
              <a:rPr lang="en-US" sz="2000">
                <a:solidFill>
                  <a:srgbClr val="000000"/>
                </a:solidFill>
                <a:latin typeface="Open Sans"/>
                <a:ea typeface="Open Sans"/>
                <a:cs typeface="Open Sans"/>
                <a:sym typeface="Open Sans"/>
              </a:rPr>
              <a:t>Slang sangat beragam, sehingga membutuhkan kamus manual tambahan</a:t>
            </a:r>
          </a:p>
          <a:p>
            <a:pPr algn="l" marL="431802" indent="-215901" lvl="1">
              <a:lnSpc>
                <a:spcPts val="2800"/>
              </a:lnSpc>
              <a:buAutoNum type="arabicPeriod" startAt="1"/>
            </a:pPr>
            <a:r>
              <a:rPr lang="en-US" sz="2000">
                <a:solidFill>
                  <a:srgbClr val="000000"/>
                </a:solidFill>
                <a:latin typeface="Open Sans"/>
                <a:ea typeface="Open Sans"/>
                <a:cs typeface="Open Sans"/>
                <a:sym typeface="Open Sans"/>
              </a:rPr>
              <a:t>Imbalanced Data. Kelas Positif memiliki jumlah data yang jauh lebih banyak dibandingkan dengan netral dan negatif. Sehingga, perlu penanganan dengan menggunakan SMOTE untuk Naive Bayes</a:t>
            </a:r>
          </a:p>
          <a:p>
            <a:pPr algn="l">
              <a:lnSpc>
                <a:spcPts val="2800"/>
              </a:lnSpc>
            </a:pPr>
          </a:p>
        </p:txBody>
      </p:sp>
      <p:sp>
        <p:nvSpPr>
          <p:cNvPr name="TextBox 11" id="11"/>
          <p:cNvSpPr txBox="true"/>
          <p:nvPr/>
        </p:nvSpPr>
        <p:spPr>
          <a:xfrm rot="0">
            <a:off x="5743904" y="6965358"/>
            <a:ext cx="5361611" cy="481330"/>
          </a:xfrm>
          <a:prstGeom prst="rect">
            <a:avLst/>
          </a:prstGeom>
        </p:spPr>
        <p:txBody>
          <a:bodyPr anchor="t" rtlCol="false" tIns="0" lIns="0" bIns="0" rIns="0">
            <a:spAutoFit/>
          </a:bodyPr>
          <a:lstStyle/>
          <a:p>
            <a:pPr algn="l">
              <a:lnSpc>
                <a:spcPts val="3920"/>
              </a:lnSpc>
            </a:pPr>
            <a:r>
              <a:rPr lang="en-US" sz="2800" b="true">
                <a:solidFill>
                  <a:srgbClr val="FFFFFF"/>
                </a:solidFill>
                <a:latin typeface="Open Sans Bold"/>
                <a:ea typeface="Open Sans Bold"/>
                <a:cs typeface="Open Sans Bold"/>
                <a:sym typeface="Open Sans Bold"/>
              </a:rPr>
              <a:t>Significant Trends</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461823" y="1361525"/>
            <a:ext cx="7797477" cy="7563950"/>
            <a:chOff x="0" y="0"/>
            <a:chExt cx="1065463" cy="1033554"/>
          </a:xfrm>
        </p:grpSpPr>
        <p:sp>
          <p:nvSpPr>
            <p:cNvPr name="Freeform 3" id="3"/>
            <p:cNvSpPr/>
            <p:nvPr/>
          </p:nvSpPr>
          <p:spPr>
            <a:xfrm flipH="false" flipV="false" rot="0">
              <a:off x="0" y="0"/>
              <a:ext cx="1065463" cy="1033553"/>
            </a:xfrm>
            <a:custGeom>
              <a:avLst/>
              <a:gdLst/>
              <a:ahLst/>
              <a:cxnLst/>
              <a:rect r="r" b="b" t="t" l="l"/>
              <a:pathLst>
                <a:path h="1033553" w="1065463">
                  <a:moveTo>
                    <a:pt x="40708" y="0"/>
                  </a:moveTo>
                  <a:lnTo>
                    <a:pt x="1024755" y="0"/>
                  </a:lnTo>
                  <a:cubicBezTo>
                    <a:pt x="1047238" y="0"/>
                    <a:pt x="1065463" y="18226"/>
                    <a:pt x="1065463" y="40708"/>
                  </a:cubicBezTo>
                  <a:lnTo>
                    <a:pt x="1065463" y="992846"/>
                  </a:lnTo>
                  <a:cubicBezTo>
                    <a:pt x="1065463" y="1003642"/>
                    <a:pt x="1061174" y="1013996"/>
                    <a:pt x="1053540" y="1021630"/>
                  </a:cubicBezTo>
                  <a:cubicBezTo>
                    <a:pt x="1045906" y="1029265"/>
                    <a:pt x="1035552" y="1033553"/>
                    <a:pt x="1024755" y="1033553"/>
                  </a:cubicBezTo>
                  <a:lnTo>
                    <a:pt x="40708" y="1033553"/>
                  </a:lnTo>
                  <a:cubicBezTo>
                    <a:pt x="29911" y="1033553"/>
                    <a:pt x="19557" y="1029265"/>
                    <a:pt x="11923" y="1021630"/>
                  </a:cubicBezTo>
                  <a:cubicBezTo>
                    <a:pt x="4289" y="1013996"/>
                    <a:pt x="0" y="1003642"/>
                    <a:pt x="0" y="992846"/>
                  </a:cubicBezTo>
                  <a:lnTo>
                    <a:pt x="0" y="40708"/>
                  </a:lnTo>
                  <a:cubicBezTo>
                    <a:pt x="0" y="29911"/>
                    <a:pt x="4289" y="19557"/>
                    <a:pt x="11923" y="11923"/>
                  </a:cubicBezTo>
                  <a:cubicBezTo>
                    <a:pt x="19557" y="4289"/>
                    <a:pt x="29911" y="0"/>
                    <a:pt x="40708" y="0"/>
                  </a:cubicBezTo>
                  <a:close/>
                </a:path>
              </a:pathLst>
            </a:custGeom>
            <a:blipFill>
              <a:blip r:embed="rId2"/>
              <a:stretch>
                <a:fillRect l="-45598" t="0" r="0" b="0"/>
              </a:stretch>
            </a:blipFill>
          </p:spPr>
        </p:sp>
      </p:grpSp>
      <p:grpSp>
        <p:nvGrpSpPr>
          <p:cNvPr name="Group 4" id="4"/>
          <p:cNvGrpSpPr/>
          <p:nvPr/>
        </p:nvGrpSpPr>
        <p:grpSpPr>
          <a:xfrm rot="0">
            <a:off x="2582722" y="2759999"/>
            <a:ext cx="8081240" cy="2901763"/>
            <a:chOff x="0" y="0"/>
            <a:chExt cx="2128392" cy="764250"/>
          </a:xfrm>
        </p:grpSpPr>
        <p:sp>
          <p:nvSpPr>
            <p:cNvPr name="Freeform 5" id="5"/>
            <p:cNvSpPr/>
            <p:nvPr/>
          </p:nvSpPr>
          <p:spPr>
            <a:xfrm flipH="false" flipV="false" rot="0">
              <a:off x="0" y="0"/>
              <a:ext cx="2128392" cy="764250"/>
            </a:xfrm>
            <a:custGeom>
              <a:avLst/>
              <a:gdLst/>
              <a:ahLst/>
              <a:cxnLst/>
              <a:rect r="r" b="b" t="t" l="l"/>
              <a:pathLst>
                <a:path h="764250" w="2128392">
                  <a:moveTo>
                    <a:pt x="48859" y="0"/>
                  </a:moveTo>
                  <a:lnTo>
                    <a:pt x="2079534" y="0"/>
                  </a:lnTo>
                  <a:cubicBezTo>
                    <a:pt x="2106518" y="0"/>
                    <a:pt x="2128392" y="21875"/>
                    <a:pt x="2128392" y="48859"/>
                  </a:cubicBezTo>
                  <a:lnTo>
                    <a:pt x="2128392" y="715392"/>
                  </a:lnTo>
                  <a:cubicBezTo>
                    <a:pt x="2128392" y="728350"/>
                    <a:pt x="2123245" y="740777"/>
                    <a:pt x="2114082" y="749940"/>
                  </a:cubicBezTo>
                  <a:cubicBezTo>
                    <a:pt x="2104919" y="759103"/>
                    <a:pt x="2092492" y="764250"/>
                    <a:pt x="2079534" y="764250"/>
                  </a:cubicBezTo>
                  <a:lnTo>
                    <a:pt x="48859" y="764250"/>
                  </a:lnTo>
                  <a:cubicBezTo>
                    <a:pt x="21875" y="764250"/>
                    <a:pt x="0" y="742376"/>
                    <a:pt x="0" y="715392"/>
                  </a:cubicBezTo>
                  <a:lnTo>
                    <a:pt x="0" y="48859"/>
                  </a:lnTo>
                  <a:cubicBezTo>
                    <a:pt x="0" y="21875"/>
                    <a:pt x="21875" y="0"/>
                    <a:pt x="48859" y="0"/>
                  </a:cubicBezTo>
                  <a:close/>
                </a:path>
              </a:pathLst>
            </a:custGeom>
            <a:solidFill>
              <a:srgbClr val="245095"/>
            </a:solidFill>
          </p:spPr>
        </p:sp>
        <p:sp>
          <p:nvSpPr>
            <p:cNvPr name="TextBox 6" id="6"/>
            <p:cNvSpPr txBox="true"/>
            <p:nvPr/>
          </p:nvSpPr>
          <p:spPr>
            <a:xfrm>
              <a:off x="0" y="-57150"/>
              <a:ext cx="2128392" cy="821400"/>
            </a:xfrm>
            <a:prstGeom prst="rect">
              <a:avLst/>
            </a:prstGeom>
          </p:spPr>
          <p:txBody>
            <a:bodyPr anchor="ctr" rtlCol="false" tIns="50800" lIns="50800" bIns="50800" rIns="50800"/>
            <a:lstStyle/>
            <a:p>
              <a:pPr algn="ctr">
                <a:lnSpc>
                  <a:spcPts val="3643"/>
                </a:lnSpc>
              </a:pPr>
            </a:p>
          </p:txBody>
        </p:sp>
      </p:grpSp>
      <p:grpSp>
        <p:nvGrpSpPr>
          <p:cNvPr name="Group 7" id="7"/>
          <p:cNvGrpSpPr/>
          <p:nvPr/>
        </p:nvGrpSpPr>
        <p:grpSpPr>
          <a:xfrm rot="0">
            <a:off x="2582722" y="6023712"/>
            <a:ext cx="8081240" cy="2901763"/>
            <a:chOff x="0" y="0"/>
            <a:chExt cx="2128392" cy="764250"/>
          </a:xfrm>
        </p:grpSpPr>
        <p:sp>
          <p:nvSpPr>
            <p:cNvPr name="Freeform 8" id="8"/>
            <p:cNvSpPr/>
            <p:nvPr/>
          </p:nvSpPr>
          <p:spPr>
            <a:xfrm flipH="false" flipV="false" rot="0">
              <a:off x="0" y="0"/>
              <a:ext cx="2128392" cy="764250"/>
            </a:xfrm>
            <a:custGeom>
              <a:avLst/>
              <a:gdLst/>
              <a:ahLst/>
              <a:cxnLst/>
              <a:rect r="r" b="b" t="t" l="l"/>
              <a:pathLst>
                <a:path h="764250" w="2128392">
                  <a:moveTo>
                    <a:pt x="48859" y="0"/>
                  </a:moveTo>
                  <a:lnTo>
                    <a:pt x="2079534" y="0"/>
                  </a:lnTo>
                  <a:cubicBezTo>
                    <a:pt x="2106518" y="0"/>
                    <a:pt x="2128392" y="21875"/>
                    <a:pt x="2128392" y="48859"/>
                  </a:cubicBezTo>
                  <a:lnTo>
                    <a:pt x="2128392" y="715392"/>
                  </a:lnTo>
                  <a:cubicBezTo>
                    <a:pt x="2128392" y="728350"/>
                    <a:pt x="2123245" y="740777"/>
                    <a:pt x="2114082" y="749940"/>
                  </a:cubicBezTo>
                  <a:cubicBezTo>
                    <a:pt x="2104919" y="759103"/>
                    <a:pt x="2092492" y="764250"/>
                    <a:pt x="2079534" y="764250"/>
                  </a:cubicBezTo>
                  <a:lnTo>
                    <a:pt x="48859" y="764250"/>
                  </a:lnTo>
                  <a:cubicBezTo>
                    <a:pt x="21875" y="764250"/>
                    <a:pt x="0" y="742376"/>
                    <a:pt x="0" y="715392"/>
                  </a:cubicBezTo>
                  <a:lnTo>
                    <a:pt x="0" y="48859"/>
                  </a:lnTo>
                  <a:cubicBezTo>
                    <a:pt x="0" y="21875"/>
                    <a:pt x="21875" y="0"/>
                    <a:pt x="48859" y="0"/>
                  </a:cubicBezTo>
                  <a:close/>
                </a:path>
              </a:pathLst>
            </a:custGeom>
            <a:solidFill>
              <a:srgbClr val="245095"/>
            </a:solidFill>
          </p:spPr>
        </p:sp>
        <p:sp>
          <p:nvSpPr>
            <p:cNvPr name="TextBox 9" id="9"/>
            <p:cNvSpPr txBox="true"/>
            <p:nvPr/>
          </p:nvSpPr>
          <p:spPr>
            <a:xfrm>
              <a:off x="0" y="-57150"/>
              <a:ext cx="2128392" cy="821400"/>
            </a:xfrm>
            <a:prstGeom prst="rect">
              <a:avLst/>
            </a:prstGeom>
          </p:spPr>
          <p:txBody>
            <a:bodyPr anchor="ctr" rtlCol="false" tIns="50800" lIns="50800" bIns="50800" rIns="50800"/>
            <a:lstStyle/>
            <a:p>
              <a:pPr algn="ctr">
                <a:lnSpc>
                  <a:spcPts val="3643"/>
                </a:lnSpc>
              </a:pPr>
            </a:p>
          </p:txBody>
        </p:sp>
      </p:grpSp>
      <p:sp>
        <p:nvSpPr>
          <p:cNvPr name="Freeform 10" id="10"/>
          <p:cNvSpPr/>
          <p:nvPr/>
        </p:nvSpPr>
        <p:spPr>
          <a:xfrm flipH="false" flipV="false" rot="0">
            <a:off x="2899414" y="3317952"/>
            <a:ext cx="397472" cy="393001"/>
          </a:xfrm>
          <a:custGeom>
            <a:avLst/>
            <a:gdLst/>
            <a:ahLst/>
            <a:cxnLst/>
            <a:rect r="r" b="b" t="t" l="l"/>
            <a:pathLst>
              <a:path h="393001" w="397472">
                <a:moveTo>
                  <a:pt x="0" y="0"/>
                </a:moveTo>
                <a:lnTo>
                  <a:pt x="397472" y="0"/>
                </a:lnTo>
                <a:lnTo>
                  <a:pt x="397472" y="393000"/>
                </a:lnTo>
                <a:lnTo>
                  <a:pt x="0" y="3930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false" flipV="false" rot="0">
            <a:off x="2899414" y="6553754"/>
            <a:ext cx="397472" cy="374618"/>
          </a:xfrm>
          <a:custGeom>
            <a:avLst/>
            <a:gdLst/>
            <a:ahLst/>
            <a:cxnLst/>
            <a:rect r="r" b="b" t="t" l="l"/>
            <a:pathLst>
              <a:path h="374618" w="397472">
                <a:moveTo>
                  <a:pt x="0" y="0"/>
                </a:moveTo>
                <a:lnTo>
                  <a:pt x="397472" y="0"/>
                </a:lnTo>
                <a:lnTo>
                  <a:pt x="397472" y="374617"/>
                </a:lnTo>
                <a:lnTo>
                  <a:pt x="0" y="37461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2" id="12"/>
          <p:cNvSpPr/>
          <p:nvPr/>
        </p:nvSpPr>
        <p:spPr>
          <a:xfrm flipH="false" flipV="false" rot="0">
            <a:off x="15914790" y="0"/>
            <a:ext cx="2373210" cy="2322780"/>
          </a:xfrm>
          <a:custGeom>
            <a:avLst/>
            <a:gdLst/>
            <a:ahLst/>
            <a:cxnLst/>
            <a:rect r="r" b="b" t="t" l="l"/>
            <a:pathLst>
              <a:path h="2322780" w="2373210">
                <a:moveTo>
                  <a:pt x="0" y="0"/>
                </a:moveTo>
                <a:lnTo>
                  <a:pt x="2373210" y="0"/>
                </a:lnTo>
                <a:lnTo>
                  <a:pt x="2373210" y="2322780"/>
                </a:lnTo>
                <a:lnTo>
                  <a:pt x="0" y="232278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3" id="13"/>
          <p:cNvSpPr/>
          <p:nvPr/>
        </p:nvSpPr>
        <p:spPr>
          <a:xfrm flipH="true" flipV="false" rot="0">
            <a:off x="16000062" y="7964220"/>
            <a:ext cx="2287938" cy="2322780"/>
          </a:xfrm>
          <a:custGeom>
            <a:avLst/>
            <a:gdLst/>
            <a:ahLst/>
            <a:cxnLst/>
            <a:rect r="r" b="b" t="t" l="l"/>
            <a:pathLst>
              <a:path h="2322780" w="2287938">
                <a:moveTo>
                  <a:pt x="2287938" y="0"/>
                </a:moveTo>
                <a:lnTo>
                  <a:pt x="0" y="0"/>
                </a:lnTo>
                <a:lnTo>
                  <a:pt x="0" y="2322780"/>
                </a:lnTo>
                <a:lnTo>
                  <a:pt x="2287938" y="2322780"/>
                </a:lnTo>
                <a:lnTo>
                  <a:pt x="2287938"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14" id="14"/>
          <p:cNvGrpSpPr/>
          <p:nvPr/>
        </p:nvGrpSpPr>
        <p:grpSpPr>
          <a:xfrm rot="-10800000">
            <a:off x="-1253728" y="8347718"/>
            <a:ext cx="2507456" cy="3086100"/>
            <a:chOff x="0" y="0"/>
            <a:chExt cx="660400" cy="812800"/>
          </a:xfrm>
        </p:grpSpPr>
        <p:sp>
          <p:nvSpPr>
            <p:cNvPr name="Freeform 15" id="15"/>
            <p:cNvSpPr/>
            <p:nvPr/>
          </p:nvSpPr>
          <p:spPr>
            <a:xfrm flipH="false" flipV="false" rot="0">
              <a:off x="0" y="0"/>
              <a:ext cx="660400" cy="812800"/>
            </a:xfrm>
            <a:custGeom>
              <a:avLst/>
              <a:gdLst/>
              <a:ahLst/>
              <a:cxnLst/>
              <a:rect r="r" b="b" t="t" l="l"/>
              <a:pathLst>
                <a:path h="812800" w="660400">
                  <a:moveTo>
                    <a:pt x="220252" y="793731"/>
                  </a:moveTo>
                  <a:cubicBezTo>
                    <a:pt x="254109" y="805245"/>
                    <a:pt x="292600" y="812800"/>
                    <a:pt x="330378" y="812800"/>
                  </a:cubicBezTo>
                  <a:cubicBezTo>
                    <a:pt x="368157" y="812800"/>
                    <a:pt x="404509" y="806323"/>
                    <a:pt x="438009" y="794809"/>
                  </a:cubicBezTo>
                  <a:cubicBezTo>
                    <a:pt x="438723" y="794450"/>
                    <a:pt x="439435" y="794450"/>
                    <a:pt x="440148" y="794090"/>
                  </a:cubicBezTo>
                  <a:cubicBezTo>
                    <a:pt x="565955" y="748035"/>
                    <a:pt x="658618" y="626421"/>
                    <a:pt x="660400" y="484298"/>
                  </a:cubicBezTo>
                  <a:lnTo>
                    <a:pt x="660400" y="0"/>
                  </a:lnTo>
                  <a:lnTo>
                    <a:pt x="0" y="0"/>
                  </a:lnTo>
                  <a:lnTo>
                    <a:pt x="0" y="483939"/>
                  </a:lnTo>
                  <a:cubicBezTo>
                    <a:pt x="1782" y="627140"/>
                    <a:pt x="93019" y="748755"/>
                    <a:pt x="220252" y="793731"/>
                  </a:cubicBezTo>
                  <a:close/>
                </a:path>
              </a:pathLst>
            </a:custGeom>
            <a:solidFill>
              <a:srgbClr val="000000">
                <a:alpha val="0"/>
              </a:srgbClr>
            </a:solidFill>
            <a:ln w="428625" cap="sq">
              <a:solidFill>
                <a:srgbClr val="0F3460"/>
              </a:solidFill>
              <a:prstDash val="solid"/>
              <a:miter/>
            </a:ln>
          </p:spPr>
        </p:sp>
        <p:sp>
          <p:nvSpPr>
            <p:cNvPr name="TextBox 16" id="16"/>
            <p:cNvSpPr txBox="true"/>
            <p:nvPr/>
          </p:nvSpPr>
          <p:spPr>
            <a:xfrm>
              <a:off x="0" y="-57150"/>
              <a:ext cx="660400" cy="742950"/>
            </a:xfrm>
            <a:prstGeom prst="rect">
              <a:avLst/>
            </a:prstGeom>
          </p:spPr>
          <p:txBody>
            <a:bodyPr anchor="ctr" rtlCol="false" tIns="50800" lIns="50800" bIns="50800" rIns="50800"/>
            <a:lstStyle/>
            <a:p>
              <a:pPr algn="ctr">
                <a:lnSpc>
                  <a:spcPts val="3643"/>
                </a:lnSpc>
              </a:pPr>
            </a:p>
          </p:txBody>
        </p:sp>
      </p:grpSp>
      <p:sp>
        <p:nvSpPr>
          <p:cNvPr name="TextBox 17" id="17"/>
          <p:cNvSpPr txBox="true"/>
          <p:nvPr/>
        </p:nvSpPr>
        <p:spPr>
          <a:xfrm rot="0">
            <a:off x="200320" y="-109270"/>
            <a:ext cx="6193133" cy="3670300"/>
          </a:xfrm>
          <a:prstGeom prst="rect">
            <a:avLst/>
          </a:prstGeom>
        </p:spPr>
        <p:txBody>
          <a:bodyPr anchor="t" rtlCol="false" tIns="0" lIns="0" bIns="0" rIns="0">
            <a:spAutoFit/>
          </a:bodyPr>
          <a:lstStyle/>
          <a:p>
            <a:pPr algn="l">
              <a:lnSpc>
                <a:spcPts val="9799"/>
              </a:lnSpc>
            </a:pPr>
            <a:r>
              <a:rPr lang="en-US" sz="6999" b="true">
                <a:solidFill>
                  <a:srgbClr val="245095"/>
                </a:solidFill>
                <a:latin typeface="Open Sans Bold"/>
                <a:ea typeface="Open Sans Bold"/>
                <a:cs typeface="Open Sans Bold"/>
                <a:sym typeface="Open Sans Bold"/>
              </a:rPr>
              <a:t>Rencana Tindak Lanjut</a:t>
            </a:r>
          </a:p>
          <a:p>
            <a:pPr algn="l">
              <a:lnSpc>
                <a:spcPts val="9799"/>
              </a:lnSpc>
            </a:pPr>
          </a:p>
        </p:txBody>
      </p:sp>
      <p:sp>
        <p:nvSpPr>
          <p:cNvPr name="TextBox 18" id="18"/>
          <p:cNvSpPr txBox="true"/>
          <p:nvPr/>
        </p:nvSpPr>
        <p:spPr>
          <a:xfrm rot="0">
            <a:off x="3613578" y="3270327"/>
            <a:ext cx="7050383" cy="1406525"/>
          </a:xfrm>
          <a:prstGeom prst="rect">
            <a:avLst/>
          </a:prstGeom>
        </p:spPr>
        <p:txBody>
          <a:bodyPr anchor="t" rtlCol="false" tIns="0" lIns="0" bIns="0" rIns="0">
            <a:spAutoFit/>
          </a:bodyPr>
          <a:lstStyle/>
          <a:p>
            <a:pPr algn="l">
              <a:lnSpc>
                <a:spcPts val="2800"/>
              </a:lnSpc>
            </a:pPr>
            <a:r>
              <a:rPr lang="en-US" sz="2000">
                <a:solidFill>
                  <a:srgbClr val="FFFFFF"/>
                </a:solidFill>
                <a:latin typeface="Open Sans"/>
                <a:ea typeface="Open Sans"/>
                <a:cs typeface="Open Sans"/>
                <a:sym typeface="Open Sans"/>
              </a:rPr>
              <a:t>Peningkatan kualitas data dan kelas netral: Penelitian selanjutnya dapat menambah jumlah data ulasan, khususnya pada kelas sentimen netral, agar performa klasifikasi menjadi lebih seimbang dan akurat.</a:t>
            </a:r>
          </a:p>
        </p:txBody>
      </p:sp>
      <p:sp>
        <p:nvSpPr>
          <p:cNvPr name="TextBox 19" id="19"/>
          <p:cNvSpPr txBox="true"/>
          <p:nvPr/>
        </p:nvSpPr>
        <p:spPr>
          <a:xfrm rot="0">
            <a:off x="3613578" y="6585687"/>
            <a:ext cx="7050383" cy="1406525"/>
          </a:xfrm>
          <a:prstGeom prst="rect">
            <a:avLst/>
          </a:prstGeom>
        </p:spPr>
        <p:txBody>
          <a:bodyPr anchor="t" rtlCol="false" tIns="0" lIns="0" bIns="0" rIns="0">
            <a:spAutoFit/>
          </a:bodyPr>
          <a:lstStyle/>
          <a:p>
            <a:pPr algn="l">
              <a:lnSpc>
                <a:spcPts val="2800"/>
              </a:lnSpc>
            </a:pPr>
            <a:r>
              <a:rPr lang="en-US" sz="2000">
                <a:solidFill>
                  <a:srgbClr val="FFFFFF"/>
                </a:solidFill>
                <a:latin typeface="Open Sans"/>
                <a:ea typeface="Open Sans"/>
                <a:cs typeface="Open Sans"/>
                <a:sym typeface="Open Sans"/>
              </a:rPr>
              <a:t>Pendalaman analisis topik: Hasil topic modeling dapat dikaji lebih lanjut untuk menghasilkan insight yang lebih spesifik terkait aspek layanan, produk, dan pengalaman pengguna aplikasi Shopee.</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450619" y="0"/>
            <a:ext cx="23189238" cy="3036365"/>
          </a:xfrm>
          <a:custGeom>
            <a:avLst/>
            <a:gdLst/>
            <a:ahLst/>
            <a:cxnLst/>
            <a:rect r="r" b="b" t="t" l="l"/>
            <a:pathLst>
              <a:path h="3036365" w="23189238">
                <a:moveTo>
                  <a:pt x="0" y="0"/>
                </a:moveTo>
                <a:lnTo>
                  <a:pt x="23189238" y="0"/>
                </a:lnTo>
                <a:lnTo>
                  <a:pt x="23189238" y="3036365"/>
                </a:lnTo>
                <a:lnTo>
                  <a:pt x="0" y="3036365"/>
                </a:lnTo>
                <a:lnTo>
                  <a:pt x="0" y="0"/>
                </a:lnTo>
                <a:close/>
              </a:path>
            </a:pathLst>
          </a:custGeom>
          <a:blipFill>
            <a:blip r:embed="rId2">
              <a:extLst>
                <a:ext uri="{96DAC541-7B7A-43D3-8B79-37D633B846F1}">
                  <asvg:svgBlip xmlns:asvg="http://schemas.microsoft.com/office/drawing/2016/SVG/main" r:embed="rId3"/>
                </a:ext>
              </a:extLst>
            </a:blip>
            <a:stretch>
              <a:fillRect l="-13953" t="0" r="-31533" b="0"/>
            </a:stretch>
          </a:blipFill>
        </p:spPr>
      </p:sp>
      <p:sp>
        <p:nvSpPr>
          <p:cNvPr name="Freeform 3" id="3"/>
          <p:cNvSpPr/>
          <p:nvPr/>
        </p:nvSpPr>
        <p:spPr>
          <a:xfrm flipH="false" flipV="false" rot="-10800000">
            <a:off x="15253722" y="7494628"/>
            <a:ext cx="3527345" cy="3527345"/>
          </a:xfrm>
          <a:custGeom>
            <a:avLst/>
            <a:gdLst/>
            <a:ahLst/>
            <a:cxnLst/>
            <a:rect r="r" b="b" t="t" l="l"/>
            <a:pathLst>
              <a:path h="3527345" w="3527345">
                <a:moveTo>
                  <a:pt x="0" y="0"/>
                </a:moveTo>
                <a:lnTo>
                  <a:pt x="3527345" y="0"/>
                </a:lnTo>
                <a:lnTo>
                  <a:pt x="3527345" y="3527344"/>
                </a:lnTo>
                <a:lnTo>
                  <a:pt x="0" y="3527344"/>
                </a:lnTo>
                <a:lnTo>
                  <a:pt x="0" y="0"/>
                </a:lnTo>
                <a:close/>
              </a:path>
            </a:pathLst>
          </a:custGeom>
          <a:blipFill>
            <a:blip r:embed="rId4">
              <a:extLst>
                <a:ext uri="{96DAC541-7B7A-43D3-8B79-37D633B846F1}">
                  <asvg:svgBlip xmlns:asvg="http://schemas.microsoft.com/office/drawing/2016/SVG/main" r:embed="rId5"/>
                </a:ext>
              </a:extLst>
            </a:blip>
            <a:stretch>
              <a:fillRect l="-94817" t="-111018" r="-12744" b="-43268"/>
            </a:stretch>
          </a:blipFill>
        </p:spPr>
      </p:sp>
      <p:sp>
        <p:nvSpPr>
          <p:cNvPr name="Freeform 4" id="4"/>
          <p:cNvSpPr/>
          <p:nvPr/>
        </p:nvSpPr>
        <p:spPr>
          <a:xfrm flipH="false" flipV="false" rot="0">
            <a:off x="0" y="7612438"/>
            <a:ext cx="2183111" cy="2674562"/>
          </a:xfrm>
          <a:custGeom>
            <a:avLst/>
            <a:gdLst/>
            <a:ahLst/>
            <a:cxnLst/>
            <a:rect r="r" b="b" t="t" l="l"/>
            <a:pathLst>
              <a:path h="2674562" w="2183111">
                <a:moveTo>
                  <a:pt x="0" y="0"/>
                </a:moveTo>
                <a:lnTo>
                  <a:pt x="2183111" y="0"/>
                </a:lnTo>
                <a:lnTo>
                  <a:pt x="2183111" y="2674562"/>
                </a:lnTo>
                <a:lnTo>
                  <a:pt x="0" y="267456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10800000">
            <a:off x="16230600" y="82296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6">
              <a:alphaModFix amt="44999"/>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5613438" y="0"/>
            <a:ext cx="2674562" cy="2674562"/>
          </a:xfrm>
          <a:custGeom>
            <a:avLst/>
            <a:gdLst/>
            <a:ahLst/>
            <a:cxnLst/>
            <a:rect r="r" b="b" t="t" l="l"/>
            <a:pathLst>
              <a:path h="2674562" w="2674562">
                <a:moveTo>
                  <a:pt x="0" y="0"/>
                </a:moveTo>
                <a:lnTo>
                  <a:pt x="2674562" y="0"/>
                </a:lnTo>
                <a:lnTo>
                  <a:pt x="2674562" y="2674562"/>
                </a:lnTo>
                <a:lnTo>
                  <a:pt x="0" y="267456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7" id="7"/>
          <p:cNvSpPr txBox="true"/>
          <p:nvPr/>
        </p:nvSpPr>
        <p:spPr>
          <a:xfrm rot="0">
            <a:off x="1821034" y="3539951"/>
            <a:ext cx="14787072" cy="3577877"/>
          </a:xfrm>
          <a:prstGeom prst="rect">
            <a:avLst/>
          </a:prstGeom>
        </p:spPr>
        <p:txBody>
          <a:bodyPr anchor="t" rtlCol="false" tIns="0" lIns="0" bIns="0" rIns="0">
            <a:spAutoFit/>
          </a:bodyPr>
          <a:lstStyle/>
          <a:p>
            <a:pPr algn="l">
              <a:lnSpc>
                <a:spcPts val="3570"/>
              </a:lnSpc>
            </a:pPr>
            <a:r>
              <a:rPr lang="en-US" sz="2550">
                <a:solidFill>
                  <a:srgbClr val="000000"/>
                </a:solidFill>
                <a:latin typeface="Open Sans Hebrew"/>
                <a:ea typeface="Open Sans Hebrew"/>
                <a:cs typeface="Open Sans Hebrew"/>
                <a:sym typeface="Open Sans Hebrew"/>
              </a:rPr>
              <a:t>Berdasarkan hasil penelitian, analisis sentimen ulasan pengguna aplikasi Shopee di Google Play Store menunjukkan bahwa sentimen positif mendominasi dibandingkan sentimen netral dan negatif. Algoritma Naive Bayes mampu mengklasifikasikan sentimen dengan cukup baik, namun kinerjanya dipengaruhi oleh ketidakseimbangan data. Penerapan metode SMOTE membantu meningkatkan performa model, terutama pada kelas minoritas. Selain itu, topic modeling menggunakan LDA berhasil mengidentifikasi aspek utama yang dibahas pengguna, di mana sentimen positif didominasi kepuasan dan kemudahan penggunaan, sedangkan sentimen negatif didominasi keluhan terkait pengiriman dan layanan.</a:t>
            </a:r>
          </a:p>
        </p:txBody>
      </p:sp>
      <p:sp>
        <p:nvSpPr>
          <p:cNvPr name="TextBox 8" id="8"/>
          <p:cNvSpPr txBox="true"/>
          <p:nvPr/>
        </p:nvSpPr>
        <p:spPr>
          <a:xfrm rot="0">
            <a:off x="1028700" y="895350"/>
            <a:ext cx="5713011" cy="1193800"/>
          </a:xfrm>
          <a:prstGeom prst="rect">
            <a:avLst/>
          </a:prstGeom>
        </p:spPr>
        <p:txBody>
          <a:bodyPr anchor="t" rtlCol="false" tIns="0" lIns="0" bIns="0" rIns="0">
            <a:spAutoFit/>
          </a:bodyPr>
          <a:lstStyle/>
          <a:p>
            <a:pPr algn="l">
              <a:lnSpc>
                <a:spcPts val="9799"/>
              </a:lnSpc>
            </a:pPr>
            <a:r>
              <a:rPr lang="en-US" sz="6999" b="true">
                <a:solidFill>
                  <a:srgbClr val="FFFFFF"/>
                </a:solidFill>
                <a:latin typeface="Open Sans Bold"/>
                <a:ea typeface="Open Sans Bold"/>
                <a:cs typeface="Open Sans Bold"/>
                <a:sym typeface="Open Sans Bold"/>
              </a:rPr>
              <a:t>Kesimpulan</a:t>
            </a:r>
          </a:p>
        </p:txBody>
      </p:sp>
      <p:sp>
        <p:nvSpPr>
          <p:cNvPr name="AutoShape 9" id="9"/>
          <p:cNvSpPr/>
          <p:nvPr/>
        </p:nvSpPr>
        <p:spPr>
          <a:xfrm>
            <a:off x="4764804" y="9526716"/>
            <a:ext cx="2705661" cy="0"/>
          </a:xfrm>
          <a:prstGeom prst="line">
            <a:avLst/>
          </a:prstGeom>
          <a:ln cap="flat" w="38100">
            <a:solidFill>
              <a:srgbClr val="000000"/>
            </a:solidFill>
            <a:prstDash val="solid"/>
            <a:headEnd type="none" len="sm" w="sm"/>
            <a:tailEnd type="none" len="sm" w="sm"/>
          </a:ln>
        </p:spPr>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15279339" y="7047527"/>
            <a:ext cx="3008661" cy="3239473"/>
          </a:xfrm>
          <a:custGeom>
            <a:avLst/>
            <a:gdLst/>
            <a:ahLst/>
            <a:cxnLst/>
            <a:rect r="r" b="b" t="t" l="l"/>
            <a:pathLst>
              <a:path h="3239473" w="3008661">
                <a:moveTo>
                  <a:pt x="3008661" y="3239473"/>
                </a:moveTo>
                <a:lnTo>
                  <a:pt x="0" y="3239473"/>
                </a:lnTo>
                <a:lnTo>
                  <a:pt x="0" y="0"/>
                </a:lnTo>
                <a:lnTo>
                  <a:pt x="3008661" y="0"/>
                </a:lnTo>
                <a:lnTo>
                  <a:pt x="3008661" y="3239473"/>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279339" y="39010"/>
            <a:ext cx="3008661" cy="3187985"/>
          </a:xfrm>
          <a:custGeom>
            <a:avLst/>
            <a:gdLst/>
            <a:ahLst/>
            <a:cxnLst/>
            <a:rect r="r" b="b" t="t" l="l"/>
            <a:pathLst>
              <a:path h="3187985" w="3008661">
                <a:moveTo>
                  <a:pt x="0" y="0"/>
                </a:moveTo>
                <a:lnTo>
                  <a:pt x="3008661" y="0"/>
                </a:lnTo>
                <a:lnTo>
                  <a:pt x="3008661" y="3187985"/>
                </a:lnTo>
                <a:lnTo>
                  <a:pt x="0" y="318798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3641789" y="10059366"/>
            <a:ext cx="15656274" cy="227634"/>
            <a:chOff x="0" y="0"/>
            <a:chExt cx="4123463" cy="59953"/>
          </a:xfrm>
        </p:grpSpPr>
        <p:sp>
          <p:nvSpPr>
            <p:cNvPr name="Freeform 5" id="5"/>
            <p:cNvSpPr/>
            <p:nvPr/>
          </p:nvSpPr>
          <p:spPr>
            <a:xfrm flipH="false" flipV="false" rot="0">
              <a:off x="0" y="0"/>
              <a:ext cx="4123463" cy="59953"/>
            </a:xfrm>
            <a:custGeom>
              <a:avLst/>
              <a:gdLst/>
              <a:ahLst/>
              <a:cxnLst/>
              <a:rect r="r" b="b" t="t" l="l"/>
              <a:pathLst>
                <a:path h="59953" w="4123463">
                  <a:moveTo>
                    <a:pt x="0" y="0"/>
                  </a:moveTo>
                  <a:lnTo>
                    <a:pt x="4123463" y="0"/>
                  </a:lnTo>
                  <a:lnTo>
                    <a:pt x="4123463" y="59953"/>
                  </a:lnTo>
                  <a:lnTo>
                    <a:pt x="0" y="59953"/>
                  </a:lnTo>
                  <a:close/>
                </a:path>
              </a:pathLst>
            </a:custGeom>
            <a:solidFill>
              <a:srgbClr val="245095"/>
            </a:solidFill>
          </p:spPr>
        </p:sp>
        <p:sp>
          <p:nvSpPr>
            <p:cNvPr name="TextBox 6" id="6"/>
            <p:cNvSpPr txBox="true"/>
            <p:nvPr/>
          </p:nvSpPr>
          <p:spPr>
            <a:xfrm>
              <a:off x="0" y="-57150"/>
              <a:ext cx="4123463" cy="117103"/>
            </a:xfrm>
            <a:prstGeom prst="rect">
              <a:avLst/>
            </a:prstGeom>
          </p:spPr>
          <p:txBody>
            <a:bodyPr anchor="ctr" rtlCol="false" tIns="50800" lIns="50800" bIns="50800" rIns="50800"/>
            <a:lstStyle/>
            <a:p>
              <a:pPr algn="ctr">
                <a:lnSpc>
                  <a:spcPts val="3643"/>
                </a:lnSpc>
              </a:pPr>
            </a:p>
          </p:txBody>
        </p:sp>
      </p:grpSp>
      <p:sp>
        <p:nvSpPr>
          <p:cNvPr name="TextBox 7" id="7"/>
          <p:cNvSpPr txBox="true"/>
          <p:nvPr/>
        </p:nvSpPr>
        <p:spPr>
          <a:xfrm rot="0">
            <a:off x="1155344" y="4305493"/>
            <a:ext cx="10427842" cy="2289534"/>
          </a:xfrm>
          <a:prstGeom prst="rect">
            <a:avLst/>
          </a:prstGeom>
        </p:spPr>
        <p:txBody>
          <a:bodyPr anchor="t" rtlCol="false" tIns="0" lIns="0" bIns="0" rIns="0">
            <a:spAutoFit/>
          </a:bodyPr>
          <a:lstStyle/>
          <a:p>
            <a:pPr algn="l" marL="0" indent="0" lvl="0">
              <a:lnSpc>
                <a:spcPts val="18705"/>
              </a:lnSpc>
              <a:spcBef>
                <a:spcPct val="0"/>
              </a:spcBef>
            </a:pPr>
            <a:r>
              <a:rPr lang="en-US" b="true" sz="13360" strike="noStrike" u="none">
                <a:solidFill>
                  <a:srgbClr val="245095"/>
                </a:solidFill>
                <a:latin typeface="Open Sans Bold"/>
                <a:ea typeface="Open Sans Bold"/>
                <a:cs typeface="Open Sans Bold"/>
                <a:sym typeface="Open Sans Bold"/>
              </a:rPr>
              <a:t>THANK YOU</a:t>
            </a:r>
          </a:p>
        </p:txBody>
      </p:sp>
      <p:sp>
        <p:nvSpPr>
          <p:cNvPr name="Freeform 8" id="8"/>
          <p:cNvSpPr/>
          <p:nvPr/>
        </p:nvSpPr>
        <p:spPr>
          <a:xfrm flipH="false" flipV="false" rot="0">
            <a:off x="-503058" y="-10668"/>
            <a:ext cx="7315200" cy="658368"/>
          </a:xfrm>
          <a:custGeom>
            <a:avLst/>
            <a:gdLst/>
            <a:ahLst/>
            <a:cxnLst/>
            <a:rect r="r" b="b" t="t" l="l"/>
            <a:pathLst>
              <a:path h="658368" w="7315200">
                <a:moveTo>
                  <a:pt x="0" y="0"/>
                </a:moveTo>
                <a:lnTo>
                  <a:pt x="7315200" y="0"/>
                </a:lnTo>
                <a:lnTo>
                  <a:pt x="7315200" y="658368"/>
                </a:lnTo>
                <a:lnTo>
                  <a:pt x="0" y="65836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9" id="9"/>
          <p:cNvGrpSpPr/>
          <p:nvPr/>
        </p:nvGrpSpPr>
        <p:grpSpPr>
          <a:xfrm rot="-10800000">
            <a:off x="17259300" y="6935755"/>
            <a:ext cx="2507456" cy="3865595"/>
            <a:chOff x="0" y="0"/>
            <a:chExt cx="660400" cy="1018099"/>
          </a:xfrm>
        </p:grpSpPr>
        <p:sp>
          <p:nvSpPr>
            <p:cNvPr name="Freeform 10" id="10"/>
            <p:cNvSpPr/>
            <p:nvPr/>
          </p:nvSpPr>
          <p:spPr>
            <a:xfrm flipH="false" flipV="false" rot="0">
              <a:off x="0" y="0"/>
              <a:ext cx="660400" cy="1018099"/>
            </a:xfrm>
            <a:custGeom>
              <a:avLst/>
              <a:gdLst/>
              <a:ahLst/>
              <a:cxnLst/>
              <a:rect r="r" b="b" t="t" l="l"/>
              <a:pathLst>
                <a:path h="1018099" w="660400">
                  <a:moveTo>
                    <a:pt x="220252" y="999030"/>
                  </a:moveTo>
                  <a:cubicBezTo>
                    <a:pt x="254109" y="1010544"/>
                    <a:pt x="292600" y="1018099"/>
                    <a:pt x="330378" y="1018099"/>
                  </a:cubicBezTo>
                  <a:cubicBezTo>
                    <a:pt x="368157" y="1018099"/>
                    <a:pt x="404509" y="1011622"/>
                    <a:pt x="438009" y="1000108"/>
                  </a:cubicBezTo>
                  <a:cubicBezTo>
                    <a:pt x="438723" y="999749"/>
                    <a:pt x="439435" y="999749"/>
                    <a:pt x="440148" y="999389"/>
                  </a:cubicBezTo>
                  <a:cubicBezTo>
                    <a:pt x="565955" y="953334"/>
                    <a:pt x="658618" y="831720"/>
                    <a:pt x="660400" y="685037"/>
                  </a:cubicBezTo>
                  <a:lnTo>
                    <a:pt x="660400" y="0"/>
                  </a:lnTo>
                  <a:lnTo>
                    <a:pt x="0" y="0"/>
                  </a:lnTo>
                  <a:lnTo>
                    <a:pt x="0" y="684528"/>
                  </a:lnTo>
                  <a:cubicBezTo>
                    <a:pt x="1782" y="832439"/>
                    <a:pt x="93019" y="954054"/>
                    <a:pt x="220252" y="999030"/>
                  </a:cubicBezTo>
                  <a:close/>
                </a:path>
              </a:pathLst>
            </a:custGeom>
            <a:solidFill>
              <a:srgbClr val="000000">
                <a:alpha val="0"/>
              </a:srgbClr>
            </a:solidFill>
            <a:ln w="428625" cap="sq">
              <a:solidFill>
                <a:srgbClr val="0F3460">
                  <a:alpha val="75686"/>
                </a:srgbClr>
              </a:solidFill>
              <a:prstDash val="solid"/>
              <a:miter/>
            </a:ln>
          </p:spPr>
        </p:sp>
        <p:sp>
          <p:nvSpPr>
            <p:cNvPr name="TextBox 11" id="11"/>
            <p:cNvSpPr txBox="true"/>
            <p:nvPr/>
          </p:nvSpPr>
          <p:spPr>
            <a:xfrm>
              <a:off x="0" y="-57150"/>
              <a:ext cx="660400" cy="948249"/>
            </a:xfrm>
            <a:prstGeom prst="rect">
              <a:avLst/>
            </a:prstGeom>
          </p:spPr>
          <p:txBody>
            <a:bodyPr anchor="ctr" rtlCol="false" tIns="50800" lIns="50800" bIns="50800" rIns="50800"/>
            <a:lstStyle/>
            <a:p>
              <a:pPr algn="ctr">
                <a:lnSpc>
                  <a:spcPts val="3643"/>
                </a:lnSpc>
              </a:p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DAG7kVgvZH4</dc:identifier>
  <dcterms:modified xsi:type="dcterms:W3CDTF">2011-08-01T06:04:30Z</dcterms:modified>
  <cp:revision>1</cp:revision>
  <dc:title>Kelompok6</dc:title>
</cp:coreProperties>
</file>